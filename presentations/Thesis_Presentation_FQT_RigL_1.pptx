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0" r:id="rId5"/>
    <p:sldId id="264" r:id="rId6"/>
    <p:sldId id="286" r:id="rId7"/>
    <p:sldId id="262" r:id="rId8"/>
    <p:sldId id="263" r:id="rId9"/>
    <p:sldId id="265" r:id="rId10"/>
    <p:sldId id="287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FQT (uint8)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CWRU</c:v>
                </c:pt>
                <c:pt idx="1">
                  <c:v>Daliac</c:v>
                </c:pt>
                <c:pt idx="2">
                  <c:v>CIFAR-10</c:v>
                </c:pt>
                <c:pt idx="3">
                  <c:v>Animals</c:v>
                </c:pt>
                <c:pt idx="4">
                  <c:v>Speech</c:v>
                </c:pt>
                <c:pt idx="5">
                  <c:v>CIFAR-100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99.5</c:v>
                </c:pt>
                <c:pt idx="1">
                  <c:v>97.1</c:v>
                </c:pt>
                <c:pt idx="2">
                  <c:v>85.8</c:v>
                </c:pt>
                <c:pt idx="3">
                  <c:v>84.2</c:v>
                </c:pt>
                <c:pt idx="4">
                  <c:v>81.400000000000006</c:v>
                </c:pt>
                <c:pt idx="5">
                  <c:v>40.4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Float32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CWRU</c:v>
                </c:pt>
                <c:pt idx="1">
                  <c:v>Daliac</c:v>
                </c:pt>
                <c:pt idx="2">
                  <c:v>CIFAR-10</c:v>
                </c:pt>
                <c:pt idx="3">
                  <c:v>Animals</c:v>
                </c:pt>
                <c:pt idx="4">
                  <c:v>Speech</c:v>
                </c:pt>
                <c:pt idx="5">
                  <c:v>CIFAR-100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99.8</c:v>
                </c:pt>
                <c:pt idx="1">
                  <c:v>96.5</c:v>
                </c:pt>
                <c:pt idx="2">
                  <c:v>85.6</c:v>
                </c:pt>
                <c:pt idx="3">
                  <c:v>89.2</c:v>
                </c:pt>
                <c:pt idx="4">
                  <c:v>84.3</c:v>
                </c:pt>
                <c:pt idx="5">
                  <c:v>54.5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GPU Baseline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CWRU</c:v>
                </c:pt>
                <c:pt idx="1">
                  <c:v>Daliac</c:v>
                </c:pt>
                <c:pt idx="2">
                  <c:v>CIFAR-10</c:v>
                </c:pt>
                <c:pt idx="3">
                  <c:v>Animals</c:v>
                </c:pt>
                <c:pt idx="4">
                  <c:v>Speech</c:v>
                </c:pt>
                <c:pt idx="5">
                  <c:v>CIFAR-100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99.8</c:v>
                </c:pt>
                <c:pt idx="1">
                  <c:v>96.5</c:v>
                </c:pt>
                <c:pt idx="2">
                  <c:v>86.5</c:v>
                </c:pt>
                <c:pt idx="3">
                  <c:v>86.4</c:v>
                </c:pt>
                <c:pt idx="4">
                  <c:v>90.1</c:v>
                </c:pt>
                <c:pt idx="5">
                  <c:v>59.8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4784216"/>
        <c:axId val="284788136"/>
      </c:barChart>
      <c:catAx>
        <c:axId val="2847842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84788136"/>
        <c:crosses val="autoZero"/>
        <c:auto val="1"/>
        <c:lblAlgn val="ctr"/>
        <c:lblOffset val="100"/>
        <c:noMultiLvlLbl val="1"/>
      </c:catAx>
      <c:valAx>
        <c:axId val="284788136"/>
        <c:scaling>
          <c:orientation val="minMax"/>
          <c:min val="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84784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 Accuracy (%)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Dense (ref)</c:v>
                </c:pt>
                <c:pt idx="1">
                  <c:v>Static Sparse</c:v>
                </c:pt>
                <c:pt idx="2">
                  <c:v>SNIP</c:v>
                </c:pt>
                <c:pt idx="3">
                  <c:v>SET</c:v>
                </c:pt>
                <c:pt idx="4">
                  <c:v>SNFS</c:v>
                </c:pt>
                <c:pt idx="5">
                  <c:v>RigL</c:v>
                </c:pt>
                <c:pt idx="6">
                  <c:v>RigL 5x</c:v>
                </c:pt>
                <c:pt idx="7">
                  <c:v>RigL 5x ERK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76.8</c:v>
                </c:pt>
                <c:pt idx="1">
                  <c:v>70.599999999999994</c:v>
                </c:pt>
                <c:pt idx="2">
                  <c:v>72</c:v>
                </c:pt>
                <c:pt idx="3">
                  <c:v>72.900000000000006</c:v>
                </c:pt>
                <c:pt idx="4">
                  <c:v>74.2</c:v>
                </c:pt>
                <c:pt idx="5">
                  <c:v>74.599999999999994</c:v>
                </c:pt>
                <c:pt idx="6">
                  <c:v>76.599999999999994</c:v>
                </c:pt>
                <c:pt idx="7">
                  <c:v>77.099999999999994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84787352"/>
        <c:axId val="284783040"/>
      </c:barChart>
      <c:catAx>
        <c:axId val="2847873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84783040"/>
        <c:crosses val="autoZero"/>
        <c:auto val="1"/>
        <c:lblAlgn val="ctr"/>
        <c:lblOffset val="100"/>
        <c:noMultiLvlLbl val="1"/>
      </c:catAx>
      <c:valAx>
        <c:axId val="284783040"/>
        <c:scaling>
          <c:orientation val="minMax"/>
          <c:max val="80"/>
          <c:min val="6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84787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29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60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63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9AAA">
              <a:alpha val="20000"/>
            </a:srgbClr>
          </a:solidFill>
          <a:ln w="12700">
            <a:solidFill>
              <a:srgbClr val="1B9A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for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RigL Sparse Training to an FQT C Framework  |  Human Activity Recognition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777240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 |  Based on: Deutel et al. (2024) &amp; Evci et al. (2020)  |  STM32 Nucleo-F746ZG  |  UCI HAR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 @ 216 MHz  |  320 KB RAM  |  1 MB Flash  |  6-Class Activity Recognition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Thesis Is About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560320" cy="201168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GOAL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human activities (walking, sitting, standing...) from wrist/waist sensor data — train ON the MCU to adapt to a new user without any server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560320" cy="2011680"/>
          </a:xfrm>
          <a:prstGeom prst="rect">
            <a:avLst/>
          </a:prstGeom>
          <a:solidFill>
            <a:srgbClr val="1B9AA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8-bit quantized training to save RAM</a:t>
            </a:r>
            <a:endParaRPr lang="en-US" sz="1250" dirty="0"/>
          </a:p>
          <a:p>
            <a:pPr marL="0" indent="0" algn="ctr">
              <a:buNone/>
            </a:pP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Sparse network training to reduce model size — both fit in 320 KB!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2560320" cy="201168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Nucleo-F746ZG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 @ 216 MHz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KB RAM, 1 MB Flash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HAR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Foundation Papers: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4114800" cy="82296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3931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1: Deutel et al. (2024)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of Fully Quantized DNNs on Cortex-M MCUs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611880"/>
            <a:ext cx="4114800" cy="822960"/>
          </a:xfrm>
          <a:prstGeom prst="rect">
            <a:avLst/>
          </a:prstGeom>
          <a:solidFill>
            <a:srgbClr val="CCFBF1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63931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 Evci et al. (2020)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Rigging the Lottery — Making All Tickets Winners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with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Quantized Training (FQT)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Deutel, Hannig, Mutschler &amp; Teich  —  arXiv:2407.10734  —  August 2024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3886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DNNs deployed on MCUs use quantized 8-bit weights for inference — but training is always done in float32 on GPU servers. Can we train IN PLACE on the MCU without any conversion?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Train ON the Device?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adapt to a new user's movement patterns AFTER deployment — without sending sensor data to a server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64592" cy="16459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Privacy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movement data reveals biometric identity. On-device training means raw sensor data never leaves the wearable — no server ever receives your motion patterns.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164592" cy="1645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are often used in areas with no connectivity. On-device adaptation works completely offline — essential for field-deployed health or industrial sensors.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16459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Energy Savings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MCUs consume 0.01–0.15 W. GPU training: 300 W. On-device training is orders of magnitude more efficient — enabling battery-powered operation.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16459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On-Device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adapts to a specific user's gait and movement style on the fly — personalization without reprogramming or sending data to a cloud server.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Core Equations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8412480" cy="731520"/>
          </a:xfrm>
          <a:prstGeom prst="rect">
            <a:avLst/>
          </a:prstGeom>
          <a:solidFill>
            <a:srgbClr val="F7FAFC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212848"/>
            <a:ext cx="1920240" cy="7315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1284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[Eq. 3]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59152" y="2377440"/>
            <a:ext cx="22860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237744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Yn = Wn * Xn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32257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layer output. Wn=weights, Xn=input, Yn=output. 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90088"/>
            <a:ext cx="8412480" cy="731520"/>
          </a:xfrm>
          <a:prstGeom prst="rect">
            <a:avLst/>
          </a:prstGeom>
          <a:solidFill>
            <a:srgbClr val="F7FAF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0088"/>
            <a:ext cx="192024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9008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 [Eq. 1]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59152" y="3154680"/>
            <a:ext cx="22860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9152" y="31546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En-1 = WnT * 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309981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the error backward. En=error at layer n, WnT=transposed weights. 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767328"/>
            <a:ext cx="8412480" cy="731520"/>
          </a:xfrm>
          <a:prstGeom prst="rect">
            <a:avLst/>
          </a:prstGeom>
          <a:solidFill>
            <a:srgbClr val="F7FAFC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67328"/>
            <a:ext cx="1920240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6732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Gradient [Eq. 2]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59152" y="3931920"/>
            <a:ext cx="22860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39319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Grad_Wn = En * XnT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09160" y="387705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how much each weight contributed to the error. Used by SGD to update the weights.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247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Memory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77824" y="11704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2161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Activations Can't Be Discarded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179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inference: each layer output is used immediately then thrown away to free RAM. During training: every layer output must be KEPT in memory until the backward pass needs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77824" y="20848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1305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Minibatches Add a Batch Dimension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323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processes B samples at once. This adds a new dimension to all tensors: e.g., [1×28×28] becomes [48×28×28] for batch size 48, multiplying RAM use 48×.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77824" y="29992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449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Must Be in RAM, Not Flash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467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memory </a:t>
            </a:r>
            <a:r>
              <a:rPr lang="en-US" sz="11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read-only. Trainable weights that get updated at runtime must be in </a:t>
            </a:r>
            <a:r>
              <a:rPr lang="en-US" sz="11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136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77824" y="39136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9593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 ≈ 2× Forward Pass 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611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trainable layer, backpropagation must compute two additional matrix multiplications: one for the error signal, one for the weight gradient.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78243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1: Quantization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numerical precision to save memory and accelerate computation on integer hardware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384048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704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float32: weight = 0.38247631  (4 bytes)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uint8: weight = 97  (1 byte)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some decimal precision, but save 75% memory. MCUs execute integer operations 4x faster than float!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15568"/>
            <a:ext cx="42062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Quantization Formula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vq = </a:t>
            </a:r>
            <a:r>
              <a:rPr lang="en-US" sz="20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r>
              <a:rPr lang="en-US" sz="20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vf / s ) + z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19933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 = original float value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scale: stretch factor from the tensor min/max range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zero point: integer offset so zero maps to zero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Impact at Scale: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163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  (32 bits)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57400" y="3218688"/>
            <a:ext cx="67208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57143" y="2913453"/>
            <a:ext cx="15210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2.0 MB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6941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     (16 bits)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057400" y="3749040"/>
            <a:ext cx="3283857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3712464"/>
            <a:ext cx="252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1.0 MB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  </a:t>
            </a:r>
            <a:r>
              <a:rPr lang="en-US" sz="1150" b="1" dirty="0" smtClean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(8 bits</a:t>
            </a: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57400" y="4279392"/>
            <a:ext cx="1534886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4242816"/>
            <a:ext cx="2648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0.5 MB  &lt;- FQT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2: QAT vs FQT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 to training quantized networks — only one works on a tiny MCU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0233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40233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61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Quantization-Aware Training (QAT)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FLOAT32 throughout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939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is only SIMULATED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quantization nodes inserted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352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convert model before/after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55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savings: ZERO during training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7764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costly conversion step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used for in-place on-device training — model must be float32 in memory!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115568"/>
            <a:ext cx="4023360" cy="3794760"/>
          </a:xfrm>
          <a:prstGeom prst="rect">
            <a:avLst/>
          </a:prstGeom>
          <a:solidFill>
            <a:srgbClr val="FFFFFF"/>
          </a:solidFill>
          <a:ln w="3175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15568"/>
            <a:ext cx="4023360" cy="47548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161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Quantized Training (FQT)  &lt;- This paper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6733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with REAL uint8 integers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0939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AND backward: both quantized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format for inference AND training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9352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conversion ever needed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355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less memory for all tensors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7764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ops faster on Cortex-M MCUs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4224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lives in memory exactly the same way during inference and training. Zero overhead for switching modes!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</a:t>
            </a:r>
            <a:r>
              <a:rPr lang="en-US" sz="2600" b="1" dirty="0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Quantized version of Error Equation 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Error Equation 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536192"/>
            <a:ext cx="6400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361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_(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(s_(</a:t>
            </a:r>
            <a:r>
              <a:rPr lang="en-US" sz="1400" b="1" dirty="0" err="1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w_n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)*s_(</a:t>
            </a:r>
            <a:r>
              <a:rPr lang="en-US" sz="1400" b="1" dirty="0" err="1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e_n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)/</a:t>
            </a:r>
            <a:r>
              <a:rPr lang="en-US" sz="1400" b="1" dirty="0" err="1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s_e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(n-1)) * 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(w_i - z_i)*s_i  -  l * grad_w_i ]  +  z_(i+1)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learning rate  |  s = scale  |  z = zero point  |  grad_w = gradient  |  subscript i = current step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Dynamic Scale &amp; Zero-Point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s_(i+1) = (f_max - f_min) / 255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z_(i+1) = 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-f_min / s_(i+1) 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the quantization range dynamically as weights shift — like QAT but done at runtime!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41148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Quantization for Gradient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9443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/>
              <a:t>Because it goes directly to SGD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Like a teacher normalizing exam scores before deciding grade adjustments — prevents different scales from causing wildly different update magnitudes. This keeps all 8-bit weights updating consistently across all channels.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Quantized SGD Weight Update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equations that update quantized weights after each minibatch — adapted from standard SGD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Basic Quantized Weight Update  [Eq. 5]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536192"/>
            <a:ext cx="6400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361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w_(i+1) = (1/s_(i+1)) * [ (w_i - z_i)*s_i  -  l * grad_w_i ]  +  z_(i+1)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learning rate  |  s = scale  |  z = zero point  |  grad_w = gradient  |  subscript i = current step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114800" cy="13244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Dynamic Scale &amp; Zero-Point  [Eq. 6, 7]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s_(i+1) = (f_max - f_min) / 255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z_(i+1) = floor( -f_min / s_(i+1) 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the quantization range dynamically 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the </a:t>
            </a:r>
            <a:r>
              <a:rPr lang="en-US" sz="110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distribution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4114800" cy="1324484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Standardized Gradient Update  [Eq. 8]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9443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gradient with running mean </a:t>
            </a: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en-US" sz="1200" dirty="0" smtClean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standard deviation : </a:t>
            </a: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mu, sigma. Prevents 8-bit overflow. Critical for stable quantized training!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Like a teacher normalizing exam scores before deciding grade adjustments — prevents different scales from causing wildly different update magnitudes. This keeps all 8-bit weights updating consistently across all channels.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70357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Sparse Gradient Updates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computing gradients for layers where they won't matter much — up to 8.7x speedup!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Observations Behind This Idea: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457200" cy="45720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57276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shrink through the backward pass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84708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layers receive very small error signals — updating their weights rarely leads to meaningful improvement.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57200" cy="45720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237744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activation patterns dominate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65176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given input sample, only a few neurons activate strongly. Most gradient values for that sample are near zero.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82112"/>
            <a:ext cx="457200" cy="45720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318211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training succeeds, fewer gradients matter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345643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well-trained model uses smaller, tighter neuron clusters per class. Fewer updates needed as the loss converges.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96512"/>
            <a:ext cx="84124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42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Update Rate  [Eq. 9]: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4187952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4187952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floor( min{ l_min + |e|(l_max - l_min),  1 } * N 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# gradients to compute.  l_min/l_max control how aggressively to skip.  |e| = normalized loss (0=converged).  As loss -&gt; 0, k -&gt; l_min*N — fewer updates computed over time!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Paper: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11 datasets across Cortex-M0+, M4, and M7 microcontrollers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1920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1920240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21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MCUNet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1115568"/>
            <a:ext cx="1920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1115568"/>
            <a:ext cx="192024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96312" y="2121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sample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115568"/>
            <a:ext cx="1920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115568"/>
            <a:ext cx="19202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8.7x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2121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gradients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57416" y="1115568"/>
            <a:ext cx="1920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57416" y="1115568"/>
            <a:ext cx="19202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7416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57416" y="2121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(FQT)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Accuracy — Test Accuracy After 20 Epochs On-Device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65760" y="3154680"/>
          <a:ext cx="84124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Dynamic Training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RigL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Evci, Gale, Menick, Castro &amp; Elsen — ICML 2020  |  github.com/google-research/rigl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38587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Most methods that yield sparse networks require training a full dense model first. Can we train sparse from scratch and STILL beat dense-to-sparse results?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Sparse Neural Networks?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weights in a trained neural network are redundant and can safely be set to zero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Your brain has ~86 billion neurons but uses only a tiny fraction for any single task. When you read, vision and language neurons activate — not the ones for riding a bike. Neural networks work the same way: most weights contribute almost nothing to any given prediction.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9339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93392"/>
            <a:ext cx="164592" cy="1371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 Size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90% sparse model stores only 10% of the original weights -&gt; 10x smaller. A model that doesn't fit on an STM32 might fit after sparsification.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99339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993392"/>
            <a:ext cx="164592" cy="1371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zero can be skipped entirely. Sparse formats enable real speedups on hardware with sparse acceleration.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0215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02152"/>
            <a:ext cx="16459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93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Generalization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acts as implicit regularization — some 50% sparse models actually outperform their dense counterparts on test accuracy.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50215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502152"/>
            <a:ext cx="164592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593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Larger Models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977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sparse model 10x larger than the largest trainable dense model on your hardware — without needing a dense version first.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Lottery Tickets to RigL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motivation and why existing approaches fall short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Lottery Ticket Hypothesis (2019)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every large dense network there exists a tiny 'winning ticket' subnetwork — a sparse network with the right initial weights — that could have been trained to the same accuracy from scratch.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You only find the ticket AFTER training the dense network!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Dense-to-Sparse Pruning (Classic Approach)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544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Train full dense model (300-400 GPU-hours for ResNet)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Prune weights below a threshold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Fine-tune the pruned network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Wasteful — computes zero-valued weights for 90% of training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Max sparse model = max dense model you can train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8412480" cy="196596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63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RigL's Breakthrough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SPARSE network (e.g., 90% zeros)  -&gt;  Train with fixed parameter count  -&gt;  Every T steps: DROP small weights + GROW high-gradient zeros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995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dense model ever needed. Memory and FLOPs are proportional to SPARSITY throughout. Achieves higher accuracy than pruning at the same compute budget!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544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Instead of random growth (like SET), RigL uses gradient magnitudes to activate the most PROMISING zero connections.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Algorithm: The 5 Key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pseudocode walkthrough — from initialization to convergence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731520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33856" y="114300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sparsify the network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147218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dense network. Randomly zero out weights until target sparsity S (e.g., 90%). Gives a sparse but untrained starting point.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73152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33856" y="192024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947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training steps (repeat T times)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224942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standard minibatch SGD on the sparse network. Only non-zero weights receive updates. Most computation skipped for zero weights.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7315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974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33856" y="269748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weak connections (every T steps)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302666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k active connections with SMALLEST absolute weight value: I_drop = ArgTopK(-|theta_l|, k). Set them to zero.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73152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747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33856" y="347472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promising connections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380390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 for ALL zero weights. Find the k zeros with LARGEST gradient magnitude: I_grow = ArgTopK(|grad L|, k). Initialize new to ZERO.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731520" cy="65836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519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33856" y="425196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mask updates at iteration T_end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34440" y="458114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T_end iterations (~3/4 of training), freeze the sparse mask. Final training refines weight values only. Slight delay improves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DROP and GROW in Detail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topology update is what makes RigL special — gradient-guided growth vs random growth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0233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40233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61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— Remove Weak Connections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Smallest absolute weight value: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36118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2996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I_drop = ArgTopK( -|theta_l| , k 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theta_l = weights in layer l,  k = connections to drop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Small absolute weights barely affect output. Removing them causes almost no loss increase. Pruning dry branches that contribute nothing to the tree.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k decreases over time via cosine annealing: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k_t = alpha/2 * (1 + cos(pi*t/T_end))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aggressive, becomes conservative.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2245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drop: positions become zero — sparse mask is updated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15568"/>
            <a:ext cx="40233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15568"/>
            <a:ext cx="402336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161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— Activate Promising Connections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66420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Largest gradient magnitude on zero weights: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83480" y="2029968"/>
            <a:ext cx="36118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02996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I_grow = ArgTopK( |grad_L| , k 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57860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grad_L = loss gradient including zero weights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same number just dropped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A zero weight with large gradient magnitude would reduce the loss fastest if activated. This is what beats random growth (SET).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New connections initialized to ZERO.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output doesn't change on connection add — no sudden loss spikes. Weight immediately starts getting gradient updates.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42793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gradients can be discarded after grow — no permanent storage needed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Distributions: How to Allocate Zeros Across Layers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layers should have the same sparsity — small layers need more capacity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207008"/>
          </a:xfrm>
          <a:prstGeom prst="rect">
            <a:avLst/>
          </a:prstGeom>
          <a:solidFill>
            <a:srgbClr val="F7FAFC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82880" cy="1207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87952" y="1207008"/>
            <a:ext cx="457200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87952" y="1207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s_l = S  (same for every layer)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has the same sparsity S. Simple but sub-optimal — small final layers lose too much capacity at high sparsity.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581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Simple, predictable FLOP count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856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Hurts accuracy at high sparsity; small layers starved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41448"/>
            <a:ext cx="8412480" cy="1207008"/>
          </a:xfrm>
          <a:prstGeom prst="rect">
            <a:avLst/>
          </a:prstGeom>
          <a:solidFill>
            <a:srgbClr val="F7FAF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41448"/>
            <a:ext cx="182880" cy="1207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05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Erdos-Renyi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87952" y="2505456"/>
            <a:ext cx="457200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25054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s_l proportional to 1 - (n_(l-1)+n_l)/(n_(l-1)*n_l)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803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random graph theory. Layers with MORE parameters get HIGHER sparsity; smaller layers stay denser to preserve capacity.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880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Better accuracy for fully-connected layers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154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 designed for convolutional kernels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39896"/>
            <a:ext cx="8412480" cy="1207008"/>
          </a:xfrm>
          <a:prstGeom prst="rect">
            <a:avLst/>
          </a:prstGeom>
          <a:solidFill>
            <a:srgbClr val="F7FAFC"/>
          </a:solidFill>
          <a:ln w="317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39896"/>
            <a:ext cx="182880" cy="1207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03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Erdos-Renyi-Kernel (ERK)  &lt;- Best for CNNs!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87952" y="3803904"/>
            <a:ext cx="4572000" cy="320040"/>
          </a:xfrm>
          <a:prstGeom prst="rect">
            <a:avLst/>
          </a:prstGeom>
          <a:solidFill>
            <a:srgbClr val="EFF6FF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38039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s_l proportional to 1 - (n_(l-1)+n_l+w_l+h_l)/(n_(l-1)*n_l*w_l*h_l)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1788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ER to include kernel width (w_l) and height (h_l). Early conv layers (large spatial dims) get lower sparsity — exactly where you need capacity.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41788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State-of-the-art accuracy; used in all best RigL results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4453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~2x more FLOPs than uniform for same parameter count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Results: State-of-the-Art Sparse Training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on ImageNet-2012 — all methods at 80% sparsity unless noted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07008"/>
          <a:ext cx="53035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078992"/>
            <a:ext cx="288036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97880" y="1078992"/>
            <a:ext cx="288036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33502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897880" y="1700784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5x ERK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76.8% dense!)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97880" y="2103120"/>
            <a:ext cx="288036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97880" y="2103120"/>
            <a:ext cx="28803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359152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0.23x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897880" y="2724912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FLOPs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dense baseline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97880" y="3127248"/>
            <a:ext cx="2880360" cy="987552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97880" y="3127248"/>
            <a:ext cx="288036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383280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897880" y="374904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best pruning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90% sparsity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4572000"/>
            <a:ext cx="8412480" cy="47548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Remarkable: RigL (80% sparse, 5x training) equals the DENSE model accuracy while using only 23% of training FLOPs!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FQT + RigL for HAR on STM32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methods complement each other — your thesis adds RigL to the existing FQT C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657600" cy="2743200"/>
          </a:xfrm>
          <a:prstGeom prst="rect">
            <a:avLst/>
          </a:prstGeom>
          <a:solidFill>
            <a:srgbClr val="0D2A44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(Deutel et al.)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integer weights &amp; activations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inference &amp; training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4086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quantization parameters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8833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gradient SGD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sparse gradient updates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Solves the MEMORY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5200" dirty="0"/>
          </a:p>
        </p:txBody>
      </p:sp>
      <p:sp>
        <p:nvSpPr>
          <p:cNvPr id="13" name="Shape 11"/>
          <p:cNvSpPr/>
          <p:nvPr/>
        </p:nvSpPr>
        <p:spPr>
          <a:xfrm>
            <a:off x="5120640" y="1115568"/>
            <a:ext cx="3657600" cy="2743200"/>
          </a:xfrm>
          <a:prstGeom prst="rect">
            <a:avLst/>
          </a:prstGeom>
          <a:solidFill>
            <a:srgbClr val="0D2A44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(Evci et al.)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164592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topology from the start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199339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Gradient-guided connection growth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234086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 sparsity 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68833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dense model ever needed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035808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parameter count throughout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338328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Solves the MODEL SIZE problem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8412480" cy="102412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Sparse + Quantized + On-Device Activity Recognition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framework exists in C -&gt; Add RigL mask update -&gt; 1D CNN with ~10K params, 80% sparse, fits easily in 320 KB RAM!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Model Architecture — 1D CNN (from C Implementation)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(Conv1d + ReLU + Pool)  +  Flatten  +  Linear  +  Softmax  =  12 layers in 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1920240" cy="7132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Sensor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 channels × 128 steps]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67712" y="1243584"/>
            <a:ext cx="274320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960120"/>
            <a:ext cx="1691640" cy="8412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960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12161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(9→16, K=7)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MaxPool(2,2)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1243584"/>
            <a:ext cx="274320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60120"/>
            <a:ext cx="1691640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60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12161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(16→32, K=5)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MaxPool(2,2)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73952" y="1243584"/>
            <a:ext cx="274320" cy="27432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960120"/>
            <a:ext cx="1691640" cy="8412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960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12161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(32→64, K=3)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AvgPool(32,32)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1920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[16 × 64]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1920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[32 × 32]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1920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[64 × 1]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31720"/>
            <a:ext cx="8229600" cy="530352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3774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 [64]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01952" y="2505456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23774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Linear(64 → 6)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25112" y="2505456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3774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 [6 classes]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39712" y="2505456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23774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Activity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 &amp; Memory Footprint: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8412480" cy="155448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280160"/>
                <a:gridCol w="1371600"/>
                <a:gridCol w="2377440"/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uint8 (FQT)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uint8 + 80% sparse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 (9→16, K=7)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Conv2 (16→32, K=5)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Conv3 (32→64, K=3)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(64→6)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KB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365760" y="49560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HAR Classes: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719072" y="4956048"/>
            <a:ext cx="118872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71907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999232" y="4956048"/>
            <a:ext cx="1188720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99923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Upstairs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279392" y="4956048"/>
            <a:ext cx="118872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7939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Downstairs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559552" y="4956048"/>
            <a:ext cx="11887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5955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839712" y="4956048"/>
            <a:ext cx="118872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3971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19872" y="4956048"/>
            <a:ext cx="118872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19872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Hardware: STM32 Nucleo-F746ZG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board for your thesis — same as used in the Deutel FQT paper (IMXRT2062 is close equivalent)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384048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for Your 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Cortex-M7 @ 216 MHz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Highest-performance Cortex-M core — FPU + DSP available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(SRAM)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KB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CONSTRAINT: holds activations + weights + gradients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MB internal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static weights + code (read-only during training)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Double-precision FPU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mixed-precision: float32 for some ops, int8 for others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/ SIMD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4x int8 per cycle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CMSIS-NN exploits this: 4x throughput on quantized layers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 mW active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1000x less than GPU servers — enables battery-powered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~$25 (development board)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D7A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Affordable for thesis prototyping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07408"/>
            <a:ext cx="822960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6227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Budget: HAR model is SMALL (~10K params). uint8 weights: ~10 KB. Sparse (80%): ~2 KB! Activations peak at ~50 KB. Total: well under 320 KB. RigL+FQT is MORE than adequate for HAR — validates methodology at low risk.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Roadmap: 16 Weeks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plan: validate each layer before building the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417320" cy="53035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10512" y="114300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10512" y="11430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1-2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63240" y="116128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Tools 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14173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PyTorch, STM32CubeIDE, CMSIS-NN, cross-compiler (arm-none-eabi-gcc). Verify you can compile + flash a hello-world to the STM32.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1417320" cy="5303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8308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10512" y="178308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17830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3-4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180136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Baseline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205740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UCI HAR dataset (openml.org or UCI repo). Load .npy sensor files. Train float32 1D CNN baseline on desktop — 3x Conv1d+Pool + Linear, aim for &gt;90% accuracy.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1417320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2316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10512" y="242316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4231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5-7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63240" y="244144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Sparse Training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269748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RigL mask update in PyTorch. Test ERK + uniform distributions. Validate that sparse model (80%) retains &gt;83% accuracy. Profile FLOP savings.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1417320" cy="5303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632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10512" y="306324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10512" y="30632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8-10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63240" y="30815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Quantization &amp; Quantized Training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63240" y="333756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quantize the sparse model. Implement quantized backward pass (Eq. 1-8). Test on-device accuracy with FQT. Verify &lt;3% accuracy drop vs float32.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14173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0332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10512" y="370332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10512" y="37033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11-13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63240" y="372160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Deployment &amp; On-Device Training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63240" y="397764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model to CMSIS-NN C kernels. Profile RAM, latency/sample, energy per epoch. Run on-device transfer learning (reset final 2 layers, retrain on-device).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14173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4340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10512" y="4343400"/>
            <a:ext cx="1188720" cy="530352"/>
          </a:xfrm>
          <a:prstGeom prst="rect">
            <a:avLst/>
          </a:prstGeom>
          <a:solidFill>
            <a:srgbClr val="0D2A4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10512" y="43434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14-16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63240" y="436168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Thesis Writing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63240" y="46177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Tabulate: accuracy, RAM usage (KB), latency (ms/sample), energy (mJ/epoch). Compare with float32 baseline and related work. Write thesis chapters.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Detail: Phases 1 &amp;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files to create and steps to follow — in order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Environment Setup  (Weeks 1–2)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command: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torch numpy scipy scikit-learn matplotlib tqdm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to create — in this order: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9152"/>
            <a:ext cx="256032" cy="256032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3042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packages with pinned versions (torch==2.1.0, numpy, scipy, scikit-learn, matplotlib)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953512"/>
            <a:ext cx="256032" cy="256032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28986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hyperparameters in ONE file: LR, batch size, IN_CHANNELS=9, LEN_INPUT=128, sparsity=0.8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256032" cy="256032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3493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verify_env.py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check + torch version + CUDA/MPS check. Run this first every session.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142232"/>
            <a:ext cx="256032" cy="256032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40873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CubeIDE: main.c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4325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STM32 project -&gt; Nucleo-F746ZG -&gt; LED blink loop. Confirms board works.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" y="4626864"/>
            <a:ext cx="4005072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LED blinks + verify_env.py prints all versions 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Data Pipeline &amp; Baseline  (Weeks 3–4)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UCI HAR Dataset: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6402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"from sklearn..." # see UCI HAR page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1888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to create — in this order: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82312" y="2359152"/>
            <a:ext cx="256032" cy="25603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93208" y="23042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src/dataset.py           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93208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HARDataset class: load train_x.npy [N,9,128] + train_y.npy [N] as int labels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82312" y="2953512"/>
            <a:ext cx="256032" cy="25603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93208" y="28986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src/model.py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93208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CNN: Conv1d(9-&gt;16,K=7)+Pool -&gt; Conv1d(16-&gt;32,K=5)+Pool -&gt; Conv1d(32-&gt;64,K=3)+AvgPool -&gt; Linear(64,6)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82312" y="3547872"/>
            <a:ext cx="256032" cy="25603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93208" y="3493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src/train_baseline.py   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93208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SGD(LR=0.01, momentum=0.9), batch=64, 20 epochs — mirrors the C implementation exactly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82312" y="4142232"/>
            <a:ext cx="256032" cy="25603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93208" y="40873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src/evaluate.py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93208" y="4325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checkpoint, compute top-1 activity accuracy on val split (6 classes)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64024" y="4626864"/>
            <a:ext cx="4005072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888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train_baseline.py reaches &gt;90% accuracy on HAR val set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Detail: Phases 3 &amp;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sparse training first — then quantize the sparse 1D CNN model with FQT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RigL Sparse Training  (Weeks 5–7)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implementing the mask: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torch.ones_like(weight, dtype=torch.bool)  # all True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— create in this exact order: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915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3042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src/sparse/mask.py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SparseMask class: stores bool tensor per layer, apply() multiplies weights by mask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95351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28986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src/sparse/erk.py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 sparsity distribution: compute per-layer sparsity using neuron+kernel formula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3493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src/sparse/rigl.py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RigLOptimizer: wraps SGD; every T steps runs _drop_and_grow(k) using cosine schedule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14223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40873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src/train_rigl.py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4325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loop: call rigl.step() instead of optimizer.step(); assert param count constant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" y="4626864"/>
            <a:ext cx="4005072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80% sparse model, accuracy drop &lt;3% vs float32 baseline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FQT Quantized Training  (Weeks 8–10)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— compute per-layer scale &amp; zero-point: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6402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s=(f_max-f_min)/255  |  z=floor(-f_min/s)  [Eq. 6, 7]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1888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— create in this exact order: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82312" y="235915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93208" y="23042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src/quantize/calibrate.py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93208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calibrate(model, loader) -&gt; dict of scale &amp; zero_point per layer [Eq.6-7]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82312" y="295351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93208" y="28986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src/quantize/quant_layers.py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93208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QuantConv2d, QuantLinear: override forward() with uint8 matmul; custom backward() with Eq.1-4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82312" y="354787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93208" y="3493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src/quantize/fqt_sgd.py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93208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QuantizedSGD: Eq.5 update + Eq.8 standardized gradient (running mean/std per channel)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82312" y="414223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93208" y="40873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src/train_fqt.py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93208" y="4325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layers: model = replace_with_quant(model, scales, zp); train with QuantizedSGD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64024" y="4626864"/>
            <a:ext cx="4005072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888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all tensors dtype uint8 at runtime; accuracy within 3% of float32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Detail: Phases 5 &amp; 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to the STM32 board — then measure everything for your thesis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STM32 Deployment  (Weeks 11–13)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— export weights as C array: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export_weights.py -&gt; model_weights.h  (auto-generated)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— create in this exact order: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350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30428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scripts/export_weights.py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523744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.pt checkpoint -&gt; uint8 numpy arrays -&gt; save as .npy per layer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825496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825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2779776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scripts/to_c_array.py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999232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.npy to C header: const uint8_t weights_conv1[N] = {0x..., ...};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3300984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300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255264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stm32/Src/inference.c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arm_convolve_HWC_q7() and arm_fully_connected_q7() in sequence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3776472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776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3730752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stm32/Src/training.c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950208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backprop: implement Eq.1-9 in C using int8/int32 arithmetic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4251960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251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4206240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stm32/Src/sensor_window.c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425696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buffer for 9-channel IMU data; reads 128-step segments from UART/SPI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" y="4626864"/>
            <a:ext cx="4005072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inference runs without hard fault; profile RAM with DWT-&gt;CYCCNT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Evaluation &amp; Thesis  (Weeks 14–16)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1389888"/>
            <a:ext cx="4160520" cy="35478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1444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to run (in this order):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64024" y="1664208"/>
            <a:ext cx="4005072" cy="3291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664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 float32 -&gt; FQT only -&gt; RigL only -&gt; FQT+RigL (your thesis)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18888" y="2048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— create in this order: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82312" y="235915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93208" y="23042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eval/measure_ram.py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93208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STM32 .map linker file for static RAM; hook _sbrk() for runtime peak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82312" y="29535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93208" y="28986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eval/benchmark.py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93208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4 experiments; log accuracy, RAM (KB), latency (ms/sample), energy (mJ)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82312" y="354787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93208" y="3493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eval/ablation.py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93208" y="3730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FQT or RigL one at a time; quantify each component's contribution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82312" y="414223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8231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93208" y="40873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eval/plot_results.py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93208" y="4325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matplotlib: accuracy curve, RAM bar chart, latency per experiment, convergence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64024" y="4626864"/>
            <a:ext cx="4005072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18888" y="4626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Table: Accuracy | RAM (KB) | Latency (ms/sample) | Energy (mJ/epoch)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Sequence: Step-by-Step Technical Guide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each component, validate it, then move on — never skip validation steps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4416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11880" y="118872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Model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996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from C code: 3× Conv1d blocks + Linear head. ~10,214 params. Target: &gt;90% HAR accuracy before adding sparsity. Verify architecture matches existing C framework.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1556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34416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18872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HAR Sensor Data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4996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.npy files (train_x: [N,9,128], train_y: [N]). Normalize per-channel to [-1,1]. Build DataLoader with batch=64. Verify: 6 classes balanced across 10,299 total samples.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07568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30428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11880" y="214884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Dense Float32 Baseline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4597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for 30-50 epochs, Adam optimizer, LR=1e-3, batch=64. Target: &gt;85% accuracy on dev set. This is your ceiling for all future experiments.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07568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30428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214884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RigL Sparse Training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24597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SGD with RigL: every T=100 steps, drop k bottom-magnitude, grow k top-gradient zeros. Use ERK distribution at 80% target sparsity. Validate: &gt;83% accuracy.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03580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26440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11880" y="310896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3108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Quantize + FQT Backward Pass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4198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scale/zero-point per tensor. Convert to uint8. Implement Eq.1-8 (quantized backprop + standardized SGD). Test FQT accuracy on desktop simulation.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03580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26440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46720" y="310896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3108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to STM32 with CMSIS-NN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34198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tensors to C arrays (xxd -i model.bin). Use arm_convolve_HWC_q7() for conv, arm_fully_connected_q7() for FC. Use DWT cycle counter to profile latency.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99592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422452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11880" y="406908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11880" y="4069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14400" y="4050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Transfer Learning Experiments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14400" y="4379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last 2 layers to random. On-device training: 10-20 epochs, 48 samples/batch (sequential). Measure per-sample latency (ms), RAM peak (KB), accuracy after each epoch.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00600" y="399592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892040" y="422452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046720" y="406908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0" y="4069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49240" y="4050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&amp; Analysis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49240" y="4379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float32 vs FQT vs FQT+RigL. Plot accuracy vs RAM vs latency. Check convergence curves. Ablation: how much does each component contribute independently?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Textbooks — What to Read &amp; What to Skip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in order — each builds on the last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47472" cy="93268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42646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days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03327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and Deep Learning — Michael Nielsen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28016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neuralnetworksanddeeplearning.com  (FREE)  |  WHEN: Week 1 — read BEFORE writing any 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481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Ch.1: How networks learn (intuition)  |  Ch.2: Backpropagation in full detail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16824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Ch.5-6 (Why deep networks are hard — too theoretical for now)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87568" y="1417320"/>
            <a:ext cx="3127248" cy="475488"/>
          </a:xfrm>
          <a:prstGeom prst="rect">
            <a:avLst/>
          </a:prstGeom>
          <a:solidFill>
            <a:srgbClr val="1B9AAA">
              <a:alpha val="12000"/>
            </a:srgbClr>
          </a:solidFill>
          <a:ln w="635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1444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Best visual explanation of backpropagation that exists. Read Ch.2 twice.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859536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011680"/>
            <a:ext cx="347472" cy="9326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01168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" y="243230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203911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Goodfellow, Bengio &amp; Courville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28600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deeplearningbook.org  (FREE PDF)  |  WHEN: Weeks 2-3 (parallel with coding Phase 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2487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Ch.6: Deep Feedforward Networks (backprop math, the rigorous version)  |  Ch.9: CNNs (architecture design for MFCC input)  |  Ch.7 Sections 7.1-7.3: Regularization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268833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Ch.14-20: VAEs, GANs, deep generative models, RL — not needed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87568" y="2423160"/>
            <a:ext cx="3127248" cy="475488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24505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math in FQT paper assumes you know Ch.6 &amp; Ch.8. Read these before Phase 4.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859536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017520"/>
            <a:ext cx="347472" cy="9326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1752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4320" y="343814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304495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Quantizing Deep CNNs — Krishnamoorthi (2018)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329184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arXiv:1806.08342  (11 pages — FREE)  |  WHEN: Before Phase 4 (Week 8)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4930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Read FULLY — all 11 pages.  Section 3.2: Per-channel quantization (= Eq.6-7 in Deutel)  |  Section 5: QAT vs PTQ comparison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369417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Nothing — it is only 11 pages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87568" y="3429000"/>
            <a:ext cx="3127248" cy="475488"/>
          </a:xfrm>
          <a:prstGeom prst="rect">
            <a:avLst/>
          </a:prstGeom>
          <a:solidFill>
            <a:srgbClr val="F4A261">
              <a:alpha val="12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3456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Bridges theory to practice. Read this immediately before implementing calibrate.py.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023360"/>
            <a:ext cx="859536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023360"/>
            <a:ext cx="347472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2336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74320" y="444398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" y="405079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CMSIS-NN Programmer Guide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429768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developer.arm.com/documentation  (FREE)  |  WHEN: Before Phase 5 (Week 11)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" y="44988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arm_convolve_HWC_q7 reference  |  arm_fully_connected_q7 reference  |  arm_depthwise_separable_conv_HWC_q7 reference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" y="470001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float16 and float32 sections (you are using q7 = int8 only)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87568" y="4434840"/>
            <a:ext cx="3127248" cy="475488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42432" y="4462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CMSIS-NN function call in inference.c needs the exact buffer layout from this guide.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Courses — Exact Lessons &amp; Learning Order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in parallel with coding phases — not sequentially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47472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wks @ 5hr/wk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0332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fast.ai — Practical Deep Learning Part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243584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course.fast.ai  (FREE)  |  WHEN: Weeks 1–3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14264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Lesson 1-3: PyTorch basics + image classification  |  Lesson 7: Training in depth  |  Lesson 8: Backprop from scratch — write it in pure Python — CRITICAL before Phase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59105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Lessons 9-10+ (NLP, diffusion — not needed)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70448" y="1353312"/>
            <a:ext cx="2944368" cy="365760"/>
          </a:xfrm>
          <a:prstGeom prst="rect">
            <a:avLst/>
          </a:prstGeom>
          <a:solidFill>
            <a:srgbClr val="1B9AAA">
              <a:alpha val="12000"/>
            </a:srgbClr>
          </a:solidFill>
          <a:ln w="635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5312" y="1371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Lesson 8 gives you the intuition to implement rigl.py and fqt_sgd.py without getting lost.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819656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819656"/>
            <a:ext cx="347472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1965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" y="218541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wk (sel.)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184708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CS231n Stanford — Convolutional Neural Networks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2057400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search 'CS231n 2017'  (FREE)  |  WHEN: Weeks 1–4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224028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Lecture 4: Backprop &amp; neural networks  |  Lecture 5: CNN architectures  |  Lecture 7: Training NN part 1 (SGD, momentum, LR schedules)  |  Lecture 8: Training NN part 2 (regularization, BatchNorm)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240487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Lectures 9-16 (RNNs, GAN, generative models, RL) — completely irrelevant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70448" y="2167128"/>
            <a:ext cx="2944368" cy="36576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5312" y="21854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Lecture 4 is the best 75-min explanation of backprop graphs — watch before writing any gradient code.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633472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633472"/>
            <a:ext cx="347472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63347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74320" y="299923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wks @ 3hr/wk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" y="266090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 — Neural Networks &amp; Deep Learning (Course 1/5)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2871216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 — Free audit  (FREE)  |  WHEN: Weeks 2–5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" y="305409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Week 1-4: ALL (neural network basics through deep networks)  |  Week 3-4: most critical — shallow to deep backprop, vanishing gradients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3218688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Courses 3, 5 (structuring ML projects, sequence models — not needed for this thesis)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70448" y="2980944"/>
            <a:ext cx="2944368" cy="365760"/>
          </a:xfrm>
          <a:prstGeom prst="rect">
            <a:avLst/>
          </a:prstGeom>
          <a:solidFill>
            <a:srgbClr val="F4A261">
              <a:alpha val="12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29992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Bridges Nielsen visuals to Goodfellow math. Do Week 4 programming exercises before starting Phase 3.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447288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447288"/>
            <a:ext cx="34747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44728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74320" y="381304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" y="34747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+ scipy Tutorials — Sensor Data Processing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85800" y="368503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numpy.org/doc + scipy.org/doc  (FREE)  |  WHEN: Start of Phase 2 (Week 3)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5800" y="3867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numpy indexing + slicing  |  scipy.signal for windowing  |  sklearn metrics for 6-class confusion matrix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" y="4032504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Audio/speech tutorials (not relevant — your data is already in .npy sensor format)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70448" y="3794760"/>
            <a:ext cx="2944368" cy="36576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38130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HAR .npy files are already segmented and normalized — dataset.py is simple numpy load + DataLoader wrapping.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261104"/>
            <a:ext cx="85953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261104"/>
            <a:ext cx="347472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26110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274320" y="462686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5800" y="42885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— Getting Started with CMSIS-NN on Cortex-M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85800" y="449884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developer.arm.com/documentation  (FREE)  |  WHEN: Start of Phase 5 (Week 11)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85800" y="46817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Full CMSIS-NN quickstart guide  |  Search YouTube: 'STM32 X-CUBE-AI lab' — watch the hands-on lab video  |  Read STM32CubeIDE linker map tutorial to find RAM usage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5800" y="484632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Float16 and TrustZone sections — using int8 only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70448" y="4608576"/>
            <a:ext cx="2944368" cy="365760"/>
          </a:xfrm>
          <a:prstGeom prst="rect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25312" y="46268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Before writing inference.c, you need to know the exact q7 buffer format ARM expects.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9AAA">
              <a:alpha val="15000"/>
            </a:srgbClr>
          </a:solidFill>
          <a:ln w="12700">
            <a:solidFill>
              <a:srgbClr val="1B9AA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0D2A44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43000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978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(Deutel et al.)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quantized training on Cortex-M MCUs is feasible. Key tools: quantized backprop (Eq.1-4), standardized SGD (Eq.8), dynamic sparse gradient updates (Eq.9). Results: 34.8% less RAM, 49% lower latency vs MCUNet.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8229600" cy="841248"/>
          </a:xfrm>
          <a:prstGeom prst="rect">
            <a:avLst/>
          </a:prstGeom>
          <a:solidFill>
            <a:srgbClr val="0D2A44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121408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(Evci et al.)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25856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sparse networks from scratch — no dense model ever needed. Drop by weight magnitude, Grow by gradient magnitude, use ERK distribution. Matches or beats dense-to-sparse pruning at 23% of training FLOPs.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8229600" cy="841248"/>
          </a:xfrm>
          <a:prstGeom prst="rect">
            <a:avLst/>
          </a:prstGeom>
          <a:solidFill>
            <a:srgbClr val="0D2A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099816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935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Thesis Combination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23697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reduces parameter count -&gt; FQT trains in 8-bit integers -&gt; Result fits in 320 KB STM32 RAM. Activity recognition model adapts to new users entirely on-device.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9624"/>
            <a:ext cx="8229600" cy="841248"/>
          </a:xfrm>
          <a:prstGeom prst="rect">
            <a:avLst/>
          </a:prstGeom>
          <a:solidFill>
            <a:srgbClr val="0D2A4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07822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Path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21538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weeks: Setup -&gt; UCI HAR data pipeline (raw sensor, no MFCC) -&gt; Dense baseline -&gt; RigL sparse training -&gt; FQT+RigL in C framework -&gt; STM32 on-device training -&gt; Evaluation -&gt; Thesis writing.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5460</Words>
  <Application>Microsoft Office PowerPoint</Application>
  <PresentationFormat>On-screen Show (16:9)</PresentationFormat>
  <Paragraphs>642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Thesis: FQT + RigL for On-Device Activity Recognition</dc:title>
  <dc:subject>PptxGenJS Presentation</dc:subject>
  <dc:creator>PptxGenJS</dc:creator>
  <cp:lastModifiedBy>Mohamed Atef</cp:lastModifiedBy>
  <cp:revision>7</cp:revision>
  <dcterms:created xsi:type="dcterms:W3CDTF">2026-06-14T12:31:23Z</dcterms:created>
  <dcterms:modified xsi:type="dcterms:W3CDTF">2026-06-16T14:50:10Z</dcterms:modified>
</cp:coreProperties>
</file>