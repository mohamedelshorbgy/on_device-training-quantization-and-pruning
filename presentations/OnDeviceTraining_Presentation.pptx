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1097280"/>
            <a:ext cx="5486400" cy="5486400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234440"/>
            <a:ext cx="1920240" cy="2926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344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MASTER'S THESIS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54864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OnDevice</a:t>
            </a:r>
            <a:endParaRPr lang="en-US" sz="5800" dirty="0"/>
          </a:p>
          <a:p>
            <a:pPr algn="l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457200" y="3520440"/>
            <a:ext cx="6400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C Framework for Inference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On-Device Training on MCUs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4462272"/>
            <a:ext cx="3200400" cy="2743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572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Atef  ·  2026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223760" y="1463040"/>
            <a:ext cx="1554480" cy="777240"/>
          </a:xfrm>
          <a:prstGeom prst="rect">
            <a:avLst/>
          </a:prstGeom>
          <a:solidFill>
            <a:srgbClr val="112847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223760" y="148132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223760" y="186537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223760" y="2468880"/>
            <a:ext cx="1554480" cy="777240"/>
          </a:xfrm>
          <a:prstGeom prst="rect">
            <a:avLst/>
          </a:prstGeom>
          <a:solidFill>
            <a:srgbClr val="112847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223760" y="248716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C99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223760" y="287121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223760" y="3474720"/>
            <a:ext cx="1554480" cy="777240"/>
          </a:xfrm>
          <a:prstGeom prst="rect">
            <a:avLst/>
          </a:prstGeom>
          <a:solidFill>
            <a:srgbClr val="112847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223760" y="349300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MCU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223760" y="387705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Platform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This Codebase?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0EA5E9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OnDeviceTraining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pure-C, CMake-based framework that brings </a:t>
            </a:r>
            <a:pPr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neural network training (forward + backpropagation)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resource-constrained microcontrollers — not just inference.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2057400"/>
            <a:ext cx="4023360" cy="1143000"/>
          </a:xfrm>
          <a:prstGeom prst="rect">
            <a:avLst/>
          </a:prstGeom>
          <a:solidFill>
            <a:srgbClr val="172B45"/>
          </a:solidFill>
          <a:ln w="63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76072" y="21488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 First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76072" y="25146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 code runs on MCU and PC host for debugging and reference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00600" y="2057400"/>
            <a:ext cx="4023360" cy="1143000"/>
          </a:xfrm>
          <a:prstGeom prst="rect">
            <a:avLst/>
          </a:prstGeom>
          <a:solidFill>
            <a:srgbClr val="172B45"/>
          </a:solidFill>
          <a:ln w="63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65192" y="21488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MCU Realism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65192" y="25146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tight RAM/Flash — static memory, no heap bloat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1480" y="3383280"/>
            <a:ext cx="4023360" cy="1143000"/>
          </a:xfrm>
          <a:prstGeom prst="rect">
            <a:avLst/>
          </a:prstGeom>
          <a:solidFill>
            <a:srgbClr val="172B45"/>
          </a:solidFill>
          <a:ln w="63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76072" y="34747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Design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76072" y="384048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Layers, quantization, and optimizers added without breaking baseline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800600" y="3383280"/>
            <a:ext cx="4023360" cy="1143000"/>
          </a:xfrm>
          <a:prstGeom prst="rect">
            <a:avLst/>
          </a:prstGeom>
          <a:solidFill>
            <a:srgbClr val="172B45"/>
          </a:solidFill>
          <a:ln w="635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65192" y="34747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Friendly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65192" y="384048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abstractions to plug in custom training algorithms (FQT, RigL)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394960" y="960120"/>
            <a:ext cx="3337560" cy="868680"/>
          </a:xfrm>
          <a:prstGeom prst="rect">
            <a:avLst/>
          </a:prstGeom>
          <a:solidFill>
            <a:srgbClr val="112847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98755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Extensions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0" y="1243584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checkpointing
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 / mixed-precision
</a:t>
            </a:r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training (RigL)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0EA5E9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914400"/>
            <a:ext cx="8321040" cy="512064"/>
          </a:xfrm>
          <a:prstGeom prst="rect">
            <a:avLst/>
          </a:prstGeom>
          <a:solidFill>
            <a:srgbClr val="172B45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14400"/>
            <a:ext cx="201168" cy="5120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969264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API  (InferenceApi · TrainingLoopApi · SgdApi · TensorApi)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11480" y="1490472"/>
            <a:ext cx="8321040" cy="512064"/>
          </a:xfrm>
          <a:prstGeom prst="rect">
            <a:avLst/>
          </a:prstGeom>
          <a:solidFill>
            <a:srgbClr val="172B45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490472"/>
            <a:ext cx="201168" cy="5120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1545336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LOOP  (CalculateGradsSequential · TrainingEpochDefault · TrainingBatch)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2066544"/>
            <a:ext cx="8321040" cy="512064"/>
          </a:xfrm>
          <a:prstGeom prst="rect">
            <a:avLst/>
          </a:prstGeom>
          <a:solidFill>
            <a:srgbClr val="172B45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2066544"/>
            <a:ext cx="201168" cy="5120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21214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 LAYERS  (Linear · ReLU · Softmax · Conv1d · QuantizationLayer)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2642616"/>
            <a:ext cx="8321040" cy="512064"/>
          </a:xfrm>
          <a:prstGeom prst="rect">
            <a:avLst/>
          </a:prstGeom>
          <a:solidFill>
            <a:srgbClr val="172B45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642616"/>
            <a:ext cx="201168" cy="5120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" y="269748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+ OPTIMIZER  (CrossEntropy · MSE · SGD / SGD-Momentum)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3218688"/>
            <a:ext cx="8321040" cy="512064"/>
          </a:xfrm>
          <a:prstGeom prst="rect">
            <a:avLst/>
          </a:prstGeom>
          <a:solidFill>
            <a:srgbClr val="172B4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3218688"/>
            <a:ext cx="201168" cy="5120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32735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 (DataLoader · NPYLoader · CSVHelper)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" y="3794760"/>
            <a:ext cx="8321040" cy="512064"/>
          </a:xfrm>
          <a:prstGeom prst="rect">
            <a:avLst/>
          </a:prstGeom>
          <a:solidFill>
            <a:srgbClr val="172B45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794760"/>
            <a:ext cx="201168" cy="5120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3849624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 + QUANTIZATION  (Tensor · DTypes · Quantization · TensorConversion)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1480" y="4370832"/>
            <a:ext cx="8321040" cy="512064"/>
          </a:xfrm>
          <a:prstGeom prst="rect">
            <a:avLst/>
          </a:prstGeom>
          <a:solidFill>
            <a:srgbClr val="172B4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4370832"/>
            <a:ext cx="201168" cy="512064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4" name="Text 22"/>
          <p:cNvSpPr/>
          <p:nvPr/>
        </p:nvSpPr>
        <p:spPr>
          <a:xfrm>
            <a:off x="713232" y="4425696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PRIMITIVES  (Matmul · Add · Mul · Div · Log · Rounding · Distributions)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11480" y="484632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layers call into lower ones. UserAPI is the integration point for experiments.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Core: Tensor &amp; Quantization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14B8A6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914400"/>
            <a:ext cx="4023360" cy="3200400"/>
          </a:xfrm>
          <a:prstGeom prst="rect">
            <a:avLst/>
          </a:prstGeom>
          <a:solidFill>
            <a:srgbClr val="172B45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058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tensor_t  (core data primitive)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44752"/>
            <a:ext cx="3749040" cy="475488"/>
          </a:xfrm>
          <a:prstGeom prst="rect">
            <a:avLst/>
          </a:prstGeom>
          <a:solidFill>
            <a:srgbClr val="112847"/>
          </a:solidFill>
          <a:ln w="3810">
            <a:solidFill>
              <a:srgbClr val="14B8A6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81328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uint8_t*  data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byte storage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3749040" cy="475488"/>
          </a:xfrm>
          <a:prstGeom prst="rect">
            <a:avLst/>
          </a:prstGeom>
          <a:solidFill>
            <a:srgbClr val="112847"/>
          </a:solidFill>
          <a:ln w="3810">
            <a:solidFill>
              <a:srgbClr val="14B8A6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48256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shape_t*  shape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258568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N-dim size + order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578608"/>
            <a:ext cx="3749040" cy="475488"/>
          </a:xfrm>
          <a:prstGeom prst="rect">
            <a:avLst/>
          </a:prstGeom>
          <a:solidFill>
            <a:srgbClr val="112847"/>
          </a:solidFill>
          <a:ln w="3810">
            <a:solidFill>
              <a:srgbClr val="14B8A6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615184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quantization_t*  q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825496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config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145536"/>
            <a:ext cx="3749040" cy="475488"/>
          </a:xfrm>
          <a:prstGeom prst="rect">
            <a:avLst/>
          </a:prstGeom>
          <a:solidFill>
            <a:srgbClr val="112847"/>
          </a:solidFill>
          <a:ln w="3810">
            <a:solidFill>
              <a:srgbClr val="14B8A6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182112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sparsity_t*  sparsity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392424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sparsity mask (RigL hook)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4206240"/>
            <a:ext cx="4023360" cy="685800"/>
          </a:xfrm>
          <a:prstGeom prst="rect">
            <a:avLst/>
          </a:prstGeom>
          <a:solidFill>
            <a:srgbClr val="112847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27939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parameter_t  =  tensor_t* param  +  tensor_t* grad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914400"/>
            <a:ext cx="4023360" cy="3977640"/>
          </a:xfrm>
          <a:prstGeom prst="rect">
            <a:avLst/>
          </a:prstGeom>
          <a:solidFill>
            <a:srgbClr val="172B45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00600" y="10058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 Modes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00600" y="1463040"/>
            <a:ext cx="3749040" cy="548640"/>
          </a:xfrm>
          <a:prstGeom prst="rect">
            <a:avLst/>
          </a:prstGeom>
          <a:solidFill>
            <a:srgbClr val="112847"/>
          </a:solidFill>
          <a:ln w="381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149961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FLOAT32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1719072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FP32 — training baseline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2103120"/>
            <a:ext cx="3749040" cy="548640"/>
          </a:xfrm>
          <a:prstGeom prst="rect">
            <a:avLst/>
          </a:prstGeom>
          <a:solidFill>
            <a:srgbClr val="112847"/>
          </a:solidFill>
          <a:ln w="381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13969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SYM_INT32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92040" y="2359152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fixed-point, configurable max bits (FQT-style)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0600" y="2743200"/>
            <a:ext cx="3749040" cy="548640"/>
          </a:xfrm>
          <a:prstGeom prst="rect">
            <a:avLst/>
          </a:prstGeom>
          <a:solidFill>
            <a:srgbClr val="112847"/>
          </a:solidFill>
          <a:ln w="381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277977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 (N-bit)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92040" y="2999232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N-bit integer with scale factor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00600" y="3383280"/>
            <a:ext cx="3749040" cy="548640"/>
          </a:xfrm>
          <a:prstGeom prst="rect">
            <a:avLst/>
          </a:prstGeom>
          <a:solidFill>
            <a:srgbClr val="112847"/>
          </a:solidFill>
          <a:ln w="381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341985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ASYM (N-bit)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92040" y="3639312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with scale + zero-point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00600" y="4023360"/>
            <a:ext cx="3749040" cy="548640"/>
          </a:xfrm>
          <a:prstGeom prst="rect">
            <a:avLst/>
          </a:prstGeom>
          <a:solidFill>
            <a:srgbClr val="112847"/>
          </a:solidFill>
          <a:ln w="381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405993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INT32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92040" y="4279392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32-bit integer (accumulator type)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Core: Neural Network Layers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8B5CF6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914400"/>
            <a:ext cx="4023360" cy="1325880"/>
          </a:xfrm>
          <a:prstGeom prst="rect">
            <a:avLst/>
          </a:prstGeom>
          <a:solidFill>
            <a:srgbClr val="172B45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14400"/>
            <a:ext cx="182880" cy="13258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26187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Linear.c / Linear.h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Fully-connected layer. Forward: Y = XWt + b. Backward: computes dL/dW, dL/db, dL/dX. Supports float and quantized paths.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023360" cy="1325880"/>
          </a:xfrm>
          <a:prstGeom prst="rect">
            <a:avLst/>
          </a:prstGeom>
          <a:solidFill>
            <a:srgbClr val="172B45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14400"/>
            <a:ext cx="182880" cy="132588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126187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Relu.c / Relu.h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0" y="1463040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Element-wise activation. Forward: max(0,x). Backward: gradient mask where x &gt; 0. Very low memory footprint.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2377440"/>
            <a:ext cx="4023360" cy="1325880"/>
          </a:xfrm>
          <a:prstGeom prst="rect">
            <a:avLst/>
          </a:prstGeom>
          <a:solidFill>
            <a:srgbClr val="172B45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377440"/>
            <a:ext cx="182880" cy="13258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468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27249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Softmax.c / Softmax.h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85800" y="2926080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exponential output for classification. Backward fused with CrossEntropy for numerical stability.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2377440"/>
            <a:ext cx="4023360" cy="1325880"/>
          </a:xfrm>
          <a:prstGeom prst="rect">
            <a:avLst/>
          </a:prstGeom>
          <a:solidFill>
            <a:srgbClr val="172B45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377440"/>
            <a:ext cx="182880" cy="132588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2468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0" y="27249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Conv1d.c + Conv1dTransposed.c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29200" y="2926080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convolution for audio/time-series features (e.g. MFCC-based speaker embeddings). Transposed version for up-sampling.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1480" y="3858768"/>
            <a:ext cx="8321040" cy="1005840"/>
          </a:xfrm>
          <a:prstGeom prst="rect">
            <a:avLst/>
          </a:prstGeom>
          <a:solidFill>
            <a:srgbClr val="172B45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3858768"/>
            <a:ext cx="182880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931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QuantizationLayer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5800" y="418795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QuantizationLayer.c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114800" y="393192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In-graph quantization layer: inserts fake quantize-dequantize ops so integer-aware gradients flow during backprop (FQT foundation).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Core: Forward &amp; Backward Pass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0EA5E9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CalculateGradsSequential.c  —  the core training engine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2606040" cy="1600200"/>
          </a:xfrm>
          <a:prstGeom prst="rect">
            <a:avLst/>
          </a:prstGeom>
          <a:solidFill>
            <a:srgbClr val="172B45"/>
          </a:solidFill>
          <a:ln w="889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53312"/>
            <a:ext cx="347472" cy="34747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53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77824" y="138074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Layer Outputs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1773936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activation tensors for each layer (correct shape + quantization config).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261872"/>
            <a:ext cx="2606040" cy="1600200"/>
          </a:xfrm>
          <a:prstGeom prst="rect">
            <a:avLst/>
          </a:prstGeom>
          <a:solidFill>
            <a:srgbClr val="172B45"/>
          </a:solidFill>
          <a:ln w="889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353312"/>
            <a:ext cx="347472" cy="34747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353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12464" y="138074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91840" y="1773936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layers 0 to N calling forward(). Each reads from the previous activation.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261872"/>
            <a:ext cx="2606040" cy="1600200"/>
          </a:xfrm>
          <a:prstGeom prst="rect">
            <a:avLst/>
          </a:prstGeom>
          <a:solidFill>
            <a:srgbClr val="172B45"/>
          </a:solidFill>
          <a:ln w="889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353312"/>
            <a:ext cx="347472" cy="34747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1353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47104" y="138074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Loss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126480" y="1773936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CrossEntropy or MSE on final output vs. label. Returns scalar loss.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044952"/>
            <a:ext cx="2606040" cy="1600200"/>
          </a:xfrm>
          <a:prstGeom prst="rect">
            <a:avLst/>
          </a:prstGeom>
          <a:solidFill>
            <a:srgbClr val="172B45"/>
          </a:solidFill>
          <a:ln w="889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136392"/>
            <a:ext cx="347472" cy="34747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136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77824" y="316382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Grad Tensor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3557016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dL/d_output tensor with same shape as model output.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3044952"/>
            <a:ext cx="2606040" cy="1600200"/>
          </a:xfrm>
          <a:prstGeom prst="rect">
            <a:avLst/>
          </a:prstGeom>
          <a:solidFill>
            <a:srgbClr val="172B45"/>
          </a:solidFill>
          <a:ln w="889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91840" y="3136392"/>
            <a:ext cx="347472" cy="34747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7" name="Text 25"/>
          <p:cNvSpPr/>
          <p:nvPr/>
        </p:nvSpPr>
        <p:spPr>
          <a:xfrm>
            <a:off x="3291840" y="3136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12464" y="316382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Pass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291840" y="3557016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layers N to 0 calling backward(). Each propagates dL/d_input and updates dL/dW, dL/db.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35040" y="3044952"/>
            <a:ext cx="2606040" cy="1600200"/>
          </a:xfrm>
          <a:prstGeom prst="rect">
            <a:avLst/>
          </a:prstGeom>
          <a:solidFill>
            <a:srgbClr val="172B45"/>
          </a:solidFill>
          <a:ln w="889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3136392"/>
            <a:ext cx="347472" cy="34747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2" name="Text 30"/>
          <p:cNvSpPr/>
          <p:nvPr/>
        </p:nvSpPr>
        <p:spPr>
          <a:xfrm>
            <a:off x="6126480" y="3136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547104" y="316382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 &amp; Return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126480" y="3557016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intermediate activations. Return trainingStats (loss + output copy).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Optimizer, Loss &amp; Data Pipeline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EC4899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886968"/>
            <a:ext cx="4023360" cy="2468880"/>
          </a:xfrm>
          <a:prstGeom prst="rect">
            <a:avLst/>
          </a:prstGeom>
          <a:solidFill>
            <a:srgbClr val="172B45"/>
          </a:solidFill>
          <a:ln w="1270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875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 (src/optimizer/)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89888"/>
            <a:ext cx="3749040" cy="777240"/>
          </a:xfrm>
          <a:prstGeom prst="rect">
            <a:avLst/>
          </a:prstGeom>
          <a:solidFill>
            <a:srgbClr val="112847"/>
          </a:solidFill>
          <a:ln w="5080">
            <a:solidFill>
              <a:srgbClr val="EC4899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45389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17190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Plain SGD: theta = theta - lr * grad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304288"/>
            <a:ext cx="3749040" cy="777240"/>
          </a:xfrm>
          <a:prstGeom prst="rect">
            <a:avLst/>
          </a:prstGeom>
          <a:solidFill>
            <a:srgbClr val="112847"/>
          </a:solidFill>
          <a:ln w="5080">
            <a:solidFill>
              <a:srgbClr val="EC4899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36829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SGD-Momentum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" y="26334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= beta*v + grad,   theta = theta - lr * v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886968"/>
            <a:ext cx="4023360" cy="2468880"/>
          </a:xfrm>
          <a:prstGeom prst="rect">
            <a:avLst/>
          </a:prstGeom>
          <a:solidFill>
            <a:srgbClr val="172B45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00600" y="9875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Functions  (src/loss_functions/)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00600" y="1389888"/>
            <a:ext cx="3749040" cy="777240"/>
          </a:xfrm>
          <a:prstGeom prst="rect">
            <a:avLst/>
          </a:prstGeom>
          <a:solidFill>
            <a:srgbClr val="112847"/>
          </a:solidFill>
          <a:ln w="5080">
            <a:solidFill>
              <a:srgbClr val="06D6A0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9472" y="145389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CrossEntropy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19472" y="17190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classification. Backward fused with Softmax for stability.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2304288"/>
            <a:ext cx="3749040" cy="777240"/>
          </a:xfrm>
          <a:prstGeom prst="rect">
            <a:avLst/>
          </a:prstGeom>
          <a:solidFill>
            <a:srgbClr val="112847"/>
          </a:solidFill>
          <a:ln w="5080">
            <a:solidFill>
              <a:srgbClr val="06D6A0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236829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19472" y="26334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Squared Error for regression. Backward: 2*(y_hat - y) / 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3474720"/>
            <a:ext cx="8321040" cy="1417320"/>
          </a:xfrm>
          <a:prstGeom prst="rect">
            <a:avLst/>
          </a:prstGeom>
          <a:solidFill>
            <a:srgbClr val="172B45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35661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 (src/data_loader/ + src/csv/)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3950208"/>
            <a:ext cx="2560320" cy="822960"/>
          </a:xfrm>
          <a:prstGeom prst="rect">
            <a:avLst/>
          </a:prstGeom>
          <a:solidFill>
            <a:srgbClr val="112847"/>
          </a:solidFill>
          <a:ln w="381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01421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DataLoader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427939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dataset into batches; supports shuffle, split, callback hooks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91840" y="3950208"/>
            <a:ext cx="2560320" cy="822960"/>
          </a:xfrm>
          <a:prstGeom prst="rect">
            <a:avLst/>
          </a:prstGeom>
          <a:solidFill>
            <a:srgbClr val="112847"/>
          </a:solidFill>
          <a:ln w="381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401421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NPYLoader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83280" y="427939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NumPy .npy files in C — bridge between Python preprocessing and C runtime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35040" y="3950208"/>
            <a:ext cx="2560320" cy="822960"/>
          </a:xfrm>
          <a:prstGeom prst="rect">
            <a:avLst/>
          </a:prstGeom>
          <a:solidFill>
            <a:srgbClr val="112847"/>
          </a:solidFill>
          <a:ln w="381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401421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CSVHelper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26480" y="427939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per-epoch training stats (loss, accuracy, F1) to CSV for Python/Excel analysis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API &amp; Model Serialization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06D6A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src/userApi/  —  experiments call these functions, not the internals directly.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4023360" cy="1115568"/>
          </a:xfrm>
          <a:prstGeom prst="rect">
            <a:avLst/>
          </a:prstGeom>
          <a:solidFill>
            <a:srgbClr val="172B45"/>
          </a:solidFill>
          <a:ln w="889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3258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TensorApi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58191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TensorApi.c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764792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Allocate, free, copy, and init tensors with distributions (Xavier, zeros). Wraps internal storage management.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4023360" cy="1115568"/>
          </a:xfrm>
          <a:prstGeom prst="rect">
            <a:avLst/>
          </a:prstGeom>
          <a:solidFill>
            <a:srgbClr val="172B45"/>
          </a:solidFill>
          <a:ln w="889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13258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LinearApi / ReluApi / SoftmaxApi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158191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layer/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92040" y="1764792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layer constructors binding parameters, quantization, and forward/backward hooks.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2468880"/>
            <a:ext cx="4023360" cy="1115568"/>
          </a:xfrm>
          <a:prstGeom prst="rect">
            <a:avLst/>
          </a:prstGeom>
          <a:solidFill>
            <a:srgbClr val="172B45"/>
          </a:solidFill>
          <a:ln w="889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2560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SgdApi / OptimizerApi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281635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optimizer/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2999232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optimizer instances bound to a model. Exposes step() and zero_grad() via function pointer table.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468880"/>
            <a:ext cx="4023360" cy="1115568"/>
          </a:xfrm>
          <a:prstGeom prst="rect">
            <a:avLst/>
          </a:prstGeom>
          <a:solidFill>
            <a:srgbClr val="172B45"/>
          </a:solidFill>
          <a:ln w="889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92040" y="2560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InferenceApi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281635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InferenceApi.c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92040" y="2999232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Single-function inference + loss calculation. Used during evaluation loops.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3703320"/>
            <a:ext cx="4023360" cy="1115568"/>
          </a:xfrm>
          <a:prstGeom prst="rect">
            <a:avLst/>
          </a:prstGeom>
          <a:solidFill>
            <a:srgbClr val="172B45"/>
          </a:solidFill>
          <a:ln w="889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3794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TrainingLoopApi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405079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training_loop/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4233672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trainingRun() top-level loop. Calls epoch/batch helpers, collects loss/accuracy/F1, fires epoch callbacks.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3703320"/>
            <a:ext cx="4023360" cy="1115568"/>
          </a:xfrm>
          <a:prstGeom prst="rect">
            <a:avLst/>
          </a:prstGeom>
          <a:solidFill>
            <a:srgbClr val="172B45"/>
          </a:solidFill>
          <a:ln w="889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92040" y="3794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StorageApi + Serialize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92040" y="405079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StorageApi.c / serial/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92040" y="4233672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Serialize/deserialize model weights to binary files — saves trained models to flash on MCU.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Relation to Your Thesis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F59E0B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" y="896112"/>
            <a:ext cx="8321040" cy="658368"/>
          </a:xfrm>
          <a:prstGeom prst="rect">
            <a:avLst/>
          </a:prstGeom>
          <a:solidFill>
            <a:srgbClr val="11284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91440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Goal: FQT + RigL Sparse Training on STM32 Nucleo-F746ZG for LibriSpeech Speaker Identification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673352"/>
            <a:ext cx="2606040" cy="3246120"/>
          </a:xfrm>
          <a:prstGeom prst="rect">
            <a:avLst/>
          </a:prstGeom>
          <a:solidFill>
            <a:srgbClr val="172B45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673352"/>
            <a:ext cx="260604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521208" y="181051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FQT (Fake Quantization Training)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21208" y="2368296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entry point: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21208" y="256946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QuantizationLayer + Quantization.c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21208" y="299008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connects: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21208" y="3191256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QuantizationLayer and SYM_INT32/ASYM qtypes implement fake-quantize-dequantize in-graph. Weights and activations are quantized on the forward pass, but gradients flow through — the core FQT mechanism described by Deutel.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0" y="1673352"/>
            <a:ext cx="2606040" cy="3246120"/>
          </a:xfrm>
          <a:prstGeom prst="rect">
            <a:avLst/>
          </a:prstGeom>
          <a:solidFill>
            <a:srgbClr val="172B45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673352"/>
            <a:ext cx="260604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3310128" y="181051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RigL (Dynamic Sparse Training)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10128" y="2368296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entry point: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10128" y="256946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sparsity_t in Tensor.h + CalculateGradsSequential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10128" y="299008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connects: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10128" y="3191256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tensor already carries a sparsity_t field. The backprop engine propagates sparsity through layers. Your contribution: add a periodic RigL mask-update step — prune low-magnitude weights, regrow top-gradient weights.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989320" y="1673352"/>
            <a:ext cx="2606040" cy="3246120"/>
          </a:xfrm>
          <a:prstGeom prst="rect">
            <a:avLst/>
          </a:prstGeom>
          <a:solidFill>
            <a:srgbClr val="172B45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89320" y="1673352"/>
            <a:ext cx="2606040" cy="7315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2" name="Text 20"/>
          <p:cNvSpPr/>
          <p:nvPr/>
        </p:nvSpPr>
        <p:spPr>
          <a:xfrm>
            <a:off x="6099048" y="181051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ID on STM32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99048" y="2368296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entry point: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099048" y="256946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Conv1d + TrainingLoopApi + Serialize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099048" y="299008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connects: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099048" y="3191256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Conv1d supports MFCC-based audio feature extraction. TrainingLoopApi drives on-device adaptation. Serialize stores the model to flash. The no-heap static memory design targets STM32 RAM constraints directly.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File Reading Sequence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7432"/>
          </a:xfrm>
          <a:prstGeom prst="rect">
            <a:avLst/>
          </a:prstGeom>
          <a:solidFill>
            <a:srgbClr val="0EA5E9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the bottom of the stack and work up — each file only uses what came before it.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84048" y="1234440"/>
            <a:ext cx="274320" cy="2743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1234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9808" y="120700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src/common/include/Common.h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26280" y="1207008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Macros: PRINT_DEBUG, PRINT_ERROR, reserveMemory. Every file depends on this.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84048" y="1563624"/>
            <a:ext cx="8321040" cy="0"/>
          </a:xfrm>
          <a:prstGeom prst="line">
            <a:avLst/>
          </a:prstGeom>
          <a:noFill/>
          <a:ln w="6350">
            <a:solidFill>
              <a:srgbClr val="1128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1609344"/>
            <a:ext cx="274320" cy="2743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" y="1609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49808" y="158191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src/tensor/include/Quantization.h + Quantization.c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26280" y="1581912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 for precision: FLOAT32, SYM_INT32, ASYM. Read qtypes enum and configs.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4048" y="1938528"/>
            <a:ext cx="8321040" cy="0"/>
          </a:xfrm>
          <a:prstGeom prst="line">
            <a:avLst/>
          </a:prstGeom>
          <a:noFill/>
          <a:ln w="6350">
            <a:solidFill>
              <a:srgbClr val="11284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1984248"/>
            <a:ext cx="274320" cy="2743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" y="1984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49808" y="195681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src/tensor/include/Tensor.h + Tensor.c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26280" y="1956816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primitive: tensor_t, shape_t, sparsity_t, parameter_t. Understand these deeply.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84048" y="2313432"/>
            <a:ext cx="8321040" cy="0"/>
          </a:xfrm>
          <a:prstGeom prst="line">
            <a:avLst/>
          </a:prstGeom>
          <a:noFill/>
          <a:ln w="6350">
            <a:solidFill>
              <a:srgbClr val="11284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" y="2359152"/>
            <a:ext cx="274320" cy="2743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" y="2359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49808" y="233172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src/arithmetic/include/*.h + *.c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26280" y="2331720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Matmul, Add, Mul, Div, Log, Rounding — the math kernels layers call.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84048" y="2688336"/>
            <a:ext cx="8321040" cy="0"/>
          </a:xfrm>
          <a:prstGeom prst="line">
            <a:avLst/>
          </a:prstGeom>
          <a:noFill/>
          <a:ln w="6350">
            <a:solidFill>
              <a:srgbClr val="11284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048" y="2734056"/>
            <a:ext cx="274320" cy="2743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6" name="Text 24"/>
          <p:cNvSpPr/>
          <p:nvPr/>
        </p:nvSpPr>
        <p:spPr>
          <a:xfrm>
            <a:off x="384048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49808" y="2706624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src/layer/include/Layer.h + Linear.h/c + Relu.h/c + Softmax.h/c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26280" y="2706624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type enum, function pointers, three main trainable layers.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84048" y="3063240"/>
            <a:ext cx="8321040" cy="0"/>
          </a:xfrm>
          <a:prstGeom prst="line">
            <a:avLst/>
          </a:prstGeom>
          <a:noFill/>
          <a:ln w="6350">
            <a:solidFill>
              <a:srgbClr val="11284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048" y="3108960"/>
            <a:ext cx="274320" cy="2743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" y="3108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49808" y="308152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src/loss_functions/  +  src/optimizer/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26280" y="3081528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CrossEntropy, MSE (forward + backward); SGD optimizer step/zero.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84048" y="3438144"/>
            <a:ext cx="8321040" cy="0"/>
          </a:xfrm>
          <a:prstGeom prst="line">
            <a:avLst/>
          </a:prstGeom>
          <a:noFill/>
          <a:ln w="6350">
            <a:solidFill>
              <a:srgbClr val="11284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4048" y="3483864"/>
            <a:ext cx="274320" cy="2743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6" name="Text 34"/>
          <p:cNvSpPr/>
          <p:nvPr/>
        </p:nvSpPr>
        <p:spPr>
          <a:xfrm>
            <a:off x="384048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7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49808" y="345643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src/data_loader/DataLoader.h/c + NPYLoader.h/c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26280" y="3456432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enters the system — batches, samples, .npy file loading.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84048" y="3813048"/>
            <a:ext cx="8321040" cy="0"/>
          </a:xfrm>
          <a:prstGeom prst="line">
            <a:avLst/>
          </a:prstGeom>
          <a:noFill/>
          <a:ln w="6350">
            <a:solidFill>
              <a:srgbClr val="11284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84048" y="3858768"/>
            <a:ext cx="274320" cy="2743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41" name="Text 39"/>
          <p:cNvSpPr/>
          <p:nvPr/>
        </p:nvSpPr>
        <p:spPr>
          <a:xfrm>
            <a:off x="384048" y="3858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8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49808" y="383133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src/serial/  +  src/userApi/tensor/ + layer/ + optimizer/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26280" y="3831336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save/load (Serialize.c) and high-level API constructors.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84048" y="4187952"/>
            <a:ext cx="8321040" cy="0"/>
          </a:xfrm>
          <a:prstGeom prst="line">
            <a:avLst/>
          </a:prstGeom>
          <a:noFill/>
          <a:ln w="6350">
            <a:solidFill>
              <a:srgbClr val="11284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84048" y="4233672"/>
            <a:ext cx="274320" cy="2743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46" name="Text 44"/>
          <p:cNvSpPr/>
          <p:nvPr/>
        </p:nvSpPr>
        <p:spPr>
          <a:xfrm>
            <a:off x="384048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9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49808" y="420624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src/userApi/training_loop/calculate_grads/CalculateGradsSequential.c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526280" y="4206240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backprop engine — forward pass, loss, backward loop in one function.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84048" y="4562856"/>
            <a:ext cx="8321040" cy="0"/>
          </a:xfrm>
          <a:prstGeom prst="line">
            <a:avLst/>
          </a:prstGeom>
          <a:noFill/>
          <a:ln w="6350">
            <a:solidFill>
              <a:srgbClr val="11284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84048" y="4608576"/>
            <a:ext cx="274320" cy="2743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51" name="Text 49"/>
          <p:cNvSpPr/>
          <p:nvPr/>
        </p:nvSpPr>
        <p:spPr>
          <a:xfrm>
            <a:off x="384048" y="46085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10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49808" y="4581144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TrainingLoopApi.c  →  experiments/MnistExperiment.c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526280" y="4581144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end-to-end training run. MnistExperiment.c is the best first experiment to read.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286000"/>
            <a:ext cx="5486400" cy="5486400"/>
          </a:xfrm>
          <a:prstGeom prst="ellipse">
            <a:avLst/>
          </a:prstGeom>
          <a:solidFill>
            <a:srgbClr val="06D6A0">
              <a:alpha val="10000"/>
            </a:srgbClr>
          </a:solidFill>
          <a:ln w="12700">
            <a:solidFill>
              <a:srgbClr val="06D6A0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OnDeviceTraining is a complete pure-C training framework (not inference-only) built for MCUs and PC hosts.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85623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7-layer stack — arithmetic primitives up to a full training loop with loss, accuracy, F1, and confusion matrix.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47802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FQT link: QuantizationLayer + SYM_INT32 tensors implement fake-quantization-aware training — the direct C base for your FQT experiments.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099816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RigL link: sparsity_t in tensor_t is the structural hook for sparse masks. The backprop engine already propagates sparsity — your contribution adds the mask-update step.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721608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ID link: Conv1d for audio features, Serialize for flash storage, TrainingLoopApi for on-device adaptation on STM32.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343400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sequence: Common -&gt; Tensor -&gt; Arithmetic -&gt; Layers -&gt; Loss/Optim -&gt; DataLoader -&gt; UserAPI -&gt; MnistExperiment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800600"/>
            <a:ext cx="3200400" cy="2743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Atef  ·  Master's Thesis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OnDeviceTraining Framework</dc:title>
  <dc:subject>PptxGenJS Presentation</dc:subject>
  <dc:creator>PptxGenJS</dc:creator>
  <cp:lastModifiedBy>PptxGenJS</cp:lastModifiedBy>
  <cp:revision>1</cp:revision>
  <dcterms:created xsi:type="dcterms:W3CDTF">2026-05-27T11:15:40Z</dcterms:created>
  <dcterms:modified xsi:type="dcterms:W3CDTF">2026-05-27T11:15:40Z</dcterms:modified>
</cp:coreProperties>
</file>