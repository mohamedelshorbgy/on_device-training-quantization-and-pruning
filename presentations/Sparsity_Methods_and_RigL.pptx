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78" r:id="rId7"/>
    <p:sldId id="279" r:id="rId8"/>
    <p:sldId id="263" r:id="rId9"/>
    <p:sldId id="265" r:id="rId10"/>
    <p:sldId id="266" r:id="rId11"/>
    <p:sldId id="268" r:id="rId12"/>
    <p:sldId id="272" r:id="rId13"/>
    <p:sldId id="273" r:id="rId14"/>
    <p:sldId id="280" r:id="rId15"/>
    <p:sldId id="281" r:id="rId1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2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1920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39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19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2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6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005840"/>
            <a:ext cx="2834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05840"/>
            <a:ext cx="457200" cy="146304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057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in Deep Learning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18288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of Methods — and Why We Chose RigL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297680" y="3246120"/>
            <a:ext cx="91440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FBF6E5"/>
          </a:solidFill>
          <a:ln w="12700">
            <a:solidFill>
              <a:srgbClr val="FBF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Review · Mohamed Elshorbagy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91640"/>
            <a:ext cx="7863840" cy="4617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The Sparsification Taxonomy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when, and how to </a:t>
            </a:r>
            <a:r>
              <a:rPr lang="en-US" sz="13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sparsify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Methods Surveyed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After-training, </a:t>
            </a:r>
            <a:r>
              <a:rPr lang="en-US" sz="13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During-training, sparse-training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Selection Criteria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Magnitude, first-order, </a:t>
            </a:r>
            <a:r>
              <a:rPr lang="en-US" sz="13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— Dynamic Sparse Training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300" dirty="0" err="1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</a:t>
            </a:r>
            <a:r>
              <a:rPr lang="en-US" sz="13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— Why We Chose RigL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reasons grounded in </a:t>
            </a:r>
            <a:r>
              <a:rPr lang="en-US" sz="13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300" dirty="0">
              <a:solidFill>
                <a:srgbClr val="1F29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lvl="1">
              <a:spcAft>
                <a:spcPts val="200"/>
              </a:spcAft>
              <a:buSzPct val="100000"/>
            </a:pPr>
            <a:endParaRPr lang="en-US" sz="1300" smtClean="0">
              <a:solidFill>
                <a:srgbClr val="1F29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Taxonomy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Axes of Sparsification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783080"/>
            <a:ext cx="2697480" cy="4206240"/>
          </a:xfrm>
          <a:prstGeom prst="rect">
            <a:avLst/>
          </a:prstGeom>
          <a:solidFill>
            <a:srgbClr val="FBF6E5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783080"/>
            <a:ext cx="2697480" cy="54864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783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4360" y="2468880"/>
            <a:ext cx="242316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removed?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Weights (unstructured</a:t>
            </a:r>
            <a:r>
              <a:rPr lang="en-US" sz="12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Filters / channels </a:t>
            </a:r>
            <a:r>
              <a:rPr lang="en-US" sz="12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(structured)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Activations (ephemeral)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73552" y="1783080"/>
            <a:ext cx="2697480" cy="4206240"/>
          </a:xfrm>
          <a:prstGeom prst="rect">
            <a:avLst/>
          </a:prstGeom>
          <a:solidFill>
            <a:srgbClr val="FBF6E5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1783080"/>
            <a:ext cx="2697480" cy="548640"/>
          </a:xfrm>
          <a:prstGeom prst="rect">
            <a:avLst/>
          </a:prstGeom>
          <a:solidFill>
            <a:srgbClr val="C97B2D"/>
          </a:solidFill>
          <a:ln w="12700">
            <a:solidFill>
              <a:srgbClr val="C97B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783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56432" y="2468880"/>
            <a:ext cx="242316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sparsification happen?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training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During training (gradual)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training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35624" y="1783080"/>
            <a:ext cx="2697480" cy="4206240"/>
          </a:xfrm>
          <a:prstGeom prst="rect">
            <a:avLst/>
          </a:prstGeom>
          <a:solidFill>
            <a:srgbClr val="FBF6E5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35624" y="1783080"/>
            <a:ext cx="2697480" cy="548640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1783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18504" y="2468880"/>
            <a:ext cx="242316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elements selected?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Magnitude (|w|)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First-order (|∂L/∂w · w|)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Second-order (Hessian)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L0 / L1 regularization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Variational dropout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/ data-free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Taxonomy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Model vs. Ephemeral Sparsity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783080"/>
            <a:ext cx="4023360" cy="4114800"/>
          </a:xfrm>
          <a:prstGeom prst="rect">
            <a:avLst/>
          </a:prstGeom>
          <a:solidFill>
            <a:srgbClr val="FBF6E5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783080"/>
            <a:ext cx="4023360" cy="5029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83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2377440"/>
            <a:ext cx="3749040" cy="3383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  <a:buSzPct val="100000"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b="1" dirty="0" smtClean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model 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— </a:t>
            </a:r>
            <a:r>
              <a:rPr lang="en-US" sz="12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</a:p>
          <a:p>
            <a:pPr marL="342900" lvl="1">
              <a:spcAft>
                <a:spcPts val="200"/>
              </a:spcAft>
              <a:buSzPct val="100000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store not only the value but also the address</a:t>
            </a:r>
          </a:p>
          <a:p>
            <a:pPr marL="342900" lvl="1">
              <a:spcAft>
                <a:spcPts val="200"/>
              </a:spcAft>
              <a:buSzPct val="100000"/>
            </a:pPr>
            <a:r>
              <a:rPr lang="en-US" sz="12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Computation Overheads  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/ channels — structured</a:t>
            </a:r>
            <a:endParaRPr lang="en-US" sz="1300" dirty="0"/>
          </a:p>
          <a:p>
            <a:pPr marL="342900" lvl="1">
              <a:spcAft>
                <a:spcPts val="200"/>
              </a:spcAft>
              <a:buSzPct val="100000"/>
            </a:pPr>
            <a:endParaRPr lang="en-US" sz="1300" dirty="0"/>
          </a:p>
          <a:p>
            <a:pPr>
              <a:buSzPct val="100000"/>
            </a:pP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783080"/>
            <a:ext cx="4023360" cy="4114800"/>
          </a:xfrm>
          <a:prstGeom prst="rect">
            <a:avLst/>
          </a:prstGeom>
          <a:solidFill>
            <a:srgbClr val="FBF6E5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783080"/>
            <a:ext cx="4023360" cy="502920"/>
          </a:xfrm>
          <a:prstGeom prst="rect">
            <a:avLst/>
          </a:prstGeom>
          <a:solidFill>
            <a:srgbClr val="C97B2D"/>
          </a:solidFill>
          <a:ln w="12700">
            <a:solidFill>
              <a:srgbClr val="C97B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783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2377440"/>
            <a:ext cx="3749040" cy="3383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  <a:buSzPct val="100000"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300" b="1" dirty="0" smtClean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applied :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 (ReLU, </a:t>
            </a:r>
            <a:r>
              <a:rPr lang="en-US" sz="1200" dirty="0" err="1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r>
              <a:rPr lang="en-US" sz="12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operators)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2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Gradients(MBGS, VBGS)</a:t>
            </a:r>
          </a:p>
          <a:p>
            <a:pPr marL="342900" lvl="1">
              <a:spcAft>
                <a:spcPts val="200"/>
              </a:spcAft>
              <a:buSzPct val="100000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MBGS: smaller gradients are less important</a:t>
            </a:r>
          </a:p>
          <a:p>
            <a:pPr marL="342900" lvl="1">
              <a:spcAft>
                <a:spcPts val="200"/>
              </a:spcAft>
              <a:buSzPct val="100000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</a:t>
            </a:r>
            <a:r>
              <a:rPr lang="en-US" sz="1200" dirty="0" err="1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VBGS:</a:t>
            </a:r>
            <a:r>
              <a:rPr lang="en-US" sz="1400" dirty="0" err="1"/>
              <a:t>rand-k</a:t>
            </a:r>
            <a:r>
              <a:rPr lang="en-US" sz="1400" dirty="0"/>
              <a:t> </a:t>
            </a:r>
            <a:r>
              <a:rPr lang="en-US" sz="1400" dirty="0" err="1"/>
              <a:t>sparsication</a:t>
            </a:r>
            <a:endParaRPr lang="en-US" sz="1300" dirty="0"/>
          </a:p>
          <a:p>
            <a:pPr marL="342900" lvl="1">
              <a:spcAft>
                <a:spcPts val="200"/>
              </a:spcAft>
              <a:buSzPct val="100000"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Methods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After-Training Pruning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91640"/>
            <a:ext cx="7863840" cy="4617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  <a:buSzPct val="100000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train a fully dense model to convergence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zero out weights below a magnitude threshold (per-layer)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fine-tune the survivors to recover accuracy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implement, universally applicable, produces well-validated baselines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 smtClean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full dense training run upfront — defeats memory savings on the MCU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Methods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00" b="1" dirty="0" smtClean="0">
              <a:solidFill>
                <a:srgbClr val="1F29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600" b="1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</a:t>
            </a: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</a:t>
            </a:r>
            <a:r>
              <a:rPr lang="en-US" sz="2600" b="1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During-Training </a:t>
            </a: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91640"/>
            <a:ext cx="7863840" cy="4617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  <a:buSzPct val="100000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train a fully dense model </a:t>
            </a: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some iterations before </a:t>
            </a:r>
            <a:r>
              <a:rPr lang="en-US" sz="1400" dirty="0" err="1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sparsification</a:t>
            </a: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starts. </a:t>
            </a:r>
            <a:endParaRPr lang="en-US" sz="1500" dirty="0"/>
          </a:p>
          <a:p>
            <a:pPr marL="342900" lvl="1">
              <a:spcAft>
                <a:spcPts val="200"/>
              </a:spcAft>
              <a:buSzPct val="100000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Reaps potential performance.</a:t>
            </a:r>
          </a:p>
          <a:p>
            <a:pPr marL="342900" lvl="1">
              <a:spcAft>
                <a:spcPts val="200"/>
              </a:spcAft>
              <a:buSzPct val="100000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 smtClean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500" dirty="0" smtClean="0"/>
              <a:t>Could lead to less efficient convergence. </a:t>
            </a:r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500" dirty="0" smtClean="0"/>
              <a:t>Needs to hold the dense model in the memory at the beginning.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178355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Methods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00" b="1" dirty="0" smtClean="0">
              <a:solidFill>
                <a:srgbClr val="1F29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600" b="1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</a:t>
            </a: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600" b="1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2600" b="1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Training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91640"/>
            <a:ext cx="7863840" cy="4617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  <a:buSzPct val="100000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sparse model and train in the sparse regime</a:t>
            </a:r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remove and add elements during the training process</a:t>
            </a:r>
            <a:endParaRPr lang="en-US" sz="1500" dirty="0"/>
          </a:p>
          <a:p>
            <a:pPr marL="342900" lvl="1">
              <a:spcAft>
                <a:spcPts val="200"/>
              </a:spcAft>
              <a:buSzPct val="100000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train very high-dimensional model</a:t>
            </a:r>
          </a:p>
          <a:p>
            <a:pPr marL="342900" lvl="1">
              <a:spcAft>
                <a:spcPts val="200"/>
              </a:spcAft>
              <a:buSzPct val="100000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 smtClean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</a:t>
            </a:r>
            <a:endParaRPr lang="en-US" sz="1500" dirty="0" smtClean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99960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Methods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</a:t>
            </a:r>
            <a:r>
              <a:rPr lang="en-US" sz="2600" b="1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—Sparse Training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783080"/>
            <a:ext cx="2697480" cy="4114800"/>
          </a:xfrm>
          <a:prstGeom prst="rect">
            <a:avLst/>
          </a:prstGeom>
          <a:solidFill>
            <a:srgbClr val="FBF6E5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783080"/>
            <a:ext cx="2697480" cy="41148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7830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</a:t>
            </a:r>
            <a:r>
              <a:rPr lang="en-US" sz="13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286000"/>
            <a:ext cx="2423160" cy="3520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combines </a:t>
            </a:r>
            <a:r>
              <a:rPr lang="en-US" sz="1000" dirty="0"/>
              <a:t>pruning and regrowth of elements during the training </a:t>
            </a:r>
            <a:r>
              <a:rPr lang="en-US" sz="1000" dirty="0" smtClean="0"/>
              <a:t>process.</a:t>
            </a:r>
          </a:p>
          <a:p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Examples:</a:t>
            </a:r>
          </a:p>
          <a:p>
            <a:pPr marL="285750" indent="-285750">
              <a:buFont typeface="+mj-lt"/>
              <a:buAutoNum type="romanUcPeriod"/>
            </a:pPr>
            <a:r>
              <a:rPr lang="en-US" sz="1000" dirty="0" err="1" smtClean="0"/>
              <a:t>RigL</a:t>
            </a:r>
            <a:endParaRPr lang="en-US" sz="1000" dirty="0" smtClean="0"/>
          </a:p>
          <a:p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Drop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smallest |w|</a:t>
            </a:r>
            <a:endParaRPr lang="en-US" sz="1000" dirty="0"/>
          </a:p>
          <a:p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Grow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largest |∂L/∂w|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Fixed parameter count throughout training</a:t>
            </a:r>
            <a:endParaRPr lang="en-US" sz="1000" dirty="0"/>
          </a:p>
          <a:p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Matches dense ResNet-50 at 80 % </a:t>
            </a:r>
            <a:r>
              <a:rPr lang="en-US" sz="10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000" dirty="0"/>
          </a:p>
          <a:p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ERK distribution allocates capacity </a:t>
            </a:r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smartly</a:t>
            </a:r>
            <a:endParaRPr lang="en-US" sz="1000" dirty="0"/>
          </a:p>
          <a:p>
            <a:r>
              <a:rPr lang="en-US" sz="1000" dirty="0" smtClean="0"/>
              <a:t> </a:t>
            </a:r>
          </a:p>
          <a:p>
            <a:pPr marL="285750" indent="-285750">
              <a:buAutoNum type="romanUcPeriod" startAt="2"/>
            </a:pPr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</a:p>
          <a:p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Drop: smallest magnitudes</a:t>
            </a:r>
            <a:endParaRPr lang="en-US" sz="1000" dirty="0" smtClean="0"/>
          </a:p>
          <a:p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Grow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random </a:t>
            </a:r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regrowth</a:t>
            </a:r>
          </a:p>
          <a:p>
            <a:endParaRPr lang="en-US" sz="1000" dirty="0" smtClean="0"/>
          </a:p>
          <a:p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viable dynamic sparse method</a:t>
            </a:r>
            <a:endParaRPr lang="en-US" sz="1000" dirty="0"/>
          </a:p>
          <a:p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converges to power-law </a:t>
            </a:r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via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preferential attachment</a:t>
            </a:r>
            <a:endParaRPr lang="en-US" sz="1000" dirty="0"/>
          </a:p>
          <a:p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regrowth wastes early-training signal</a:t>
            </a:r>
            <a:endParaRPr lang="en-US" sz="1000" dirty="0"/>
          </a:p>
          <a:p>
            <a:endParaRPr lang="en-US" sz="1000" dirty="0" smtClean="0"/>
          </a:p>
          <a:p>
            <a:pPr marL="285750" indent="-285750">
              <a:buFont typeface="+mj-lt"/>
              <a:buAutoNum type="romanUcPeriod"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73552" y="1783080"/>
            <a:ext cx="2697480" cy="4114800"/>
          </a:xfrm>
          <a:prstGeom prst="rect">
            <a:avLst/>
          </a:prstGeom>
          <a:solidFill>
            <a:srgbClr val="FBF6E5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1783080"/>
            <a:ext cx="2697480" cy="411480"/>
          </a:xfrm>
          <a:prstGeom prst="rect">
            <a:avLst/>
          </a:prstGeom>
          <a:solidFill>
            <a:srgbClr val="C97B2D"/>
          </a:solidFill>
          <a:ln w="12700">
            <a:solidFill>
              <a:srgbClr val="C97B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7830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</a:t>
            </a:r>
            <a:r>
              <a:rPr lang="en-US" sz="13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10712" y="2286000"/>
            <a:ext cx="2423160" cy="3520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endParaRPr lang="en-US" sz="1000" dirty="0">
              <a:solidFill>
                <a:srgbClr val="1F29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prunes once before the training starts and does not update the </a:t>
            </a:r>
            <a:r>
              <a:rPr lang="en-US" sz="1000" dirty="0" smtClean="0"/>
              <a:t>model structure </a:t>
            </a:r>
            <a:r>
              <a:rPr lang="en-US" sz="1000" dirty="0"/>
              <a:t>during training</a:t>
            </a:r>
            <a:r>
              <a:rPr lang="en-US" sz="1000" dirty="0" smtClean="0"/>
              <a:t>.</a:t>
            </a:r>
          </a:p>
          <a:p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Examples:</a:t>
            </a:r>
          </a:p>
          <a:p>
            <a:pPr marL="285750" indent="-285750">
              <a:buFont typeface="+mj-lt"/>
              <a:buAutoNum type="romanUcPeriod"/>
            </a:pPr>
            <a:r>
              <a:rPr lang="en-US" sz="1000" dirty="0" smtClean="0"/>
              <a:t>Structured </a:t>
            </a:r>
            <a:r>
              <a:rPr lang="en-US" sz="1000" dirty="0" err="1" smtClean="0"/>
              <a:t>sparsity</a:t>
            </a:r>
            <a:r>
              <a:rPr lang="en-US" sz="1000" dirty="0" smtClean="0"/>
              <a:t> for transformer where </a:t>
            </a:r>
            <a:r>
              <a:rPr lang="en-US" sz="1000" dirty="0" err="1" smtClean="0"/>
              <a:t>sparsity</a:t>
            </a:r>
            <a:r>
              <a:rPr lang="en-US" sz="1000" dirty="0" smtClean="0"/>
              <a:t> determined in a pre-training phase</a:t>
            </a:r>
          </a:p>
          <a:p>
            <a:pPr marL="285750" indent="-285750">
              <a:buFont typeface="+mj-lt"/>
              <a:buAutoNum type="romanUcPeriod"/>
            </a:pPr>
            <a:r>
              <a:rPr lang="en-US" sz="1000" dirty="0" smtClean="0"/>
              <a:t>SNIP’s single shot network pruning approach.</a:t>
            </a:r>
          </a:p>
          <a:p>
            <a:pPr marL="285750" indent="-285750">
              <a:buFont typeface="+mj-lt"/>
              <a:buAutoNum type="romanUcPeriod"/>
            </a:pPr>
            <a:r>
              <a:rPr lang="en-US" sz="1000" dirty="0" smtClean="0"/>
              <a:t>ESPN</a:t>
            </a:r>
          </a:p>
          <a:p>
            <a:pPr marL="285750" indent="-285750">
              <a:buFont typeface="+mj-lt"/>
              <a:buAutoNum type="romanUcPeriod"/>
            </a:pPr>
            <a:r>
              <a:rPr lang="en-US" sz="1000" dirty="0" err="1" smtClean="0"/>
              <a:t>GraSP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Selection Criteria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Pruning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91640"/>
            <a:ext cx="7863840" cy="4617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weights by absolute value, drop the smallest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weights with the smallest absolute magnitude.</a:t>
            </a:r>
            <a:endParaRPr lang="en-US" sz="1500" dirty="0"/>
          </a:p>
          <a:p>
            <a:pPr marL="342900" lvl="1">
              <a:spcAft>
                <a:spcPts val="200"/>
              </a:spcAft>
              <a:buSzPct val="100000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the practical default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hyperparameters beyond the sparsity ratio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forward / backward passes — read magnitudes that already </a:t>
            </a: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</a:t>
            </a:r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applied to either structured or unstructured pruning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variants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Kusupati et al. (2020): make per-layer thresholds learnable via soft </a:t>
            </a:r>
            <a:r>
              <a:rPr lang="en-US" sz="1400" dirty="0" err="1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</a:t>
            </a:r>
            <a:endParaRPr lang="en-US" sz="1400" dirty="0" smtClean="0">
              <a:solidFill>
                <a:srgbClr val="1F29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</a:t>
            </a:r>
            <a:r>
              <a:rPr lang="en-US" sz="1400" dirty="0" smtClean="0"/>
              <a:t>replace </a:t>
            </a:r>
            <a:r>
              <a:rPr lang="en-US" sz="1400" dirty="0"/>
              <a:t>the original weights w with </a:t>
            </a:r>
            <a:r>
              <a:rPr lang="en-US" sz="1400" dirty="0" err="1" smtClean="0"/>
              <a:t>thresholded</a:t>
            </a:r>
            <a:r>
              <a:rPr lang="en-US" sz="1400" dirty="0"/>
              <a:t> </a:t>
            </a:r>
            <a:r>
              <a:rPr lang="en-US" sz="1400" dirty="0" smtClean="0"/>
              <a:t>weights </a:t>
            </a:r>
            <a:r>
              <a:rPr lang="en-US" sz="1400" dirty="0"/>
              <a:t>w0 = </a:t>
            </a:r>
            <a:r>
              <a:rPr lang="en-US" sz="1400" dirty="0" err="1"/>
              <a:t>sgn</a:t>
            </a:r>
            <a:r>
              <a:rPr lang="en-US" sz="1400" dirty="0"/>
              <a:t>(w)  </a:t>
            </a:r>
            <a:r>
              <a:rPr lang="en-US" sz="1400" dirty="0" err="1"/>
              <a:t>ReLU</a:t>
            </a:r>
            <a:r>
              <a:rPr lang="en-US" sz="1400" dirty="0"/>
              <a:t>(</a:t>
            </a:r>
            <a:r>
              <a:rPr lang="en-US" sz="1400" dirty="0" err="1"/>
              <a:t>jwj</a:t>
            </a:r>
            <a:r>
              <a:rPr lang="en-US" sz="1400" dirty="0"/>
              <a:t> 􀀀 l), </a:t>
            </a:r>
            <a:r>
              <a:rPr lang="en-US" sz="1400" dirty="0" smtClean="0"/>
              <a:t>where                     	l is </a:t>
            </a:r>
            <a:r>
              <a:rPr lang="en-US" sz="1400" dirty="0"/>
              <a:t>a learnable pruning threshold </a:t>
            </a:r>
            <a:r>
              <a:rPr lang="en-US" sz="1400" dirty="0" smtClean="0"/>
              <a:t>per layer</a:t>
            </a:r>
            <a:r>
              <a:rPr lang="en-US" sz="1400" dirty="0"/>
              <a:t>.</a:t>
            </a:r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Bellec et al. (2018): if an SGD step would flip the sign of w, fix it at zero</a:t>
            </a:r>
            <a:endParaRPr lang="en-US" sz="1500" dirty="0"/>
          </a:p>
          <a:p>
            <a:pPr marL="342900" lvl="1">
              <a:spcAft>
                <a:spcPts val="200"/>
              </a:spcAft>
              <a:buSzPct val="100000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uses magnitude as its drop criterion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Selection Criteria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Sensitivity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91640"/>
            <a:ext cx="7863840" cy="4617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the loss change from removing weight w by the linear term</a:t>
            </a:r>
            <a:endParaRPr lang="en-US" sz="1500" dirty="0"/>
          </a:p>
          <a:p>
            <a:r>
              <a:rPr lang="pl-PL" sz="1400" dirty="0"/>
              <a:t>L = L(w + w) 􀀀 L(w)  rwLw </a:t>
            </a:r>
            <a:r>
              <a:rPr lang="pl-PL" sz="1400" dirty="0" smtClean="0"/>
              <a:t>+</a:t>
            </a:r>
            <a:r>
              <a:rPr lang="en-US" sz="1400" dirty="0" smtClean="0"/>
              <a:t>12w&gt;H </a:t>
            </a:r>
            <a:r>
              <a:rPr lang="en-US" sz="1400" dirty="0"/>
              <a:t>w;</a:t>
            </a:r>
          </a:p>
          <a:p>
            <a:pPr marL="342900" lvl="1">
              <a:spcAft>
                <a:spcPts val="200"/>
              </a:spcAft>
              <a:buSzPct val="100000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 (Lee et al., 2019) is the modern incarnation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I_w on a single mini-batch at initialization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top-k by score across the entire network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limitations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one extra backward pass — much cheaper than Hessian methods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sensitivity that pure magnitude misses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curvature → underestimates correlated weight removals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uses first-order (gradient) information for the GROW step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currently-zero weights with the largest |∂L/∂w|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Selection Criteria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Regularization-Based Selection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91640"/>
            <a:ext cx="7863840" cy="4617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regularization — directly penalize the count of non-zero weights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Louizos et al. (2018): </a:t>
            </a: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differentiable non-negative stochastic gating variables to determine which weights set to zero</a:t>
            </a:r>
            <a:endParaRPr lang="en-US" sz="1500" dirty="0"/>
          </a:p>
          <a:p>
            <a:pPr>
              <a:spcAft>
                <a:spcPts val="600"/>
              </a:spcAft>
              <a:buSzPct val="100000"/>
            </a:pPr>
            <a:endParaRPr lang="en-US" sz="1500" dirty="0"/>
          </a:p>
          <a:p>
            <a:pPr>
              <a:spcAft>
                <a:spcPts val="600"/>
              </a:spcAft>
              <a:buSzPct val="100000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</a:t>
            </a:r>
            <a:r>
              <a:rPr lang="en-US" sz="14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introduce additional local minima-</a:t>
            </a:r>
            <a:r>
              <a:rPr lang="en-US" sz="1400" dirty="0" smtClean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optimization landscape harder to navigate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parameters during training is incompatible with on-device training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Dynamic Sparse Training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— How It Works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91640"/>
            <a:ext cx="7863840" cy="4617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target sparsity S; allocate per-layer density via Erdős–Rényi-Kernel (ERK)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 density ∝ (n_in + n_out + k_h·k_w) / (n_in · n_out · k_h · k_w)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layers get more density; large middle layers get less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step every ΔT iterations (until step T_end)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DROP: zero the |W|·f_t smallest-magnitude active weights (cosine-decayed fraction f_t)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GROW: activate the same number of currently-zero weights with the largest |∂L/∂w|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RESET: new weights start at zero with fresh optimizer state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step T_end the mask is frozen and training continues to convergence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property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 count stays constant — no extra dense memory needed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◦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gradients are computed layer-by-layer at update steps only, then discarded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Why RigL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RigL — Five Reasons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502920" cy="4572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6916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8562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17830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memory budget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0756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 is constant — fits the MCU's hard SRAM ceiling (320 KB on F746ZG).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6060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706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26974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in its class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29900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reports RigL with ERK matches dense ResNet-50 at 80 % sparsity — beats SET, static methods, and iterative magnitude pruning at the same FLOP budget.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5204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850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85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3611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FQT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9044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and grow only need magnitudes and gradients we already compute. No second-order matrices, no shadow regularizer parameters.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4348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994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99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88720" y="4526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tunable knob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48188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target sparsity S — everything else (drop fraction schedule, ERK distribution) is well-validated by Evci et al.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53492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5138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513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188720" y="5440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research baseline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88720" y="57332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dynamic-sparsity baseline across vision and language; reproductions are plentiful and the algorithm is stable.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</a:t>
            </a:r>
            <a:r>
              <a:rPr lang="en-US" sz="1800" b="1" dirty="0" smtClean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VI- Next To DO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6916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8562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17830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Focusing on: 1-On-device training of FQT </a:t>
            </a:r>
          </a:p>
          <a:p>
            <a:r>
              <a:rPr lang="en-US" sz="1400" dirty="0" smtClean="0"/>
              <a:t>                        </a:t>
            </a: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2-RigL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26060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706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26974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algorithms and the procedure of </a:t>
            </a:r>
            <a:r>
              <a:rPr lang="en-US" sz="1400" b="1" dirty="0" err="1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implemntations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35204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850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85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3611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get familiar with code on the </a:t>
            </a:r>
            <a:r>
              <a:rPr lang="en-US" sz="1400" b="1" dirty="0" err="1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9044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4348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994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99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88720" y="4526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Implementations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48188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5513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16054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VI- Review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6916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8562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17830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0756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6060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  <p:txBody>
          <a:bodyPr/>
          <a:lstStyle/>
          <a:p>
            <a:r>
              <a:rPr lang="en-US" dirty="0"/>
              <a:t>	</a:t>
            </a:r>
          </a:p>
        </p:txBody>
      </p:sp>
      <p:sp>
        <p:nvSpPr>
          <p:cNvPr id="20" name="Shape 18"/>
          <p:cNvSpPr/>
          <p:nvPr/>
        </p:nvSpPr>
        <p:spPr>
          <a:xfrm>
            <a:off x="502920" y="27706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26974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29900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5204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850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85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3611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9044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4348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994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99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88720" y="4526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48188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53492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5138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513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188720" y="5440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88720" y="57332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87876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1306</Words>
  <Application>Microsoft Office PowerPoint</Application>
  <PresentationFormat>On-screen Show (4:3)</PresentationFormat>
  <Paragraphs>327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Sparsity Methods Survey &amp; Why RigL</dc:title>
  <dc:subject>PptxGenJS Presentation</dc:subject>
  <dc:creator>Mohamed</dc:creator>
  <cp:lastModifiedBy>Mohamed Atef</cp:lastModifiedBy>
  <cp:revision>29</cp:revision>
  <dcterms:created xsi:type="dcterms:W3CDTF">2026-05-04T14:22:25Z</dcterms:created>
  <dcterms:modified xsi:type="dcterms:W3CDTF">2026-05-07T11:17:55Z</dcterms:modified>
</cp:coreProperties>
</file>