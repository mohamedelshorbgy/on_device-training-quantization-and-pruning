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0"/>
            <a:ext cx="12191695" cy="36576"/>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7315200" cy="365760"/>
          </a:xfrm>
          <a:prstGeom prst="rect">
            <a:avLst/>
          </a:prstGeom>
          <a:noFill/>
        </p:spPr>
        <p:txBody>
          <a:bodyPr wrap="square" lIns="45720" rIns="45720" tIns="18288" bIns="18288" anchor="t">
            <a:spAutoFit/>
          </a:bodyPr>
          <a:lstStyle/>
          <a:p>
            <a:pPr algn="l">
              <a:lnSpc>
                <a:spcPct val="115000"/>
              </a:lnSpc>
            </a:pPr>
            <a:r>
              <a:rPr sz="1200" b="1" i="0">
                <a:solidFill>
                  <a:srgbClr val="E84A1B"/>
                </a:solidFill>
                <a:latin typeface="Calibri"/>
              </a:rPr>
              <a:t>MASTER'S THESIS  ·  REVISED SCOPE  ·  PURE C</a:t>
            </a:r>
          </a:p>
        </p:txBody>
      </p:sp>
      <p:sp>
        <p:nvSpPr>
          <p:cNvPr id="5" name="TextBox 4"/>
          <p:cNvSpPr txBox="1"/>
          <p:nvPr/>
        </p:nvSpPr>
        <p:spPr>
          <a:xfrm>
            <a:off x="731520" y="914400"/>
            <a:ext cx="10972800" cy="1097280"/>
          </a:xfrm>
          <a:prstGeom prst="rect">
            <a:avLst/>
          </a:prstGeom>
          <a:noFill/>
        </p:spPr>
        <p:txBody>
          <a:bodyPr wrap="square" lIns="45720" rIns="45720" tIns="18288" bIns="18288" anchor="t">
            <a:spAutoFit/>
          </a:bodyPr>
          <a:lstStyle/>
          <a:p>
            <a:pPr algn="l">
              <a:lnSpc>
                <a:spcPct val="115000"/>
              </a:lnSpc>
            </a:pPr>
            <a:r>
              <a:rPr sz="4400" b="1" i="0">
                <a:solidFill>
                  <a:srgbClr val="FFFFFF"/>
                </a:solidFill>
                <a:latin typeface="Calibri"/>
              </a:rPr>
              <a:t>Fully Quantized Training meets RigL</a:t>
            </a:r>
          </a:p>
        </p:txBody>
      </p:sp>
      <p:sp>
        <p:nvSpPr>
          <p:cNvPr id="6" name="TextBox 5"/>
          <p:cNvSpPr txBox="1"/>
          <p:nvPr/>
        </p:nvSpPr>
        <p:spPr>
          <a:xfrm>
            <a:off x="731520" y="2331720"/>
            <a:ext cx="10972800" cy="548640"/>
          </a:xfrm>
          <a:prstGeom prst="rect">
            <a:avLst/>
          </a:prstGeom>
          <a:noFill/>
        </p:spPr>
        <p:txBody>
          <a:bodyPr wrap="square" lIns="45720" rIns="45720" tIns="18288" bIns="18288" anchor="t">
            <a:spAutoFit/>
          </a:bodyPr>
          <a:lstStyle/>
          <a:p>
            <a:pPr algn="l">
              <a:lnSpc>
                <a:spcPct val="115000"/>
              </a:lnSpc>
            </a:pPr>
            <a:r>
              <a:rPr sz="1800" b="0" i="1">
                <a:solidFill>
                  <a:srgbClr val="FFFFFF"/>
                </a:solidFill>
                <a:latin typeface="Calibri"/>
              </a:rPr>
              <a:t>Sparse-from-scratch int8 training on a Cortex-M7 — implemented in pure C</a:t>
            </a:r>
          </a:p>
        </p:txBody>
      </p:sp>
      <p:sp>
        <p:nvSpPr>
          <p:cNvPr id="7" name="TextBox 6"/>
          <p:cNvSpPr txBox="1"/>
          <p:nvPr/>
        </p:nvSpPr>
        <p:spPr>
          <a:xfrm>
            <a:off x="731520" y="3657600"/>
            <a:ext cx="3200400" cy="822960"/>
          </a:xfrm>
          <a:prstGeom prst="rect">
            <a:avLst/>
          </a:prstGeom>
          <a:noFill/>
        </p:spPr>
        <p:txBody>
          <a:bodyPr wrap="square" lIns="45720" rIns="45720" tIns="18288" bIns="18288" anchor="t">
            <a:spAutoFit/>
          </a:bodyPr>
          <a:lstStyle/>
          <a:p>
            <a:pPr algn="l">
              <a:lnSpc>
                <a:spcPct val="115000"/>
              </a:lnSpc>
            </a:pPr>
            <a:r>
              <a:rPr sz="4200" b="1" i="0">
                <a:solidFill>
                  <a:srgbClr val="E84A1B"/>
                </a:solidFill>
                <a:latin typeface="Calibri"/>
              </a:rPr>
              <a:t>11</a:t>
            </a:r>
          </a:p>
        </p:txBody>
      </p:sp>
      <p:sp>
        <p:nvSpPr>
          <p:cNvPr id="8" name="TextBox 7"/>
          <p:cNvSpPr txBox="1"/>
          <p:nvPr/>
        </p:nvSpPr>
        <p:spPr>
          <a:xfrm>
            <a:off x="731520" y="4526280"/>
            <a:ext cx="3200400" cy="457200"/>
          </a:xfrm>
          <a:prstGeom prst="rect">
            <a:avLst/>
          </a:prstGeom>
          <a:noFill/>
        </p:spPr>
        <p:txBody>
          <a:bodyPr wrap="square" lIns="45720" rIns="45720" tIns="18288" bIns="18288" anchor="t">
            <a:spAutoFit/>
          </a:bodyPr>
          <a:lstStyle/>
          <a:p>
            <a:pPr algn="l">
              <a:lnSpc>
                <a:spcPct val="115000"/>
              </a:lnSpc>
            </a:pPr>
            <a:r>
              <a:rPr sz="1200" b="0" i="0">
                <a:solidFill>
                  <a:srgbClr val="FFFFFF"/>
                </a:solidFill>
                <a:latin typeface="Calibri"/>
              </a:rPr>
              <a:t>milestones · C1 → C11</a:t>
            </a:r>
          </a:p>
        </p:txBody>
      </p:sp>
      <p:sp>
        <p:nvSpPr>
          <p:cNvPr id="9" name="TextBox 8"/>
          <p:cNvSpPr txBox="1"/>
          <p:nvPr/>
        </p:nvSpPr>
        <p:spPr>
          <a:xfrm>
            <a:off x="4480560" y="3657600"/>
            <a:ext cx="3200400" cy="822960"/>
          </a:xfrm>
          <a:prstGeom prst="rect">
            <a:avLst/>
          </a:prstGeom>
          <a:noFill/>
        </p:spPr>
        <p:txBody>
          <a:bodyPr wrap="square" lIns="45720" rIns="45720" tIns="18288" bIns="18288" anchor="t">
            <a:spAutoFit/>
          </a:bodyPr>
          <a:lstStyle/>
          <a:p>
            <a:pPr algn="l">
              <a:lnSpc>
                <a:spcPct val="115000"/>
              </a:lnSpc>
            </a:pPr>
            <a:r>
              <a:rPr sz="4200" b="1" i="0">
                <a:solidFill>
                  <a:srgbClr val="E84A1B"/>
                </a:solidFill>
                <a:latin typeface="Calibri"/>
              </a:rPr>
              <a:t>0</a:t>
            </a:r>
          </a:p>
        </p:txBody>
      </p:sp>
      <p:sp>
        <p:nvSpPr>
          <p:cNvPr id="10" name="TextBox 9"/>
          <p:cNvSpPr txBox="1"/>
          <p:nvPr/>
        </p:nvSpPr>
        <p:spPr>
          <a:xfrm>
            <a:off x="4480560" y="4526280"/>
            <a:ext cx="3200400" cy="457200"/>
          </a:xfrm>
          <a:prstGeom prst="rect">
            <a:avLst/>
          </a:prstGeom>
          <a:noFill/>
        </p:spPr>
        <p:txBody>
          <a:bodyPr wrap="square" lIns="45720" rIns="45720" tIns="18288" bIns="18288" anchor="t">
            <a:spAutoFit/>
          </a:bodyPr>
          <a:lstStyle/>
          <a:p>
            <a:pPr algn="l">
              <a:lnSpc>
                <a:spcPct val="115000"/>
              </a:lnSpc>
            </a:pPr>
            <a:r>
              <a:rPr sz="1200" b="0" i="0">
                <a:solidFill>
                  <a:srgbClr val="FFFFFF"/>
                </a:solidFill>
                <a:latin typeface="Calibri"/>
              </a:rPr>
              <a:t>lines of Python</a:t>
            </a:r>
          </a:p>
        </p:txBody>
      </p:sp>
      <p:sp>
        <p:nvSpPr>
          <p:cNvPr id="11" name="TextBox 10"/>
          <p:cNvSpPr txBox="1"/>
          <p:nvPr/>
        </p:nvSpPr>
        <p:spPr>
          <a:xfrm>
            <a:off x="8229600" y="3657600"/>
            <a:ext cx="3200400" cy="822960"/>
          </a:xfrm>
          <a:prstGeom prst="rect">
            <a:avLst/>
          </a:prstGeom>
          <a:noFill/>
        </p:spPr>
        <p:txBody>
          <a:bodyPr wrap="square" lIns="45720" rIns="45720" tIns="18288" bIns="18288" anchor="t">
            <a:spAutoFit/>
          </a:bodyPr>
          <a:lstStyle/>
          <a:p>
            <a:pPr algn="l">
              <a:lnSpc>
                <a:spcPct val="115000"/>
              </a:lnSpc>
            </a:pPr>
            <a:r>
              <a:rPr sz="4200" b="1" i="0">
                <a:solidFill>
                  <a:srgbClr val="E84A1B"/>
                </a:solidFill>
                <a:latin typeface="Calibri"/>
              </a:rPr>
              <a:t>320 KB</a:t>
            </a:r>
          </a:p>
        </p:txBody>
      </p:sp>
      <p:sp>
        <p:nvSpPr>
          <p:cNvPr id="12" name="TextBox 11"/>
          <p:cNvSpPr txBox="1"/>
          <p:nvPr/>
        </p:nvSpPr>
        <p:spPr>
          <a:xfrm>
            <a:off x="8229600" y="4526280"/>
            <a:ext cx="3200400" cy="457200"/>
          </a:xfrm>
          <a:prstGeom prst="rect">
            <a:avLst/>
          </a:prstGeom>
          <a:noFill/>
        </p:spPr>
        <p:txBody>
          <a:bodyPr wrap="square" lIns="45720" rIns="45720" tIns="18288" bIns="18288" anchor="t">
            <a:spAutoFit/>
          </a:bodyPr>
          <a:lstStyle/>
          <a:p>
            <a:pPr algn="l">
              <a:lnSpc>
                <a:spcPct val="115000"/>
              </a:lnSpc>
            </a:pPr>
            <a:r>
              <a:rPr sz="1200" b="0" i="0">
                <a:solidFill>
                  <a:srgbClr val="FFFFFF"/>
                </a:solidFill>
                <a:latin typeface="Calibri"/>
              </a:rPr>
              <a:t>SRAM target · F746ZG</a:t>
            </a:r>
          </a:p>
        </p:txBody>
      </p:sp>
      <p:sp>
        <p:nvSpPr>
          <p:cNvPr id="13" name="TextBox 12"/>
          <p:cNvSpPr txBox="1"/>
          <p:nvPr/>
        </p:nvSpPr>
        <p:spPr>
          <a:xfrm>
            <a:off x="731520" y="6035040"/>
            <a:ext cx="10972800" cy="365760"/>
          </a:xfrm>
          <a:prstGeom prst="rect">
            <a:avLst/>
          </a:prstGeom>
          <a:noFill/>
        </p:spPr>
        <p:txBody>
          <a:bodyPr wrap="square" lIns="45720" rIns="45720" tIns="18288" bIns="18288" anchor="t">
            <a:spAutoFit/>
          </a:bodyPr>
          <a:lstStyle/>
          <a:p>
            <a:pPr algn="l">
              <a:lnSpc>
                <a:spcPct val="115000"/>
              </a:lnSpc>
            </a:pPr>
            <a:r>
              <a:rPr sz="1200" b="0" i="1">
                <a:solidFill>
                  <a:srgbClr val="FFFFFF"/>
                </a:solidFill>
                <a:latin typeface="Calibri"/>
              </a:rPr>
              <a:t>Mohamed Elshorbagy  ·  Universität Duisburg-Essen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SCOPE  ·  CHANGE NOTICE</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What changed from the original presentation</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Decision made 2026-05-19 — supersedes the Python prototype plan</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577840" cy="365760"/>
          </a:xfrm>
          <a:prstGeom prst="rect">
            <a:avLst/>
          </a:prstGeom>
          <a:noFill/>
        </p:spPr>
        <p:txBody>
          <a:bodyPr wrap="square" lIns="45720" rIns="45720" tIns="18288" bIns="18288" anchor="t">
            <a:spAutoFit/>
          </a:bodyPr>
          <a:lstStyle/>
          <a:p>
            <a:pPr algn="l">
              <a:lnSpc>
                <a:spcPct val="115000"/>
              </a:lnSpc>
            </a:pPr>
            <a:r>
              <a:rPr sz="1500" b="1" i="0">
                <a:solidFill>
                  <a:srgbClr val="555B6C"/>
                </a:solidFill>
                <a:latin typeface="Calibri"/>
              </a:rPr>
              <a:t>What the original deck said</a:t>
            </a:r>
          </a:p>
        </p:txBody>
      </p:sp>
      <p:sp>
        <p:nvSpPr>
          <p:cNvPr id="8" name="TextBox 7"/>
          <p:cNvSpPr txBox="1"/>
          <p:nvPr/>
        </p:nvSpPr>
        <p:spPr>
          <a:xfrm>
            <a:off x="457200" y="2377440"/>
            <a:ext cx="5577840" cy="3291840"/>
          </a:xfrm>
          <a:prstGeom prst="rect">
            <a:avLst/>
          </a:prstGeom>
          <a:noFill/>
        </p:spPr>
        <p:txBody>
          <a:bodyPr wrap="square" lIns="45720" rIns="45720" tIns="18288" bIns="18288" anchor="t">
            <a:spAutoFit/>
          </a:bodyPr>
          <a:lstStyle/>
          <a:p>
            <a:pPr algn="l">
              <a:lnSpc>
                <a:spcPct val="135000"/>
              </a:lnSpc>
            </a:pPr>
            <a:r>
              <a:rPr sz="1250" b="0" i="0">
                <a:solidFill>
                  <a:srgbClr val="21295C"/>
                </a:solidFill>
                <a:latin typeface="Calibri"/>
              </a:rPr>
              <a:t>•  Stage A — Python prototype in PyTorch (slides 15–23)</a:t>
            </a:r>
          </a:p>
          <a:p>
            <a:pPr algn="l">
              <a:lnSpc>
                <a:spcPct val="135000"/>
              </a:lnSpc>
            </a:pPr>
            <a:r>
              <a:rPr sz="1250" b="0" i="0">
                <a:solidFill>
                  <a:srgbClr val="21295C"/>
                </a:solidFill>
                <a:latin typeface="Calibri"/>
              </a:rPr>
              <a:t>•  Stage B — C port to F746ZG (slides 24–31)</a:t>
            </a:r>
          </a:p>
          <a:p>
            <a:pPr algn="l">
              <a:lnSpc>
                <a:spcPct val="135000"/>
              </a:lnSpc>
            </a:pPr>
            <a:r>
              <a:rPr sz="1250" b="0" i="0">
                <a:solidFill>
                  <a:srgbClr val="21295C"/>
                </a:solidFill>
                <a:latin typeface="Calibri"/>
              </a:rPr>
              <a:t>•  M1–M11 build order: 7 Python milestones, 4 MCU milestones</a:t>
            </a:r>
          </a:p>
          <a:p>
            <a:pPr algn="l">
              <a:lnSpc>
                <a:spcPct val="135000"/>
              </a:lnSpc>
            </a:pPr>
            <a:r>
              <a:rPr sz="1250" b="0" i="0">
                <a:solidFill>
                  <a:srgbClr val="21295C"/>
                </a:solidFill>
                <a:latin typeface="Calibri"/>
              </a:rPr>
              <a:t>•  Four-condition comparison treated as the experimental backbone:</a:t>
            </a:r>
          </a:p>
          <a:p>
            <a:pPr algn="l">
              <a:lnSpc>
                <a:spcPct val="135000"/>
              </a:lnSpc>
            </a:pPr>
            <a:r>
              <a:rPr sz="1250" b="0" i="0">
                <a:solidFill>
                  <a:srgbClr val="21295C"/>
                </a:solidFill>
                <a:latin typeface="Calibri"/>
              </a:rPr>
              <a:t>      FP32 dense / FQT dense / FP32 + RigL / FQT + RigL</a:t>
            </a:r>
          </a:p>
          <a:p>
            <a:pPr algn="l">
              <a:lnSpc>
                <a:spcPct val="135000"/>
              </a:lnSpc>
            </a:pPr>
            <a:r>
              <a:rPr sz="1250" b="0" i="0">
                <a:solidFill>
                  <a:srgbClr val="21295C"/>
                </a:solidFill>
                <a:latin typeface="Calibri"/>
              </a:rPr>
              <a:t>•  PyTorch acted as the reference for bit-exact validation on the MCU</a:t>
            </a:r>
          </a:p>
        </p:txBody>
      </p:sp>
      <p:sp>
        <p:nvSpPr>
          <p:cNvPr id="9" name="TextBox 8"/>
          <p:cNvSpPr txBox="1"/>
          <p:nvPr/>
        </p:nvSpPr>
        <p:spPr>
          <a:xfrm>
            <a:off x="6263640" y="2011680"/>
            <a:ext cx="5577840" cy="365760"/>
          </a:xfrm>
          <a:prstGeom prst="rect">
            <a:avLst/>
          </a:prstGeom>
          <a:noFill/>
        </p:spPr>
        <p:txBody>
          <a:bodyPr wrap="square" lIns="45720" rIns="45720" tIns="18288" bIns="18288" anchor="t">
            <a:spAutoFit/>
          </a:bodyPr>
          <a:lstStyle/>
          <a:p>
            <a:pPr algn="l">
              <a:lnSpc>
                <a:spcPct val="115000"/>
              </a:lnSpc>
            </a:pPr>
            <a:r>
              <a:rPr sz="1500" b="1" i="0">
                <a:solidFill>
                  <a:srgbClr val="E84A1B"/>
                </a:solidFill>
                <a:latin typeface="Calibri"/>
              </a:rPr>
              <a:t>What the revised plan says</a:t>
            </a:r>
          </a:p>
        </p:txBody>
      </p:sp>
      <p:sp>
        <p:nvSpPr>
          <p:cNvPr id="10" name="TextBox 9"/>
          <p:cNvSpPr txBox="1"/>
          <p:nvPr/>
        </p:nvSpPr>
        <p:spPr>
          <a:xfrm>
            <a:off x="6263640" y="2377440"/>
            <a:ext cx="5577840" cy="3291840"/>
          </a:xfrm>
          <a:prstGeom prst="rect">
            <a:avLst/>
          </a:prstGeom>
          <a:noFill/>
        </p:spPr>
        <p:txBody>
          <a:bodyPr wrap="square" lIns="45720" rIns="45720" tIns="18288" bIns="18288" anchor="t">
            <a:spAutoFit/>
          </a:bodyPr>
          <a:lstStyle/>
          <a:p>
            <a:pPr algn="l">
              <a:lnSpc>
                <a:spcPct val="135000"/>
              </a:lnSpc>
            </a:pPr>
            <a:r>
              <a:rPr sz="1250" b="0" i="0">
                <a:solidFill>
                  <a:srgbClr val="21295C"/>
                </a:solidFill>
                <a:latin typeface="Calibri"/>
              </a:rPr>
              <a:t>•  Pure C from scratch — no PyTorch anywhere</a:t>
            </a:r>
          </a:p>
          <a:p>
            <a:pPr algn="l">
              <a:lnSpc>
                <a:spcPct val="135000"/>
              </a:lnSpc>
            </a:pPr>
            <a:r>
              <a:rPr sz="1250" b="0" i="0">
                <a:solidFill>
                  <a:srgbClr val="21295C"/>
                </a:solidFill>
                <a:latin typeface="Calibri"/>
              </a:rPr>
              <a:t>•  Stage A — host-PC C kernels and data pipeline (C1–C7)</a:t>
            </a:r>
          </a:p>
          <a:p>
            <a:pPr algn="l">
              <a:lnSpc>
                <a:spcPct val="135000"/>
              </a:lnSpc>
            </a:pPr>
            <a:r>
              <a:rPr sz="1250" b="0" i="0">
                <a:solidFill>
                  <a:srgbClr val="21295C"/>
                </a:solidFill>
                <a:latin typeface="Calibri"/>
              </a:rPr>
              <a:t>•  Stage B — MCU port to F746ZG (C8–C11)</a:t>
            </a:r>
          </a:p>
          <a:p>
            <a:pPr algn="l">
              <a:lnSpc>
                <a:spcPct val="135000"/>
              </a:lnSpc>
            </a:pPr>
            <a:r>
              <a:rPr sz="1250" b="0" i="0">
                <a:solidFill>
                  <a:srgbClr val="21295C"/>
                </a:solidFill>
                <a:latin typeface="Calibri"/>
              </a:rPr>
              <a:t>•  Four-condition comparison DROPPED — without an FP32 reference,</a:t>
            </a:r>
          </a:p>
          <a:p>
            <a:pPr algn="l">
              <a:lnSpc>
                <a:spcPct val="135000"/>
              </a:lnSpc>
            </a:pPr>
            <a:r>
              <a:rPr sz="1250" b="0" i="0">
                <a:solidFill>
                  <a:srgbClr val="21295C"/>
                </a:solidFill>
                <a:latin typeface="Calibri"/>
              </a:rPr>
              <a:t>      we report only on-device sparse-int8 results</a:t>
            </a:r>
          </a:p>
          <a:p>
            <a:pPr algn="l">
              <a:lnSpc>
                <a:spcPct val="135000"/>
              </a:lnSpc>
            </a:pPr>
            <a:r>
              <a:rPr sz="1250" b="0" i="0">
                <a:solidFill>
                  <a:srgbClr val="21295C"/>
                </a:solidFill>
                <a:latin typeface="Calibri"/>
              </a:rPr>
              <a:t>•  Validation strategy becomes hand-built golden tests at every kernel</a:t>
            </a:r>
          </a:p>
          <a:p>
            <a:pPr algn="l">
              <a:lnSpc>
                <a:spcPct val="135000"/>
              </a:lnSpc>
            </a:pPr>
            <a:r>
              <a:rPr sz="1250" b="0" i="0">
                <a:solidFill>
                  <a:srgbClr val="21295C"/>
                </a:solidFill>
                <a:latin typeface="Calibri"/>
              </a:rPr>
              <a:t>•  Deliverable: end-to-end FQT+RigL training run on the F746ZG</a:t>
            </a:r>
          </a:p>
        </p:txBody>
      </p:sp>
      <p:sp>
        <p:nvSpPr>
          <p:cNvPr id="11" name="Rectangle 10"/>
          <p:cNvSpPr/>
          <p:nvPr/>
        </p:nvSpPr>
        <p:spPr>
          <a:xfrm>
            <a:off x="457200" y="5486400"/>
            <a:ext cx="11247120" cy="640080"/>
          </a:xfrm>
          <a:prstGeom prst="rect">
            <a:avLst/>
          </a:prstGeom>
          <a:solidFill>
            <a:srgbClr val="F5F6FA"/>
          </a:solidFill>
          <a:ln w="9525">
            <a:solidFill>
              <a:srgbClr val="E84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504688"/>
            <a:ext cx="10972800" cy="640080"/>
          </a:xfrm>
          <a:prstGeom prst="rect">
            <a:avLst/>
          </a:prstGeom>
          <a:noFill/>
        </p:spPr>
        <p:txBody>
          <a:bodyPr wrap="square" lIns="45720" rIns="45720" tIns="18288" bIns="18288" anchor="ctr">
            <a:spAutoFit/>
          </a:bodyPr>
          <a:lstStyle/>
          <a:p>
            <a:pPr algn="l">
              <a:lnSpc>
                <a:spcPct val="115000"/>
              </a:lnSpc>
            </a:pPr>
            <a:r>
              <a:rPr sz="1250" b="0" i="1">
                <a:solidFill>
                  <a:srgbClr val="21295C"/>
                </a:solidFill>
                <a:latin typeface="Calibri"/>
              </a:rPr>
              <a:t>Tradeoff accepted:  weaker experimental comparison in exchange for a single-language codebase and direct path to the target hardware.</a:t>
            </a:r>
          </a:p>
        </p:txBody>
      </p:sp>
      <p:sp>
        <p:nvSpPr>
          <p:cNvPr id="13" name="TextBox 12"/>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4" name="TextBox 13"/>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ROADMAP  ·  REVISED</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Build order — C1 → C11</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Stage A: host PC validates the design.  Stage B: port to F746ZG.</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11680"/>
            <a:ext cx="557784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29968"/>
            <a:ext cx="5486400" cy="365760"/>
          </a:xfrm>
          <a:prstGeom prst="rect">
            <a:avLst/>
          </a:prstGeom>
          <a:noFill/>
        </p:spPr>
        <p:txBody>
          <a:bodyPr wrap="square" lIns="45720" rIns="45720" tIns="18288" bIns="18288" anchor="ctr">
            <a:spAutoFit/>
          </a:bodyPr>
          <a:lstStyle/>
          <a:p>
            <a:pPr algn="l">
              <a:lnSpc>
                <a:spcPct val="115000"/>
              </a:lnSpc>
            </a:pPr>
            <a:r>
              <a:rPr sz="1400" b="1" i="0">
                <a:solidFill>
                  <a:srgbClr val="FFFFFF"/>
                </a:solidFill>
                <a:latin typeface="Calibri"/>
              </a:rPr>
              <a:t>Stage A — Host PC  (C1 → C7)</a:t>
            </a:r>
          </a:p>
        </p:txBody>
      </p:sp>
      <p:sp>
        <p:nvSpPr>
          <p:cNvPr id="9" name="Rectangle 8"/>
          <p:cNvSpPr/>
          <p:nvPr/>
        </p:nvSpPr>
        <p:spPr>
          <a:xfrm>
            <a:off x="6172200" y="2011680"/>
            <a:ext cx="5577840" cy="38404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2029968"/>
            <a:ext cx="5486400" cy="365760"/>
          </a:xfrm>
          <a:prstGeom prst="rect">
            <a:avLst/>
          </a:prstGeom>
          <a:noFill/>
        </p:spPr>
        <p:txBody>
          <a:bodyPr wrap="square" lIns="45720" rIns="45720" tIns="18288" bIns="18288" anchor="ctr">
            <a:spAutoFit/>
          </a:bodyPr>
          <a:lstStyle/>
          <a:p>
            <a:pPr algn="l">
              <a:lnSpc>
                <a:spcPct val="115000"/>
              </a:lnSpc>
            </a:pPr>
            <a:r>
              <a:rPr sz="1400" b="1" i="0">
                <a:solidFill>
                  <a:srgbClr val="FFFFFF"/>
                </a:solidFill>
                <a:latin typeface="Calibri"/>
              </a:rPr>
              <a:t>Stage B — MCU F746ZG  (C8 → C11)</a:t>
            </a:r>
          </a:p>
        </p:txBody>
      </p:sp>
      <p:sp>
        <p:nvSpPr>
          <p:cNvPr id="11" name="Rectangle 10"/>
          <p:cNvSpPr/>
          <p:nvPr/>
        </p:nvSpPr>
        <p:spPr>
          <a:xfrm>
            <a:off x="457200" y="2514600"/>
            <a:ext cx="64008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514600"/>
            <a:ext cx="640080" cy="384048"/>
          </a:xfrm>
          <a:prstGeom prst="rect">
            <a:avLst/>
          </a:prstGeom>
          <a:noFill/>
        </p:spPr>
        <p:txBody>
          <a:bodyPr wrap="square" lIns="45720" rIns="45720" tIns="18288" bIns="18288" anchor="ctr">
            <a:spAutoFit/>
          </a:bodyPr>
          <a:lstStyle/>
          <a:p>
            <a:pPr algn="ctr">
              <a:lnSpc>
                <a:spcPct val="115000"/>
              </a:lnSpc>
            </a:pPr>
            <a:r>
              <a:rPr sz="1200" b="1" i="0">
                <a:solidFill>
                  <a:srgbClr val="FFFFFF"/>
                </a:solidFill>
                <a:latin typeface="Calibri"/>
              </a:rPr>
              <a:t>C1</a:t>
            </a:r>
          </a:p>
        </p:txBody>
      </p:sp>
      <p:sp>
        <p:nvSpPr>
          <p:cNvPr id="13" name="TextBox 12"/>
          <p:cNvSpPr txBox="1"/>
          <p:nvPr/>
        </p:nvSpPr>
        <p:spPr>
          <a:xfrm>
            <a:off x="1188720" y="2514600"/>
            <a:ext cx="4754880" cy="384048"/>
          </a:xfrm>
          <a:prstGeom prst="rect">
            <a:avLst/>
          </a:prstGeom>
          <a:noFill/>
        </p:spPr>
        <p:txBody>
          <a:bodyPr wrap="square" lIns="45720" rIns="45720" tIns="18288" bIns="18288" anchor="ctr">
            <a:spAutoFit/>
          </a:bodyPr>
          <a:lstStyle/>
          <a:p>
            <a:pPr algn="l">
              <a:lnSpc>
                <a:spcPct val="115000"/>
              </a:lnSpc>
            </a:pPr>
            <a:r>
              <a:rPr sz="1200" b="0" i="0">
                <a:solidFill>
                  <a:srgbClr val="21295C"/>
                </a:solidFill>
                <a:latin typeface="Calibri"/>
              </a:rPr>
              <a:t>Build system + golden int8 MAC test</a:t>
            </a:r>
          </a:p>
        </p:txBody>
      </p:sp>
      <p:sp>
        <p:nvSpPr>
          <p:cNvPr id="14" name="Rectangle 13"/>
          <p:cNvSpPr/>
          <p:nvPr/>
        </p:nvSpPr>
        <p:spPr>
          <a:xfrm>
            <a:off x="457200" y="2971800"/>
            <a:ext cx="64008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971800"/>
            <a:ext cx="640080" cy="384048"/>
          </a:xfrm>
          <a:prstGeom prst="rect">
            <a:avLst/>
          </a:prstGeom>
          <a:noFill/>
        </p:spPr>
        <p:txBody>
          <a:bodyPr wrap="square" lIns="45720" rIns="45720" tIns="18288" bIns="18288" anchor="ctr">
            <a:spAutoFit/>
          </a:bodyPr>
          <a:lstStyle/>
          <a:p>
            <a:pPr algn="ctr">
              <a:lnSpc>
                <a:spcPct val="115000"/>
              </a:lnSpc>
            </a:pPr>
            <a:r>
              <a:rPr sz="1200" b="1" i="0">
                <a:solidFill>
                  <a:srgbClr val="FFFFFF"/>
                </a:solidFill>
                <a:latin typeface="Calibri"/>
              </a:rPr>
              <a:t>C2</a:t>
            </a:r>
          </a:p>
        </p:txBody>
      </p:sp>
      <p:sp>
        <p:nvSpPr>
          <p:cNvPr id="16" name="TextBox 15"/>
          <p:cNvSpPr txBox="1"/>
          <p:nvPr/>
        </p:nvSpPr>
        <p:spPr>
          <a:xfrm>
            <a:off x="1188720" y="2971800"/>
            <a:ext cx="4754880" cy="384048"/>
          </a:xfrm>
          <a:prstGeom prst="rect">
            <a:avLst/>
          </a:prstGeom>
          <a:noFill/>
        </p:spPr>
        <p:txBody>
          <a:bodyPr wrap="square" lIns="45720" rIns="45720" tIns="18288" bIns="18288" anchor="ctr">
            <a:spAutoFit/>
          </a:bodyPr>
          <a:lstStyle/>
          <a:p>
            <a:pPr algn="l">
              <a:lnSpc>
                <a:spcPct val="115000"/>
              </a:lnSpc>
            </a:pPr>
            <a:r>
              <a:rPr sz="1200" b="0" i="0">
                <a:solidFill>
                  <a:srgbClr val="21295C"/>
                </a:solidFill>
                <a:latin typeface="Calibri"/>
              </a:rPr>
              <a:t>int8 Linear + Conv2d forward kernels</a:t>
            </a:r>
          </a:p>
        </p:txBody>
      </p:sp>
      <p:sp>
        <p:nvSpPr>
          <p:cNvPr id="17" name="Rectangle 16"/>
          <p:cNvSpPr/>
          <p:nvPr/>
        </p:nvSpPr>
        <p:spPr>
          <a:xfrm>
            <a:off x="457200" y="3429000"/>
            <a:ext cx="64008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429000"/>
            <a:ext cx="640080" cy="384048"/>
          </a:xfrm>
          <a:prstGeom prst="rect">
            <a:avLst/>
          </a:prstGeom>
          <a:noFill/>
        </p:spPr>
        <p:txBody>
          <a:bodyPr wrap="square" lIns="45720" rIns="45720" tIns="18288" bIns="18288" anchor="ctr">
            <a:spAutoFit/>
          </a:bodyPr>
          <a:lstStyle/>
          <a:p>
            <a:pPr algn="ctr">
              <a:lnSpc>
                <a:spcPct val="115000"/>
              </a:lnSpc>
            </a:pPr>
            <a:r>
              <a:rPr sz="1200" b="1" i="0">
                <a:solidFill>
                  <a:srgbClr val="FFFFFF"/>
                </a:solidFill>
                <a:latin typeface="Calibri"/>
              </a:rPr>
              <a:t>C3</a:t>
            </a:r>
          </a:p>
        </p:txBody>
      </p:sp>
      <p:sp>
        <p:nvSpPr>
          <p:cNvPr id="19" name="TextBox 18"/>
          <p:cNvSpPr txBox="1"/>
          <p:nvPr/>
        </p:nvSpPr>
        <p:spPr>
          <a:xfrm>
            <a:off x="1188720" y="3429000"/>
            <a:ext cx="4754880" cy="384048"/>
          </a:xfrm>
          <a:prstGeom prst="rect">
            <a:avLst/>
          </a:prstGeom>
          <a:noFill/>
        </p:spPr>
        <p:txBody>
          <a:bodyPr wrap="square" lIns="45720" rIns="45720" tIns="18288" bIns="18288" anchor="ctr">
            <a:spAutoFit/>
          </a:bodyPr>
          <a:lstStyle/>
          <a:p>
            <a:pPr algn="l">
              <a:lnSpc>
                <a:spcPct val="115000"/>
              </a:lnSpc>
            </a:pPr>
            <a:r>
              <a:rPr sz="1200" b="0" i="0">
                <a:solidFill>
                  <a:srgbClr val="21295C"/>
                </a:solidFill>
                <a:latin typeface="Calibri"/>
              </a:rPr>
              <a:t>int8 backward kernels (dW, dA)</a:t>
            </a:r>
          </a:p>
        </p:txBody>
      </p:sp>
      <p:sp>
        <p:nvSpPr>
          <p:cNvPr id="20" name="Rectangle 19"/>
          <p:cNvSpPr/>
          <p:nvPr/>
        </p:nvSpPr>
        <p:spPr>
          <a:xfrm>
            <a:off x="457200" y="3886200"/>
            <a:ext cx="64008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86200"/>
            <a:ext cx="640080" cy="384048"/>
          </a:xfrm>
          <a:prstGeom prst="rect">
            <a:avLst/>
          </a:prstGeom>
          <a:noFill/>
        </p:spPr>
        <p:txBody>
          <a:bodyPr wrap="square" lIns="45720" rIns="45720" tIns="18288" bIns="18288" anchor="ctr">
            <a:spAutoFit/>
          </a:bodyPr>
          <a:lstStyle/>
          <a:p>
            <a:pPr algn="ctr">
              <a:lnSpc>
                <a:spcPct val="115000"/>
              </a:lnSpc>
            </a:pPr>
            <a:r>
              <a:rPr sz="1200" b="1" i="0">
                <a:solidFill>
                  <a:srgbClr val="FFFFFF"/>
                </a:solidFill>
                <a:latin typeface="Calibri"/>
              </a:rPr>
              <a:t>C4</a:t>
            </a:r>
          </a:p>
        </p:txBody>
      </p:sp>
      <p:sp>
        <p:nvSpPr>
          <p:cNvPr id="22" name="TextBox 21"/>
          <p:cNvSpPr txBox="1"/>
          <p:nvPr/>
        </p:nvSpPr>
        <p:spPr>
          <a:xfrm>
            <a:off x="1188720" y="3886200"/>
            <a:ext cx="4754880" cy="384048"/>
          </a:xfrm>
          <a:prstGeom prst="rect">
            <a:avLst/>
          </a:prstGeom>
          <a:noFill/>
        </p:spPr>
        <p:txBody>
          <a:bodyPr wrap="square" lIns="45720" rIns="45720" tIns="18288" bIns="18288" anchor="ctr">
            <a:spAutoFit/>
          </a:bodyPr>
          <a:lstStyle/>
          <a:p>
            <a:pPr algn="l">
              <a:lnSpc>
                <a:spcPct val="115000"/>
              </a:lnSpc>
            </a:pPr>
            <a:r>
              <a:rPr sz="1200" b="0" i="0">
                <a:solidFill>
                  <a:srgbClr val="21295C"/>
                </a:solidFill>
                <a:latin typeface="Calibri"/>
              </a:rPr>
              <a:t>SGD with momentum + FQT partial update</a:t>
            </a:r>
          </a:p>
        </p:txBody>
      </p:sp>
      <p:sp>
        <p:nvSpPr>
          <p:cNvPr id="23" name="Rectangle 22"/>
          <p:cNvSpPr/>
          <p:nvPr/>
        </p:nvSpPr>
        <p:spPr>
          <a:xfrm>
            <a:off x="457200" y="4343400"/>
            <a:ext cx="64008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343400"/>
            <a:ext cx="640080" cy="384048"/>
          </a:xfrm>
          <a:prstGeom prst="rect">
            <a:avLst/>
          </a:prstGeom>
          <a:noFill/>
        </p:spPr>
        <p:txBody>
          <a:bodyPr wrap="square" lIns="45720" rIns="45720" tIns="18288" bIns="18288" anchor="ctr">
            <a:spAutoFit/>
          </a:bodyPr>
          <a:lstStyle/>
          <a:p>
            <a:pPr algn="ctr">
              <a:lnSpc>
                <a:spcPct val="115000"/>
              </a:lnSpc>
            </a:pPr>
            <a:r>
              <a:rPr sz="1200" b="1" i="0">
                <a:solidFill>
                  <a:srgbClr val="FFFFFF"/>
                </a:solidFill>
                <a:latin typeface="Calibri"/>
              </a:rPr>
              <a:t>C5</a:t>
            </a:r>
          </a:p>
        </p:txBody>
      </p:sp>
      <p:sp>
        <p:nvSpPr>
          <p:cNvPr id="25" name="TextBox 24"/>
          <p:cNvSpPr txBox="1"/>
          <p:nvPr/>
        </p:nvSpPr>
        <p:spPr>
          <a:xfrm>
            <a:off x="1188720" y="4343400"/>
            <a:ext cx="4754880" cy="384048"/>
          </a:xfrm>
          <a:prstGeom prst="rect">
            <a:avLst/>
          </a:prstGeom>
          <a:noFill/>
        </p:spPr>
        <p:txBody>
          <a:bodyPr wrap="square" lIns="45720" rIns="45720" tIns="18288" bIns="18288" anchor="ctr">
            <a:spAutoFit/>
          </a:bodyPr>
          <a:lstStyle/>
          <a:p>
            <a:pPr algn="l">
              <a:lnSpc>
                <a:spcPct val="115000"/>
              </a:lnSpc>
            </a:pPr>
            <a:r>
              <a:rPr sz="1200" b="0" i="0">
                <a:solidFill>
                  <a:srgbClr val="21295C"/>
                </a:solidFill>
                <a:latin typeface="Calibri"/>
              </a:rPr>
              <a:t>RigL mask manager (ER-K, prune-and-grow)</a:t>
            </a:r>
          </a:p>
        </p:txBody>
      </p:sp>
      <p:sp>
        <p:nvSpPr>
          <p:cNvPr id="26" name="Rectangle 25"/>
          <p:cNvSpPr/>
          <p:nvPr/>
        </p:nvSpPr>
        <p:spPr>
          <a:xfrm>
            <a:off x="457200" y="4800600"/>
            <a:ext cx="64008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800600"/>
            <a:ext cx="640080" cy="384048"/>
          </a:xfrm>
          <a:prstGeom prst="rect">
            <a:avLst/>
          </a:prstGeom>
          <a:noFill/>
        </p:spPr>
        <p:txBody>
          <a:bodyPr wrap="square" lIns="45720" rIns="45720" tIns="18288" bIns="18288" anchor="ctr">
            <a:spAutoFit/>
          </a:bodyPr>
          <a:lstStyle/>
          <a:p>
            <a:pPr algn="ctr">
              <a:lnSpc>
                <a:spcPct val="115000"/>
              </a:lnSpc>
            </a:pPr>
            <a:r>
              <a:rPr sz="1200" b="1" i="0">
                <a:solidFill>
                  <a:srgbClr val="FFFFFF"/>
                </a:solidFill>
                <a:latin typeface="Calibri"/>
              </a:rPr>
              <a:t>C6</a:t>
            </a:r>
          </a:p>
        </p:txBody>
      </p:sp>
      <p:sp>
        <p:nvSpPr>
          <p:cNvPr id="28" name="TextBox 27"/>
          <p:cNvSpPr txBox="1"/>
          <p:nvPr/>
        </p:nvSpPr>
        <p:spPr>
          <a:xfrm>
            <a:off x="1188720" y="4800600"/>
            <a:ext cx="4754880" cy="384048"/>
          </a:xfrm>
          <a:prstGeom prst="rect">
            <a:avLst/>
          </a:prstGeom>
          <a:noFill/>
        </p:spPr>
        <p:txBody>
          <a:bodyPr wrap="square" lIns="45720" rIns="45720" tIns="18288" bIns="18288" anchor="ctr">
            <a:spAutoFit/>
          </a:bodyPr>
          <a:lstStyle/>
          <a:p>
            <a:pPr algn="l">
              <a:lnSpc>
                <a:spcPct val="115000"/>
              </a:lnSpc>
            </a:pPr>
            <a:r>
              <a:rPr sz="1200" b="0" i="0">
                <a:solidFill>
                  <a:srgbClr val="21295C"/>
                </a:solidFill>
                <a:latin typeface="Calibri"/>
              </a:rPr>
              <a:t>MFCC + audio pipeline (host PC)</a:t>
            </a:r>
          </a:p>
        </p:txBody>
      </p:sp>
      <p:sp>
        <p:nvSpPr>
          <p:cNvPr id="29" name="Rectangle 28"/>
          <p:cNvSpPr/>
          <p:nvPr/>
        </p:nvSpPr>
        <p:spPr>
          <a:xfrm>
            <a:off x="457200" y="5257800"/>
            <a:ext cx="640080"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257800"/>
            <a:ext cx="640080" cy="384048"/>
          </a:xfrm>
          <a:prstGeom prst="rect">
            <a:avLst/>
          </a:prstGeom>
          <a:noFill/>
        </p:spPr>
        <p:txBody>
          <a:bodyPr wrap="square" lIns="45720" rIns="45720" tIns="18288" bIns="18288" anchor="ctr">
            <a:spAutoFit/>
          </a:bodyPr>
          <a:lstStyle/>
          <a:p>
            <a:pPr algn="ctr">
              <a:lnSpc>
                <a:spcPct val="115000"/>
              </a:lnSpc>
            </a:pPr>
            <a:r>
              <a:rPr sz="1200" b="1" i="0">
                <a:solidFill>
                  <a:srgbClr val="FFFFFF"/>
                </a:solidFill>
                <a:latin typeface="Calibri"/>
              </a:rPr>
              <a:t>C7</a:t>
            </a:r>
          </a:p>
        </p:txBody>
      </p:sp>
      <p:sp>
        <p:nvSpPr>
          <p:cNvPr id="31" name="TextBox 30"/>
          <p:cNvSpPr txBox="1"/>
          <p:nvPr/>
        </p:nvSpPr>
        <p:spPr>
          <a:xfrm>
            <a:off x="1188720" y="5257800"/>
            <a:ext cx="4754880" cy="384048"/>
          </a:xfrm>
          <a:prstGeom prst="rect">
            <a:avLst/>
          </a:prstGeom>
          <a:noFill/>
        </p:spPr>
        <p:txBody>
          <a:bodyPr wrap="square" lIns="45720" rIns="45720" tIns="18288" bIns="18288" anchor="ctr">
            <a:spAutoFit/>
          </a:bodyPr>
          <a:lstStyle/>
          <a:p>
            <a:pPr algn="l">
              <a:lnSpc>
                <a:spcPct val="115000"/>
              </a:lnSpc>
            </a:pPr>
            <a:r>
              <a:rPr sz="1200" b="0" i="0">
                <a:solidFill>
                  <a:srgbClr val="21295C"/>
                </a:solidFill>
                <a:latin typeface="Calibri"/>
              </a:rPr>
              <a:t>End-to-end training run on host C</a:t>
            </a:r>
          </a:p>
        </p:txBody>
      </p:sp>
      <p:sp>
        <p:nvSpPr>
          <p:cNvPr id="32" name="Rectangle 31"/>
          <p:cNvSpPr/>
          <p:nvPr/>
        </p:nvSpPr>
        <p:spPr>
          <a:xfrm>
            <a:off x="6172200" y="2514600"/>
            <a:ext cx="640080" cy="38404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72200" y="2514600"/>
            <a:ext cx="640080" cy="384048"/>
          </a:xfrm>
          <a:prstGeom prst="rect">
            <a:avLst/>
          </a:prstGeom>
          <a:noFill/>
        </p:spPr>
        <p:txBody>
          <a:bodyPr wrap="square" lIns="45720" rIns="45720" tIns="18288" bIns="18288" anchor="ctr">
            <a:spAutoFit/>
          </a:bodyPr>
          <a:lstStyle/>
          <a:p>
            <a:pPr algn="ctr">
              <a:lnSpc>
                <a:spcPct val="115000"/>
              </a:lnSpc>
            </a:pPr>
            <a:r>
              <a:rPr sz="1200" b="1" i="0">
                <a:solidFill>
                  <a:srgbClr val="FFFFFF"/>
                </a:solidFill>
                <a:latin typeface="Calibri"/>
              </a:rPr>
              <a:t>C8</a:t>
            </a:r>
          </a:p>
        </p:txBody>
      </p:sp>
      <p:sp>
        <p:nvSpPr>
          <p:cNvPr id="34" name="TextBox 33"/>
          <p:cNvSpPr txBox="1"/>
          <p:nvPr/>
        </p:nvSpPr>
        <p:spPr>
          <a:xfrm>
            <a:off x="6903720" y="2514600"/>
            <a:ext cx="4754880" cy="384048"/>
          </a:xfrm>
          <a:prstGeom prst="rect">
            <a:avLst/>
          </a:prstGeom>
          <a:noFill/>
        </p:spPr>
        <p:txBody>
          <a:bodyPr wrap="square" lIns="45720" rIns="45720" tIns="18288" bIns="18288" anchor="ctr">
            <a:spAutoFit/>
          </a:bodyPr>
          <a:lstStyle/>
          <a:p>
            <a:pPr algn="l">
              <a:lnSpc>
                <a:spcPct val="115000"/>
              </a:lnSpc>
            </a:pPr>
            <a:r>
              <a:rPr sz="1200" b="0" i="0">
                <a:solidFill>
                  <a:srgbClr val="21295C"/>
                </a:solidFill>
                <a:latin typeface="Calibri"/>
              </a:rPr>
              <a:t>MCU project skeleton + forward port</a:t>
            </a:r>
          </a:p>
        </p:txBody>
      </p:sp>
      <p:sp>
        <p:nvSpPr>
          <p:cNvPr id="35" name="Rectangle 34"/>
          <p:cNvSpPr/>
          <p:nvPr/>
        </p:nvSpPr>
        <p:spPr>
          <a:xfrm>
            <a:off x="6172200" y="2971800"/>
            <a:ext cx="640080" cy="38404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72200" y="2971800"/>
            <a:ext cx="640080" cy="384048"/>
          </a:xfrm>
          <a:prstGeom prst="rect">
            <a:avLst/>
          </a:prstGeom>
          <a:noFill/>
        </p:spPr>
        <p:txBody>
          <a:bodyPr wrap="square" lIns="45720" rIns="45720" tIns="18288" bIns="18288" anchor="ctr">
            <a:spAutoFit/>
          </a:bodyPr>
          <a:lstStyle/>
          <a:p>
            <a:pPr algn="ctr">
              <a:lnSpc>
                <a:spcPct val="115000"/>
              </a:lnSpc>
            </a:pPr>
            <a:r>
              <a:rPr sz="1200" b="1" i="0">
                <a:solidFill>
                  <a:srgbClr val="FFFFFF"/>
                </a:solidFill>
                <a:latin typeface="Calibri"/>
              </a:rPr>
              <a:t>C9</a:t>
            </a:r>
          </a:p>
        </p:txBody>
      </p:sp>
      <p:sp>
        <p:nvSpPr>
          <p:cNvPr id="37" name="TextBox 36"/>
          <p:cNvSpPr txBox="1"/>
          <p:nvPr/>
        </p:nvSpPr>
        <p:spPr>
          <a:xfrm>
            <a:off x="6903720" y="2971800"/>
            <a:ext cx="4754880" cy="384048"/>
          </a:xfrm>
          <a:prstGeom prst="rect">
            <a:avLst/>
          </a:prstGeom>
          <a:noFill/>
        </p:spPr>
        <p:txBody>
          <a:bodyPr wrap="square" lIns="45720" rIns="45720" tIns="18288" bIns="18288" anchor="ctr">
            <a:spAutoFit/>
          </a:bodyPr>
          <a:lstStyle/>
          <a:p>
            <a:pPr algn="l">
              <a:lnSpc>
                <a:spcPct val="115000"/>
              </a:lnSpc>
            </a:pPr>
            <a:r>
              <a:rPr sz="1200" b="0" i="0">
                <a:solidFill>
                  <a:srgbClr val="21295C"/>
                </a:solidFill>
                <a:latin typeface="Calibri"/>
              </a:rPr>
              <a:t>MCU int8 backward</a:t>
            </a:r>
          </a:p>
        </p:txBody>
      </p:sp>
      <p:sp>
        <p:nvSpPr>
          <p:cNvPr id="38" name="Rectangle 37"/>
          <p:cNvSpPr/>
          <p:nvPr/>
        </p:nvSpPr>
        <p:spPr>
          <a:xfrm>
            <a:off x="6172200" y="3429000"/>
            <a:ext cx="640080" cy="38404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72200" y="3429000"/>
            <a:ext cx="640080" cy="384048"/>
          </a:xfrm>
          <a:prstGeom prst="rect">
            <a:avLst/>
          </a:prstGeom>
          <a:noFill/>
        </p:spPr>
        <p:txBody>
          <a:bodyPr wrap="square" lIns="45720" rIns="45720" tIns="18288" bIns="18288" anchor="ctr">
            <a:spAutoFit/>
          </a:bodyPr>
          <a:lstStyle/>
          <a:p>
            <a:pPr algn="ctr">
              <a:lnSpc>
                <a:spcPct val="115000"/>
              </a:lnSpc>
            </a:pPr>
            <a:r>
              <a:rPr sz="1200" b="1" i="0">
                <a:solidFill>
                  <a:srgbClr val="FFFFFF"/>
                </a:solidFill>
                <a:latin typeface="Calibri"/>
              </a:rPr>
              <a:t>C10</a:t>
            </a:r>
          </a:p>
        </p:txBody>
      </p:sp>
      <p:sp>
        <p:nvSpPr>
          <p:cNvPr id="40" name="TextBox 39"/>
          <p:cNvSpPr txBox="1"/>
          <p:nvPr/>
        </p:nvSpPr>
        <p:spPr>
          <a:xfrm>
            <a:off x="6903720" y="3429000"/>
            <a:ext cx="4754880" cy="384048"/>
          </a:xfrm>
          <a:prstGeom prst="rect">
            <a:avLst/>
          </a:prstGeom>
          <a:noFill/>
        </p:spPr>
        <p:txBody>
          <a:bodyPr wrap="square" lIns="45720" rIns="45720" tIns="18288" bIns="18288" anchor="ctr">
            <a:spAutoFit/>
          </a:bodyPr>
          <a:lstStyle/>
          <a:p>
            <a:pPr algn="l">
              <a:lnSpc>
                <a:spcPct val="115000"/>
              </a:lnSpc>
            </a:pPr>
            <a:r>
              <a:rPr sz="1200" b="0" i="0">
                <a:solidFill>
                  <a:srgbClr val="21295C"/>
                </a:solidFill>
                <a:latin typeface="Calibri"/>
              </a:rPr>
              <a:t>MCU FQT partial + RigL mask update</a:t>
            </a:r>
          </a:p>
        </p:txBody>
      </p:sp>
      <p:sp>
        <p:nvSpPr>
          <p:cNvPr id="41" name="Rectangle 40"/>
          <p:cNvSpPr/>
          <p:nvPr/>
        </p:nvSpPr>
        <p:spPr>
          <a:xfrm>
            <a:off x="6172200" y="3886200"/>
            <a:ext cx="640080" cy="38404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72200" y="3886200"/>
            <a:ext cx="640080" cy="384048"/>
          </a:xfrm>
          <a:prstGeom prst="rect">
            <a:avLst/>
          </a:prstGeom>
          <a:noFill/>
        </p:spPr>
        <p:txBody>
          <a:bodyPr wrap="square" lIns="45720" rIns="45720" tIns="18288" bIns="18288" anchor="ctr">
            <a:spAutoFit/>
          </a:bodyPr>
          <a:lstStyle/>
          <a:p>
            <a:pPr algn="ctr">
              <a:lnSpc>
                <a:spcPct val="115000"/>
              </a:lnSpc>
            </a:pPr>
            <a:r>
              <a:rPr sz="1200" b="1" i="0">
                <a:solidFill>
                  <a:srgbClr val="FFFFFF"/>
                </a:solidFill>
                <a:latin typeface="Calibri"/>
              </a:rPr>
              <a:t>C11</a:t>
            </a:r>
          </a:p>
        </p:txBody>
      </p:sp>
      <p:sp>
        <p:nvSpPr>
          <p:cNvPr id="43" name="TextBox 42"/>
          <p:cNvSpPr txBox="1"/>
          <p:nvPr/>
        </p:nvSpPr>
        <p:spPr>
          <a:xfrm>
            <a:off x="6903720" y="3886200"/>
            <a:ext cx="4754880" cy="384048"/>
          </a:xfrm>
          <a:prstGeom prst="rect">
            <a:avLst/>
          </a:prstGeom>
          <a:noFill/>
        </p:spPr>
        <p:txBody>
          <a:bodyPr wrap="square" lIns="45720" rIns="45720" tIns="18288" bIns="18288" anchor="ctr">
            <a:spAutoFit/>
          </a:bodyPr>
          <a:lstStyle/>
          <a:p>
            <a:pPr algn="l">
              <a:lnSpc>
                <a:spcPct val="115000"/>
              </a:lnSpc>
            </a:pPr>
            <a:r>
              <a:rPr sz="1200" b="0" i="0">
                <a:solidFill>
                  <a:srgbClr val="21295C"/>
                </a:solidFill>
                <a:latin typeface="Calibri"/>
              </a:rPr>
              <a:t>End-to-end MCU training run (deliverable)</a:t>
            </a:r>
          </a:p>
        </p:txBody>
      </p:sp>
      <p:sp>
        <p:nvSpPr>
          <p:cNvPr id="44" name="Rectangle 43"/>
          <p:cNvSpPr/>
          <p:nvPr/>
        </p:nvSpPr>
        <p:spPr>
          <a:xfrm>
            <a:off x="457200" y="5943600"/>
            <a:ext cx="11247120" cy="502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5961888"/>
            <a:ext cx="10972800" cy="502920"/>
          </a:xfrm>
          <a:prstGeom prst="rect">
            <a:avLst/>
          </a:prstGeom>
          <a:noFill/>
        </p:spPr>
        <p:txBody>
          <a:bodyPr wrap="square" lIns="45720" rIns="45720" tIns="18288" bIns="18288" anchor="ctr">
            <a:spAutoFit/>
          </a:bodyPr>
          <a:lstStyle/>
          <a:p>
            <a:pPr algn="l">
              <a:lnSpc>
                <a:spcPct val="115000"/>
              </a:lnSpc>
            </a:pPr>
            <a:r>
              <a:rPr sz="1200" b="0" i="1">
                <a:solidFill>
                  <a:srgbClr val="555B6C"/>
                </a:solidFill>
                <a:latin typeface="Calibri"/>
              </a:rPr>
              <a:t>Discipline rule  —  never advance to the next milestone with two changes outstanding; regressions become un-bisectable.</a:t>
            </a:r>
          </a:p>
        </p:txBody>
      </p:sp>
      <p:sp>
        <p:nvSpPr>
          <p:cNvPr id="46" name="TextBox 45"/>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47" name="TextBox 46"/>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C1  ·  HOST PC</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Build system + golden int8 MAC test</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Goal: smallest possible C program that proves the toolchain is alive.</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Purpose</a:t>
            </a:r>
          </a:p>
        </p:txBody>
      </p:sp>
      <p:sp>
        <p:nvSpPr>
          <p:cNvPr id="8" name="TextBox 7"/>
          <p:cNvSpPr txBox="1"/>
          <p:nvPr/>
        </p:nvSpPr>
        <p:spPr>
          <a:xfrm>
            <a:off x="457200" y="2304288"/>
            <a:ext cx="5303520" cy="1463040"/>
          </a:xfrm>
          <a:prstGeom prst="rect">
            <a:avLst/>
          </a:prstGeom>
          <a:noFill/>
        </p:spPr>
        <p:txBody>
          <a:bodyPr wrap="square" lIns="45720" rIns="45720" tIns="18288" bIns="18288" anchor="t">
            <a:spAutoFit/>
          </a:bodyPr>
          <a:lstStyle/>
          <a:p>
            <a:pPr algn="l">
              <a:lnSpc>
                <a:spcPct val="125000"/>
              </a:lnSpc>
            </a:pPr>
            <a:r>
              <a:rPr sz="1250" b="0" i="0">
                <a:solidFill>
                  <a:srgbClr val="21295C"/>
                </a:solidFill>
                <a:latin typeface="Calibri"/>
              </a:rPr>
              <a:t>Lock down the C toolchain and validate that an int8 multiply-accumulate behaves exactly as expected. This is the smallest verifiable unit on which every later kernel depends. Without a known-good build environment and a known-good MAC, every downstream bug is ambiguous between 'algorithm wrong' and 'compiler/toolchain wrong'.</a:t>
            </a:r>
          </a:p>
        </p:txBody>
      </p:sp>
      <p:sp>
        <p:nvSpPr>
          <p:cNvPr id="9" name="TextBox 8"/>
          <p:cNvSpPr txBox="1"/>
          <p:nvPr/>
        </p:nvSpPr>
        <p:spPr>
          <a:xfrm>
            <a:off x="457200" y="38404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How to start</a:t>
            </a:r>
          </a:p>
        </p:txBody>
      </p:sp>
      <p:sp>
        <p:nvSpPr>
          <p:cNvPr id="10" name="TextBox 9"/>
          <p:cNvSpPr txBox="1"/>
          <p:nvPr/>
        </p:nvSpPr>
        <p:spPr>
          <a:xfrm>
            <a:off x="457200" y="4133088"/>
            <a:ext cx="5303520" cy="1737360"/>
          </a:xfrm>
          <a:prstGeom prst="rect">
            <a:avLst/>
          </a:prstGeom>
          <a:noFill/>
        </p:spPr>
        <p:txBody>
          <a:bodyPr wrap="square" lIns="0" rIns="0">
            <a:spAutoFit/>
          </a:bodyPr>
          <a:lstStyle/>
          <a:p>
            <a:pPr algn="l">
              <a:lnSpc>
                <a:spcPct val="125000"/>
              </a:lnSpc>
            </a:pPr>
            <a:r>
              <a:rPr sz="1200" b="1">
                <a:solidFill>
                  <a:srgbClr val="1E2761"/>
                </a:solidFill>
                <a:latin typeface="Calibri"/>
              </a:rPr>
              <a:t>1.  </a:t>
            </a:r>
            <a:r>
              <a:rPr sz="1150">
                <a:solidFill>
                  <a:srgbClr val="21295C"/>
                </a:solidFill>
                <a:latin typeface="Calibri"/>
              </a:rPr>
              <a:t>Install a C11 toolchain (MSYS2 + gcc on Windows, or WSL2 + gcc).</a:t>
            </a:r>
          </a:p>
          <a:p>
            <a:pPr algn="l">
              <a:lnSpc>
                <a:spcPct val="125000"/>
              </a:lnSpc>
            </a:pPr>
            <a:r>
              <a:rPr sz="1200" b="1">
                <a:solidFill>
                  <a:srgbClr val="1E2761"/>
                </a:solidFill>
                <a:latin typeface="Calibri"/>
              </a:rPr>
              <a:t>2.  </a:t>
            </a:r>
            <a:r>
              <a:rPr sz="1150">
                <a:solidFill>
                  <a:srgbClr val="21295C"/>
                </a:solidFill>
                <a:latin typeface="Calibri"/>
              </a:rPr>
              <a:t>Create a single-file project mac_test.c. No Makefile yet.</a:t>
            </a:r>
          </a:p>
          <a:p>
            <a:pPr algn="l">
              <a:lnSpc>
                <a:spcPct val="125000"/>
              </a:lnSpc>
            </a:pPr>
            <a:r>
              <a:rPr sz="1200" b="1">
                <a:solidFill>
                  <a:srgbClr val="1E2761"/>
                </a:solidFill>
                <a:latin typeface="Calibri"/>
              </a:rPr>
              <a:t>3.  </a:t>
            </a:r>
            <a:r>
              <a:rPr sz="1150">
                <a:solidFill>
                  <a:srgbClr val="21295C"/>
                </a:solidFill>
                <a:latin typeface="Calibri"/>
              </a:rPr>
              <a:t>Compile:  gcc -O2 -Wall -Wextra -std=c11 -o mac_test mac_test.c</a:t>
            </a:r>
          </a:p>
          <a:p>
            <a:pPr algn="l">
              <a:lnSpc>
                <a:spcPct val="125000"/>
              </a:lnSpc>
            </a:pPr>
            <a:r>
              <a:rPr sz="1200" b="1">
                <a:solidFill>
                  <a:srgbClr val="1E2761"/>
                </a:solidFill>
                <a:latin typeface="Calibri"/>
              </a:rPr>
              <a:t>4.  </a:t>
            </a:r>
            <a:r>
              <a:rPr sz="1150">
                <a:solidFill>
                  <a:srgbClr val="21295C"/>
                </a:solidFill>
                <a:latin typeface="Calibri"/>
              </a:rPr>
              <a:t>Run and confirm the program prints 'MAC = 4' and exits with code 0.</a:t>
            </a:r>
          </a:p>
          <a:p>
            <a:pPr algn="l">
              <a:lnSpc>
                <a:spcPct val="125000"/>
              </a:lnSpc>
            </a:pPr>
            <a:r>
              <a:rPr sz="1200" b="1">
                <a:solidFill>
                  <a:srgbClr val="1E2761"/>
                </a:solidFill>
                <a:latin typeface="Calibri"/>
              </a:rPr>
              <a:t>5.  </a:t>
            </a:r>
            <a:r>
              <a:rPr sz="1150">
                <a:solidFill>
                  <a:srgbClr val="21295C"/>
                </a:solidFill>
                <a:latin typeface="Calibri"/>
              </a:rPr>
              <a:t>Verify int32_t accumulator, both operands cast to int32 BEFORE multiply.</a:t>
            </a:r>
          </a:p>
        </p:txBody>
      </p:sp>
      <p:sp>
        <p:nvSpPr>
          <p:cNvPr id="11" name="Rectangle 10"/>
          <p:cNvSpPr/>
          <p:nvPr/>
        </p:nvSpPr>
        <p:spPr>
          <a:xfrm>
            <a:off x="457200" y="5532120"/>
            <a:ext cx="5303520" cy="502920"/>
          </a:xfrm>
          <a:prstGeom prst="rect">
            <a:avLst/>
          </a:prstGeom>
          <a:solidFill>
            <a:srgbClr val="F5F6FA"/>
          </a:solidFill>
          <a:ln w="9525">
            <a:solidFill>
              <a:srgbClr val="2C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568696"/>
            <a:ext cx="640080" cy="457200"/>
          </a:xfrm>
          <a:prstGeom prst="rect">
            <a:avLst/>
          </a:prstGeom>
          <a:noFill/>
        </p:spPr>
        <p:txBody>
          <a:bodyPr wrap="square" lIns="45720" rIns="45720" tIns="18288" bIns="18288" anchor="ctr">
            <a:spAutoFit/>
          </a:bodyPr>
          <a:lstStyle/>
          <a:p>
            <a:pPr algn="l">
              <a:lnSpc>
                <a:spcPct val="115000"/>
              </a:lnSpc>
            </a:pPr>
            <a:r>
              <a:rPr sz="1100" b="1" i="0">
                <a:solidFill>
                  <a:srgbClr val="2C7A4B"/>
                </a:solidFill>
                <a:latin typeface="Calibri"/>
              </a:rPr>
              <a:t>GATE</a:t>
            </a:r>
          </a:p>
        </p:txBody>
      </p:sp>
      <p:sp>
        <p:nvSpPr>
          <p:cNvPr id="13" name="TextBox 12"/>
          <p:cNvSpPr txBox="1"/>
          <p:nvPr/>
        </p:nvSpPr>
        <p:spPr>
          <a:xfrm>
            <a:off x="1234440" y="5532120"/>
            <a:ext cx="4480560" cy="502920"/>
          </a:xfrm>
          <a:prstGeom prst="rect">
            <a:avLst/>
          </a:prstGeom>
          <a:noFill/>
        </p:spPr>
        <p:txBody>
          <a:bodyPr wrap="square" lIns="45720" rIns="45720" tIns="18288" bIns="18288" anchor="ctr">
            <a:spAutoFit/>
          </a:bodyPr>
          <a:lstStyle/>
          <a:p>
            <a:pPr algn="l">
              <a:lnSpc>
                <a:spcPct val="115000"/>
              </a:lnSpc>
            </a:pPr>
            <a:r>
              <a:rPr sz="1150" b="0" i="0">
                <a:solidFill>
                  <a:srgbClr val="21295C"/>
                </a:solidFill>
                <a:latin typeface="Calibri"/>
              </a:rPr>
              <a:t>mac_test exits with code 0 on the hand-built example  ·  no floating point yet.</a:t>
            </a:r>
          </a:p>
        </p:txBody>
      </p:sp>
      <p:sp>
        <p:nvSpPr>
          <p:cNvPr id="14" name="TextBox 13"/>
          <p:cNvSpPr txBox="1"/>
          <p:nvPr/>
        </p:nvSpPr>
        <p:spPr>
          <a:xfrm>
            <a:off x="6035040" y="2011680"/>
            <a:ext cx="566928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Algorithm</a:t>
            </a:r>
          </a:p>
        </p:txBody>
      </p:sp>
      <p:sp>
        <p:nvSpPr>
          <p:cNvPr id="15" name="Rectangle 14"/>
          <p:cNvSpPr/>
          <p:nvPr/>
        </p:nvSpPr>
        <p:spPr>
          <a:xfrm>
            <a:off x="6035040" y="2304288"/>
            <a:ext cx="5669280" cy="3931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377440"/>
            <a:ext cx="5449824" cy="3785616"/>
          </a:xfrm>
          <a:prstGeom prst="rect">
            <a:avLst/>
          </a:prstGeom>
          <a:noFill/>
        </p:spPr>
        <p:txBody>
          <a:bodyPr wrap="none" lIns="18288" tIns="0" bIns="0" anchor="t">
            <a:spAutoFit/>
          </a:bodyPr>
          <a:lstStyle/>
          <a:p>
            <a:pPr algn="l">
              <a:lnSpc>
                <a:spcPct val="105000"/>
              </a:lnSpc>
            </a:pPr>
            <a:r>
              <a:rPr sz="1050">
                <a:solidFill>
                  <a:srgbClr val="21295C"/>
                </a:solidFill>
                <a:latin typeface="Consolas"/>
              </a:rPr>
              <a:t>ALGORITHM  golden_mac_test</a:t>
            </a:r>
          </a:p>
          <a:p>
            <a:pPr algn="l">
              <a:lnSpc>
                <a:spcPct val="105000"/>
              </a:lnSpc>
            </a:pPr>
            <a:r>
              <a:rPr sz="1050">
                <a:solidFill>
                  <a:srgbClr val="21295C"/>
                </a:solidFill>
                <a:latin typeface="Consolas"/>
              </a:rPr>
              <a:t>INPUTS   :  x[N]  (int8 array)</a:t>
            </a:r>
          </a:p>
          <a:p>
            <a:pPr algn="l">
              <a:lnSpc>
                <a:spcPct val="105000"/>
              </a:lnSpc>
            </a:pPr>
            <a:r>
              <a:rPr sz="1050">
                <a:solidFill>
                  <a:srgbClr val="21295C"/>
                </a:solidFill>
                <a:latin typeface="Consolas"/>
              </a:rPr>
              <a:t>            w[N]  (int8 array)</a:t>
            </a:r>
          </a:p>
          <a:p>
            <a:pPr algn="l">
              <a:lnSpc>
                <a:spcPct val="105000"/>
              </a:lnSpc>
            </a:pPr>
            <a:r>
              <a:rPr sz="1050">
                <a:solidFill>
                  <a:srgbClr val="21295C"/>
                </a:solidFill>
                <a:latin typeface="Consolas"/>
              </a:rPr>
              <a:t>            N     (length)</a:t>
            </a:r>
          </a:p>
          <a:p>
            <a:pPr algn="l">
              <a:lnSpc>
                <a:spcPct val="105000"/>
              </a:lnSpc>
            </a:pPr>
            <a:r>
              <a:rPr sz="1050">
                <a:solidFill>
                  <a:srgbClr val="21295C"/>
                </a:solidFill>
                <a:latin typeface="Consolas"/>
              </a:rPr>
              <a:t>OUTPUT   :  acc   (int32)</a:t>
            </a:r>
          </a:p>
          <a:p>
            <a:pPr algn="l">
              <a:lnSpc>
                <a:spcPct val="105000"/>
              </a:lnSpc>
            </a:pPr>
            <a:r>
              <a:rPr sz="1050">
                <a:solidFill>
                  <a:srgbClr val="21295C"/>
                </a:solidFill>
                <a:latin typeface="Consolas"/>
              </a:rPr>
              <a:t>---------------------------------------------------</a:t>
            </a:r>
          </a:p>
          <a:p>
            <a:pPr algn="l">
              <a:lnSpc>
                <a:spcPct val="105000"/>
              </a:lnSpc>
            </a:pPr>
            <a:r>
              <a:rPr sz="1050">
                <a:solidFill>
                  <a:srgbClr val="21295C"/>
                </a:solidFill>
                <a:latin typeface="Consolas"/>
              </a:rPr>
              <a:t> 1.  acc  &lt;-  0</a:t>
            </a:r>
          </a:p>
          <a:p>
            <a:pPr algn="l">
              <a:lnSpc>
                <a:spcPct val="105000"/>
              </a:lnSpc>
            </a:pPr>
            <a:r>
              <a:rPr sz="1050">
                <a:solidFill>
                  <a:srgbClr val="21295C"/>
                </a:solidFill>
                <a:latin typeface="Consolas"/>
              </a:rPr>
              <a:t> 2.  for i = 0 .. N-1:</a:t>
            </a:r>
          </a:p>
          <a:p>
            <a:pPr algn="l">
              <a:lnSpc>
                <a:spcPct val="105000"/>
              </a:lnSpc>
            </a:pPr>
            <a:r>
              <a:rPr sz="1050">
                <a:solidFill>
                  <a:srgbClr val="21295C"/>
                </a:solidFill>
                <a:latin typeface="Consolas"/>
              </a:rPr>
              <a:t> 3.       acc  &lt;-  acc + (int32) x[i] * (int32) w[i]</a:t>
            </a:r>
          </a:p>
          <a:p>
            <a:pPr algn="l">
              <a:lnSpc>
                <a:spcPct val="105000"/>
              </a:lnSpc>
            </a:pPr>
            <a:r>
              <a:rPr sz="1050">
                <a:solidFill>
                  <a:srgbClr val="21295C"/>
                </a:solidFill>
                <a:latin typeface="Consolas"/>
              </a:rPr>
              <a:t> 4.  return acc</a:t>
            </a:r>
          </a:p>
          <a:p>
            <a:pPr algn="l">
              <a:lnSpc>
                <a:spcPct val="105000"/>
              </a:lnSpc>
            </a:pPr>
            <a:r>
              <a:rPr sz="1050">
                <a:solidFill>
                  <a:srgbClr val="21295C"/>
                </a:solidFill>
                <a:latin typeface="Consolas"/>
              </a:rPr>
              <a:t> </a:t>
            </a:r>
          </a:p>
          <a:p>
            <a:pPr algn="l">
              <a:lnSpc>
                <a:spcPct val="105000"/>
              </a:lnSpc>
            </a:pPr>
            <a:r>
              <a:rPr sz="1050">
                <a:solidFill>
                  <a:srgbClr val="21295C"/>
                </a:solidFill>
                <a:latin typeface="Consolas"/>
              </a:rPr>
              <a:t>HAND-COMPUTED REFERENCE</a:t>
            </a:r>
          </a:p>
          <a:p>
            <a:pPr algn="l">
              <a:lnSpc>
                <a:spcPct val="105000"/>
              </a:lnSpc>
            </a:pPr>
            <a:r>
              <a:rPr sz="1050">
                <a:solidFill>
                  <a:srgbClr val="21295C"/>
                </a:solidFill>
                <a:latin typeface="Consolas"/>
              </a:rPr>
              <a:t>  x = [ 10, -5, 20,  3]</a:t>
            </a:r>
          </a:p>
          <a:p>
            <a:pPr algn="l">
              <a:lnSpc>
                <a:spcPct val="105000"/>
              </a:lnSpc>
            </a:pPr>
            <a:r>
              <a:rPr sz="1050">
                <a:solidFill>
                  <a:srgbClr val="21295C"/>
                </a:solidFill>
                <a:latin typeface="Consolas"/>
              </a:rPr>
              <a:t>  w = [  2,  4, -1,  8]</a:t>
            </a:r>
          </a:p>
          <a:p>
            <a:pPr algn="l">
              <a:lnSpc>
                <a:spcPct val="105000"/>
              </a:lnSpc>
            </a:pPr>
            <a:r>
              <a:rPr sz="1050">
                <a:solidFill>
                  <a:srgbClr val="21295C"/>
                </a:solidFill>
                <a:latin typeface="Consolas"/>
              </a:rPr>
              <a:t>  acc = 10*2 + (-5)*4 + 20*(-1) + 3*8</a:t>
            </a:r>
          </a:p>
          <a:p>
            <a:pPr algn="l">
              <a:lnSpc>
                <a:spcPct val="105000"/>
              </a:lnSpc>
            </a:pPr>
            <a:r>
              <a:rPr sz="1050">
                <a:solidFill>
                  <a:srgbClr val="21295C"/>
                </a:solidFill>
                <a:latin typeface="Consolas"/>
              </a:rPr>
              <a:t>      = 20  +  (-20)  +  (-20) +  24</a:t>
            </a:r>
          </a:p>
          <a:p>
            <a:pPr algn="l">
              <a:lnSpc>
                <a:spcPct val="105000"/>
              </a:lnSpc>
            </a:pPr>
            <a:r>
              <a:rPr sz="1050">
                <a:solidFill>
                  <a:srgbClr val="21295C"/>
                </a:solidFill>
                <a:latin typeface="Consolas"/>
              </a:rPr>
              <a:t>      = 4</a:t>
            </a:r>
          </a:p>
          <a:p>
            <a:pPr algn="l">
              <a:lnSpc>
                <a:spcPct val="105000"/>
              </a:lnSpc>
            </a:pPr>
            <a:r>
              <a:rPr sz="1050">
                <a:solidFill>
                  <a:srgbClr val="21295C"/>
                </a:solidFill>
                <a:latin typeface="Consolas"/>
              </a:rPr>
              <a:t> </a:t>
            </a:r>
          </a:p>
        </p:txBody>
      </p:sp>
      <p:sp>
        <p:nvSpPr>
          <p:cNvPr id="17" name="TextBox 16"/>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8" name="TextBox 17"/>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C2  ·  HOST PC</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int8 Linear + Conv2d forward kernels (mask-aware)</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Goal: sparse-quantized forward layer kernels validated on host PC.</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Purpose</a:t>
            </a:r>
          </a:p>
        </p:txBody>
      </p:sp>
      <p:sp>
        <p:nvSpPr>
          <p:cNvPr id="8" name="TextBox 7"/>
          <p:cNvSpPr txBox="1"/>
          <p:nvPr/>
        </p:nvSpPr>
        <p:spPr>
          <a:xfrm>
            <a:off x="457200" y="2304288"/>
            <a:ext cx="5303520" cy="1463040"/>
          </a:xfrm>
          <a:prstGeom prst="rect">
            <a:avLst/>
          </a:prstGeom>
          <a:noFill/>
        </p:spPr>
        <p:txBody>
          <a:bodyPr wrap="square" lIns="45720" rIns="45720" tIns="18288" bIns="18288" anchor="t">
            <a:spAutoFit/>
          </a:bodyPr>
          <a:lstStyle/>
          <a:p>
            <a:pPr algn="l">
              <a:lnSpc>
                <a:spcPct val="125000"/>
              </a:lnSpc>
            </a:pPr>
            <a:r>
              <a:rPr sz="1250" b="0" i="0">
                <a:solidFill>
                  <a:srgbClr val="21295C"/>
                </a:solidFill>
                <a:latin typeface="Calibri"/>
              </a:rPr>
              <a:t>Implement the two forward primitives needed by the model: a mask-aware int8 Linear and a mask-aware int8 Conv2d. The mask check must be a real branch — skipping masked weights is what turns RigL sparsity into a speedup later. Per-layer scales (s_w, s_a_in, s_a_out) enter here for the first time.</a:t>
            </a:r>
          </a:p>
        </p:txBody>
      </p:sp>
      <p:sp>
        <p:nvSpPr>
          <p:cNvPr id="9" name="TextBox 8"/>
          <p:cNvSpPr txBox="1"/>
          <p:nvPr/>
        </p:nvSpPr>
        <p:spPr>
          <a:xfrm>
            <a:off x="457200" y="38404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How to start</a:t>
            </a:r>
          </a:p>
        </p:txBody>
      </p:sp>
      <p:sp>
        <p:nvSpPr>
          <p:cNvPr id="10" name="TextBox 9"/>
          <p:cNvSpPr txBox="1"/>
          <p:nvPr/>
        </p:nvSpPr>
        <p:spPr>
          <a:xfrm>
            <a:off x="457200" y="4133088"/>
            <a:ext cx="5303520" cy="1737360"/>
          </a:xfrm>
          <a:prstGeom prst="rect">
            <a:avLst/>
          </a:prstGeom>
          <a:noFill/>
        </p:spPr>
        <p:txBody>
          <a:bodyPr wrap="square" lIns="0" rIns="0">
            <a:spAutoFit/>
          </a:bodyPr>
          <a:lstStyle/>
          <a:p>
            <a:pPr algn="l">
              <a:lnSpc>
                <a:spcPct val="125000"/>
              </a:lnSpc>
            </a:pPr>
            <a:r>
              <a:rPr sz="1200" b="1">
                <a:solidFill>
                  <a:srgbClr val="1E2761"/>
                </a:solidFill>
                <a:latin typeface="Calibri"/>
              </a:rPr>
              <a:t>1.  </a:t>
            </a:r>
            <a:r>
              <a:rPr sz="1150">
                <a:solidFill>
                  <a:srgbClr val="21295C"/>
                </a:solidFill>
                <a:latin typeface="Calibri"/>
              </a:rPr>
              <a:t>Define layer_t struct + bit_get / bit_set / bit_clr inline helpers.</a:t>
            </a:r>
          </a:p>
          <a:p>
            <a:pPr algn="l">
              <a:lnSpc>
                <a:spcPct val="125000"/>
              </a:lnSpc>
            </a:pPr>
            <a:r>
              <a:rPr sz="1200" b="1">
                <a:solidFill>
                  <a:srgbClr val="1E2761"/>
                </a:solidFill>
                <a:latin typeface="Calibri"/>
              </a:rPr>
              <a:t>2.  </a:t>
            </a:r>
            <a:r>
              <a:rPr sz="1150">
                <a:solidFill>
                  <a:srgbClr val="21295C"/>
                </a:solidFill>
                <a:latin typeface="Calibri"/>
              </a:rPr>
              <a:t>Build a golden test: 4-in / 3-out Linear with hand-picked weights and mask.</a:t>
            </a:r>
          </a:p>
          <a:p>
            <a:pPr algn="l">
              <a:lnSpc>
                <a:spcPct val="125000"/>
              </a:lnSpc>
            </a:pPr>
            <a:r>
              <a:rPr sz="1200" b="1">
                <a:solidFill>
                  <a:srgbClr val="1E2761"/>
                </a:solidFill>
                <a:latin typeface="Calibri"/>
              </a:rPr>
              <a:t>3.  </a:t>
            </a:r>
            <a:r>
              <a:rPr sz="1150">
                <a:solidFill>
                  <a:srgbClr val="21295C"/>
                </a:solidFill>
                <a:latin typeface="Calibri"/>
              </a:rPr>
              <a:t>Compute the expected output by hand. Save as expected[3] in a header.</a:t>
            </a:r>
          </a:p>
          <a:p>
            <a:pPr algn="l">
              <a:lnSpc>
                <a:spcPct val="125000"/>
              </a:lnSpc>
            </a:pPr>
            <a:r>
              <a:rPr sz="1200" b="1">
                <a:solidFill>
                  <a:srgbClr val="1E2761"/>
                </a:solidFill>
                <a:latin typeface="Calibri"/>
              </a:rPr>
              <a:t>4.  </a:t>
            </a:r>
            <a:r>
              <a:rPr sz="1150">
                <a:solidFill>
                  <a:srgbClr val="21295C"/>
                </a:solidFill>
                <a:latin typeface="Calibri"/>
              </a:rPr>
              <a:t>Run the kernel, assert byte-for-byte equality.</a:t>
            </a:r>
          </a:p>
          <a:p>
            <a:pPr algn="l">
              <a:lnSpc>
                <a:spcPct val="125000"/>
              </a:lnSpc>
            </a:pPr>
            <a:r>
              <a:rPr sz="1200" b="1">
                <a:solidFill>
                  <a:srgbClr val="1E2761"/>
                </a:solidFill>
                <a:latin typeface="Calibri"/>
              </a:rPr>
              <a:t>5.  </a:t>
            </a:r>
            <a:r>
              <a:rPr sz="1150">
                <a:solidFill>
                  <a:srgbClr val="21295C"/>
                </a:solidFill>
                <a:latin typeface="Calibri"/>
              </a:rPr>
              <a:t>Repeat with a tiny 1x1x4x4 -&gt; 2x1x4x4 Conv2d golden.</a:t>
            </a:r>
          </a:p>
        </p:txBody>
      </p:sp>
      <p:sp>
        <p:nvSpPr>
          <p:cNvPr id="11" name="Rectangle 10"/>
          <p:cNvSpPr/>
          <p:nvPr/>
        </p:nvSpPr>
        <p:spPr>
          <a:xfrm>
            <a:off x="457200" y="5532120"/>
            <a:ext cx="5303520" cy="502920"/>
          </a:xfrm>
          <a:prstGeom prst="rect">
            <a:avLst/>
          </a:prstGeom>
          <a:solidFill>
            <a:srgbClr val="F5F6FA"/>
          </a:solidFill>
          <a:ln w="9525">
            <a:solidFill>
              <a:srgbClr val="2C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568696"/>
            <a:ext cx="640080" cy="457200"/>
          </a:xfrm>
          <a:prstGeom prst="rect">
            <a:avLst/>
          </a:prstGeom>
          <a:noFill/>
        </p:spPr>
        <p:txBody>
          <a:bodyPr wrap="square" lIns="45720" rIns="45720" tIns="18288" bIns="18288" anchor="ctr">
            <a:spAutoFit/>
          </a:bodyPr>
          <a:lstStyle/>
          <a:p>
            <a:pPr algn="l">
              <a:lnSpc>
                <a:spcPct val="115000"/>
              </a:lnSpc>
            </a:pPr>
            <a:r>
              <a:rPr sz="1100" b="1" i="0">
                <a:solidFill>
                  <a:srgbClr val="2C7A4B"/>
                </a:solidFill>
                <a:latin typeface="Calibri"/>
              </a:rPr>
              <a:t>GATE</a:t>
            </a:r>
          </a:p>
        </p:txBody>
      </p:sp>
      <p:sp>
        <p:nvSpPr>
          <p:cNvPr id="13" name="TextBox 12"/>
          <p:cNvSpPr txBox="1"/>
          <p:nvPr/>
        </p:nvSpPr>
        <p:spPr>
          <a:xfrm>
            <a:off x="1234440" y="5532120"/>
            <a:ext cx="4480560" cy="502920"/>
          </a:xfrm>
          <a:prstGeom prst="rect">
            <a:avLst/>
          </a:prstGeom>
          <a:noFill/>
        </p:spPr>
        <p:txBody>
          <a:bodyPr wrap="square" lIns="45720" rIns="45720" tIns="18288" bIns="18288" anchor="ctr">
            <a:spAutoFit/>
          </a:bodyPr>
          <a:lstStyle/>
          <a:p>
            <a:pPr algn="l">
              <a:lnSpc>
                <a:spcPct val="115000"/>
              </a:lnSpc>
            </a:pPr>
            <a:r>
              <a:rPr sz="1150" b="0" i="0">
                <a:solidFill>
                  <a:srgbClr val="21295C"/>
                </a:solidFill>
                <a:latin typeface="Calibri"/>
              </a:rPr>
              <a:t>Linear &amp; Conv2d kernels match hand-built golden outputs byte-for-byte.</a:t>
            </a:r>
          </a:p>
        </p:txBody>
      </p:sp>
      <p:sp>
        <p:nvSpPr>
          <p:cNvPr id="14" name="TextBox 13"/>
          <p:cNvSpPr txBox="1"/>
          <p:nvPr/>
        </p:nvSpPr>
        <p:spPr>
          <a:xfrm>
            <a:off x="6035040" y="2011680"/>
            <a:ext cx="566928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Algorithm</a:t>
            </a:r>
          </a:p>
        </p:txBody>
      </p:sp>
      <p:sp>
        <p:nvSpPr>
          <p:cNvPr id="15" name="Rectangle 14"/>
          <p:cNvSpPr/>
          <p:nvPr/>
        </p:nvSpPr>
        <p:spPr>
          <a:xfrm>
            <a:off x="6035040" y="2304288"/>
            <a:ext cx="5669280" cy="3931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377440"/>
            <a:ext cx="5449824" cy="3785616"/>
          </a:xfrm>
          <a:prstGeom prst="rect">
            <a:avLst/>
          </a:prstGeom>
          <a:noFill/>
        </p:spPr>
        <p:txBody>
          <a:bodyPr wrap="none" lIns="18288" tIns="0" bIns="0" anchor="t">
            <a:spAutoFit/>
          </a:bodyPr>
          <a:lstStyle/>
          <a:p>
            <a:pPr algn="l">
              <a:lnSpc>
                <a:spcPct val="105000"/>
              </a:lnSpc>
            </a:pPr>
            <a:r>
              <a:rPr sz="1050">
                <a:solidFill>
                  <a:srgbClr val="21295C"/>
                </a:solidFill>
                <a:latin typeface="Consolas"/>
              </a:rPr>
              <a:t>ALGORITHM  linear_forward_masked</a:t>
            </a:r>
          </a:p>
          <a:p>
            <a:pPr algn="l">
              <a:lnSpc>
                <a:spcPct val="105000"/>
              </a:lnSpc>
            </a:pPr>
            <a:r>
              <a:rPr sz="1050">
                <a:solidFill>
                  <a:srgbClr val="21295C"/>
                </a:solidFill>
                <a:latin typeface="Consolas"/>
              </a:rPr>
              <a:t>INPUTS   :  L  (W, M_bitmap, s_w, s_a_in, s_a_out,</a:t>
            </a:r>
          </a:p>
          <a:p>
            <a:pPr algn="l">
              <a:lnSpc>
                <a:spcPct val="105000"/>
              </a:lnSpc>
            </a:pPr>
            <a:r>
              <a:rPr sz="1050">
                <a:solidFill>
                  <a:srgbClr val="21295C"/>
                </a:solidFill>
                <a:latin typeface="Consolas"/>
              </a:rPr>
              <a:t>                fan_in, fan_out)</a:t>
            </a:r>
          </a:p>
          <a:p>
            <a:pPr algn="l">
              <a:lnSpc>
                <a:spcPct val="105000"/>
              </a:lnSpc>
            </a:pPr>
            <a:r>
              <a:rPr sz="1050">
                <a:solidFill>
                  <a:srgbClr val="21295C"/>
                </a:solidFill>
                <a:latin typeface="Consolas"/>
              </a:rPr>
              <a:t>            x_in[fan_in]    (int8)</a:t>
            </a:r>
          </a:p>
          <a:p>
            <a:pPr algn="l">
              <a:lnSpc>
                <a:spcPct val="105000"/>
              </a:lnSpc>
            </a:pPr>
            <a:r>
              <a:rPr sz="1050">
                <a:solidFill>
                  <a:srgbClr val="21295C"/>
                </a:solidFill>
                <a:latin typeface="Consolas"/>
              </a:rPr>
              <a:t>OUTPUT   :  y_out[fan_out]  (int8)</a:t>
            </a:r>
          </a:p>
          <a:p>
            <a:pPr algn="l">
              <a:lnSpc>
                <a:spcPct val="105000"/>
              </a:lnSpc>
            </a:pPr>
            <a:r>
              <a:rPr sz="1050">
                <a:solidFill>
                  <a:srgbClr val="21295C"/>
                </a:solidFill>
                <a:latin typeface="Consolas"/>
              </a:rPr>
              <a:t>---------------------------------------------------</a:t>
            </a:r>
          </a:p>
          <a:p>
            <a:pPr algn="l">
              <a:lnSpc>
                <a:spcPct val="105000"/>
              </a:lnSpc>
            </a:pPr>
            <a:r>
              <a:rPr sz="1050">
                <a:solidFill>
                  <a:srgbClr val="21295C"/>
                </a:solidFill>
                <a:latin typeface="Consolas"/>
              </a:rPr>
              <a:t> 1.  scale  &lt;-  s_w * s_a_in / s_a_out</a:t>
            </a:r>
          </a:p>
          <a:p>
            <a:pPr algn="l">
              <a:lnSpc>
                <a:spcPct val="105000"/>
              </a:lnSpc>
            </a:pPr>
            <a:r>
              <a:rPr sz="1050">
                <a:solidFill>
                  <a:srgbClr val="21295C"/>
                </a:solidFill>
                <a:latin typeface="Consolas"/>
              </a:rPr>
              <a:t> 2.  for o = 0 .. fan_out-1:</a:t>
            </a:r>
          </a:p>
          <a:p>
            <a:pPr algn="l">
              <a:lnSpc>
                <a:spcPct val="105000"/>
              </a:lnSpc>
            </a:pPr>
            <a:r>
              <a:rPr sz="1050">
                <a:solidFill>
                  <a:srgbClr val="21295C"/>
                </a:solidFill>
                <a:latin typeface="Consolas"/>
              </a:rPr>
              <a:t> 3.       acc  &lt;-  0                   // int32</a:t>
            </a:r>
          </a:p>
          <a:p>
            <a:pPr algn="l">
              <a:lnSpc>
                <a:spcPct val="105000"/>
              </a:lnSpc>
            </a:pPr>
            <a:r>
              <a:rPr sz="1050">
                <a:solidFill>
                  <a:srgbClr val="21295C"/>
                </a:solidFill>
                <a:latin typeface="Consolas"/>
              </a:rPr>
              <a:t> 4.       for i = 0 .. fan_in-1:</a:t>
            </a:r>
          </a:p>
          <a:p>
            <a:pPr algn="l">
              <a:lnSpc>
                <a:spcPct val="105000"/>
              </a:lnSpc>
            </a:pPr>
            <a:r>
              <a:rPr sz="1050">
                <a:solidFill>
                  <a:srgbClr val="21295C"/>
                </a:solidFill>
                <a:latin typeface="Consolas"/>
              </a:rPr>
              <a:t> 5.            idx  &lt;-  o*fan_in + i</a:t>
            </a:r>
          </a:p>
          <a:p>
            <a:pPr algn="l">
              <a:lnSpc>
                <a:spcPct val="105000"/>
              </a:lnSpc>
            </a:pPr>
            <a:r>
              <a:rPr sz="1050">
                <a:solidFill>
                  <a:srgbClr val="21295C"/>
                </a:solidFill>
                <a:latin typeface="Consolas"/>
              </a:rPr>
              <a:t> 6.            if bit_get(M, idx) == 1:</a:t>
            </a:r>
          </a:p>
          <a:p>
            <a:pPr algn="l">
              <a:lnSpc>
                <a:spcPct val="105000"/>
              </a:lnSpc>
            </a:pPr>
            <a:r>
              <a:rPr sz="1050">
                <a:solidFill>
                  <a:srgbClr val="21295C"/>
                </a:solidFill>
                <a:latin typeface="Consolas"/>
              </a:rPr>
              <a:t> 7.                 acc &lt;- acc +</a:t>
            </a:r>
          </a:p>
          <a:p>
            <a:pPr algn="l">
              <a:lnSpc>
                <a:spcPct val="105000"/>
              </a:lnSpc>
            </a:pPr>
            <a:r>
              <a:rPr sz="1050">
                <a:solidFill>
                  <a:srgbClr val="21295C"/>
                </a:solidFill>
                <a:latin typeface="Consolas"/>
              </a:rPr>
              <a:t>                          (int32)x_in[i] *</a:t>
            </a:r>
          </a:p>
          <a:p>
            <a:pPr algn="l">
              <a:lnSpc>
                <a:spcPct val="105000"/>
              </a:lnSpc>
            </a:pPr>
            <a:r>
              <a:rPr sz="1050">
                <a:solidFill>
                  <a:srgbClr val="21295C"/>
                </a:solidFill>
                <a:latin typeface="Consolas"/>
              </a:rPr>
              <a:t>                          (int32)W[idx]</a:t>
            </a:r>
          </a:p>
          <a:p>
            <a:pPr algn="l">
              <a:lnSpc>
                <a:spcPct val="105000"/>
              </a:lnSpc>
            </a:pPr>
            <a:r>
              <a:rPr sz="1050">
                <a:solidFill>
                  <a:srgbClr val="21295C"/>
                </a:solidFill>
                <a:latin typeface="Consolas"/>
              </a:rPr>
              <a:t> 8.       y_out[o] &lt;- sat_int8( round( acc * scale ) )</a:t>
            </a:r>
          </a:p>
          <a:p>
            <a:pPr algn="l">
              <a:lnSpc>
                <a:spcPct val="105000"/>
              </a:lnSpc>
            </a:pPr>
            <a:r>
              <a:rPr sz="1050">
                <a:solidFill>
                  <a:srgbClr val="21295C"/>
                </a:solidFill>
                <a:latin typeface="Consolas"/>
              </a:rPr>
              <a:t> </a:t>
            </a:r>
          </a:p>
          <a:p>
            <a:pPr algn="l">
              <a:lnSpc>
                <a:spcPct val="105000"/>
              </a:lnSpc>
            </a:pPr>
            <a:r>
              <a:rPr sz="1050">
                <a:solidFill>
                  <a:srgbClr val="21295C"/>
                </a:solidFill>
                <a:latin typeface="Consolas"/>
              </a:rPr>
              <a:t>ALGORITHM  conv2d_forward_masked  (NCHW, stride=1, pad=1)</a:t>
            </a:r>
          </a:p>
          <a:p>
            <a:pPr algn="l">
              <a:lnSpc>
                <a:spcPct val="105000"/>
              </a:lnSpc>
            </a:pPr>
            <a:r>
              <a:rPr sz="1050">
                <a:solidFill>
                  <a:srgbClr val="21295C"/>
                </a:solidFill>
                <a:latin typeface="Consolas"/>
              </a:rPr>
              <a:t>  outer: for each (oc, oh, ow) ...</a:t>
            </a:r>
          </a:p>
          <a:p>
            <a:pPr algn="l">
              <a:lnSpc>
                <a:spcPct val="105000"/>
              </a:lnSpc>
            </a:pPr>
            <a:r>
              <a:rPr sz="1050">
                <a:solidFill>
                  <a:srgbClr val="21295C"/>
                </a:solidFill>
                <a:latin typeface="Consolas"/>
              </a:rPr>
              <a:t>    acc &lt;- 0</a:t>
            </a:r>
          </a:p>
          <a:p>
            <a:pPr algn="l">
              <a:lnSpc>
                <a:spcPct val="105000"/>
              </a:lnSpc>
            </a:pPr>
            <a:r>
              <a:rPr sz="1050">
                <a:solidFill>
                  <a:srgbClr val="21295C"/>
                </a:solidFill>
                <a:latin typeface="Consolas"/>
              </a:rPr>
              <a:t>    for ic, kh, kw:</a:t>
            </a:r>
          </a:p>
          <a:p>
            <a:pPr algn="l">
              <a:lnSpc>
                <a:spcPct val="105000"/>
              </a:lnSpc>
            </a:pPr>
            <a:r>
              <a:rPr sz="1050">
                <a:solidFill>
                  <a:srgbClr val="21295C"/>
                </a:solidFill>
                <a:latin typeface="Consolas"/>
              </a:rPr>
              <a:t>       idx &lt;- weight_index(oc, ic, kh, kw)</a:t>
            </a:r>
          </a:p>
          <a:p>
            <a:pPr algn="l">
              <a:lnSpc>
                <a:spcPct val="105000"/>
              </a:lnSpc>
            </a:pPr>
            <a:r>
              <a:rPr sz="1050">
                <a:solidFill>
                  <a:srgbClr val="21295C"/>
                </a:solidFill>
                <a:latin typeface="Consolas"/>
              </a:rPr>
              <a:t>       if bit_get(M, idx):</a:t>
            </a:r>
          </a:p>
          <a:p>
            <a:pPr algn="l">
              <a:lnSpc>
                <a:spcPct val="105000"/>
              </a:lnSpc>
            </a:pPr>
            <a:r>
              <a:rPr sz="1050">
                <a:solidFill>
                  <a:srgbClr val="21295C"/>
                </a:solidFill>
                <a:latin typeface="Consolas"/>
              </a:rPr>
              <a:t>          acc += x[ic, oh+kh, ow+kw] * W[idx]</a:t>
            </a:r>
          </a:p>
          <a:p>
            <a:pPr algn="l">
              <a:lnSpc>
                <a:spcPct val="105000"/>
              </a:lnSpc>
            </a:pPr>
            <a:r>
              <a:rPr sz="1050">
                <a:solidFill>
                  <a:srgbClr val="21295C"/>
                </a:solidFill>
                <a:latin typeface="Consolas"/>
              </a:rPr>
              <a:t>    y[oc, oh, ow] &lt;- sat_int8( round(acc * scale) )</a:t>
            </a:r>
          </a:p>
          <a:p>
            <a:pPr algn="l">
              <a:lnSpc>
                <a:spcPct val="105000"/>
              </a:lnSpc>
            </a:pPr>
            <a:r>
              <a:rPr sz="1050">
                <a:solidFill>
                  <a:srgbClr val="21295C"/>
                </a:solidFill>
                <a:latin typeface="Consolas"/>
              </a:rPr>
              <a:t> </a:t>
            </a:r>
          </a:p>
        </p:txBody>
      </p:sp>
      <p:sp>
        <p:nvSpPr>
          <p:cNvPr id="17" name="TextBox 16"/>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8" name="TextBox 17"/>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C3  ·  HOST PC</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int8 backward kernels — dW and dA</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Goal: hand-coded int8 gradients for Linear and Conv2d.</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Purpose</a:t>
            </a:r>
          </a:p>
        </p:txBody>
      </p:sp>
      <p:sp>
        <p:nvSpPr>
          <p:cNvPr id="8" name="TextBox 7"/>
          <p:cNvSpPr txBox="1"/>
          <p:nvPr/>
        </p:nvSpPr>
        <p:spPr>
          <a:xfrm>
            <a:off x="457200" y="2304288"/>
            <a:ext cx="5303520" cy="1463040"/>
          </a:xfrm>
          <a:prstGeom prst="rect">
            <a:avLst/>
          </a:prstGeom>
          <a:noFill/>
        </p:spPr>
        <p:txBody>
          <a:bodyPr wrap="square" lIns="45720" rIns="45720" tIns="18288" bIns="18288" anchor="t">
            <a:spAutoFit/>
          </a:bodyPr>
          <a:lstStyle/>
          <a:p>
            <a:pPr algn="l">
              <a:lnSpc>
                <a:spcPct val="125000"/>
              </a:lnSpc>
            </a:pPr>
            <a:r>
              <a:rPr sz="1250" b="0" i="0">
                <a:solidFill>
                  <a:srgbClr val="21295C"/>
                </a:solidFill>
                <a:latin typeface="Calibri"/>
              </a:rPr>
              <a:t>Backward is the place where there is no external library to lean on. We compute dW (the weight gradient) and dA (the gradient w.r.t. the layer input) in int8 with their own scale s_g. The mask gates which dW entries are even worth writing — masked slots get zero and skip the heavy work.</a:t>
            </a:r>
          </a:p>
        </p:txBody>
      </p:sp>
      <p:sp>
        <p:nvSpPr>
          <p:cNvPr id="9" name="TextBox 8"/>
          <p:cNvSpPr txBox="1"/>
          <p:nvPr/>
        </p:nvSpPr>
        <p:spPr>
          <a:xfrm>
            <a:off x="457200" y="38404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How to start</a:t>
            </a:r>
          </a:p>
        </p:txBody>
      </p:sp>
      <p:sp>
        <p:nvSpPr>
          <p:cNvPr id="10" name="TextBox 9"/>
          <p:cNvSpPr txBox="1"/>
          <p:nvPr/>
        </p:nvSpPr>
        <p:spPr>
          <a:xfrm>
            <a:off x="457200" y="4133088"/>
            <a:ext cx="5303520" cy="1737360"/>
          </a:xfrm>
          <a:prstGeom prst="rect">
            <a:avLst/>
          </a:prstGeom>
          <a:noFill/>
        </p:spPr>
        <p:txBody>
          <a:bodyPr wrap="square" lIns="0" rIns="0">
            <a:spAutoFit/>
          </a:bodyPr>
          <a:lstStyle/>
          <a:p>
            <a:pPr algn="l">
              <a:lnSpc>
                <a:spcPct val="125000"/>
              </a:lnSpc>
            </a:pPr>
            <a:r>
              <a:rPr sz="1200" b="1">
                <a:solidFill>
                  <a:srgbClr val="1E2761"/>
                </a:solidFill>
                <a:latin typeface="Calibri"/>
              </a:rPr>
              <a:t>1.  </a:t>
            </a:r>
            <a:r>
              <a:rPr sz="1150">
                <a:solidFill>
                  <a:srgbClr val="21295C"/>
                </a:solidFill>
                <a:latin typeface="Calibri"/>
              </a:rPr>
              <a:t>Write the dW kernel first — it is the simpler outer product.</a:t>
            </a:r>
          </a:p>
          <a:p>
            <a:pPr algn="l">
              <a:lnSpc>
                <a:spcPct val="125000"/>
              </a:lnSpc>
            </a:pPr>
            <a:r>
              <a:rPr sz="1200" b="1">
                <a:solidFill>
                  <a:srgbClr val="1E2761"/>
                </a:solidFill>
                <a:latin typeface="Calibri"/>
              </a:rPr>
              <a:t>2.  </a:t>
            </a:r>
            <a:r>
              <a:rPr sz="1150">
                <a:solidFill>
                  <a:srgbClr val="21295C"/>
                </a:solidFill>
                <a:latin typeface="Calibri"/>
              </a:rPr>
              <a:t>Verify dW against a numerical finite-difference check on a tiny network.</a:t>
            </a:r>
          </a:p>
          <a:p>
            <a:pPr algn="l">
              <a:lnSpc>
                <a:spcPct val="125000"/>
              </a:lnSpc>
            </a:pPr>
            <a:r>
              <a:rPr sz="1200" b="1">
                <a:solidFill>
                  <a:srgbClr val="1E2761"/>
                </a:solidFill>
                <a:latin typeface="Calibri"/>
              </a:rPr>
              <a:t>3.  </a:t>
            </a:r>
            <a:r>
              <a:rPr sz="1150">
                <a:solidFill>
                  <a:srgbClr val="21295C"/>
                </a:solidFill>
                <a:latin typeface="Calibri"/>
              </a:rPr>
              <a:t>Add the dx kernel; verify by composing with a forward pass.</a:t>
            </a:r>
          </a:p>
          <a:p>
            <a:pPr algn="l">
              <a:lnSpc>
                <a:spcPct val="125000"/>
              </a:lnSpc>
            </a:pPr>
            <a:r>
              <a:rPr sz="1200" b="1">
                <a:solidFill>
                  <a:srgbClr val="1E2761"/>
                </a:solidFill>
                <a:latin typeface="Calibri"/>
              </a:rPr>
              <a:t>4.  </a:t>
            </a:r>
            <a:r>
              <a:rPr sz="1150">
                <a:solidFill>
                  <a:srgbClr val="21295C"/>
                </a:solidFill>
                <a:latin typeface="Calibri"/>
              </a:rPr>
              <a:t>Same pattern for Conv2d: dW = correlation(x, dy), dx = full-conv(dy, W^T).</a:t>
            </a:r>
          </a:p>
          <a:p>
            <a:pPr algn="l">
              <a:lnSpc>
                <a:spcPct val="125000"/>
              </a:lnSpc>
            </a:pPr>
            <a:r>
              <a:rPr sz="1200" b="1">
                <a:solidFill>
                  <a:srgbClr val="1E2761"/>
                </a:solidFill>
                <a:latin typeface="Calibri"/>
              </a:rPr>
              <a:t>5.  </a:t>
            </a:r>
            <a:r>
              <a:rPr sz="1150">
                <a:solidFill>
                  <a:srgbClr val="21295C"/>
                </a:solidFill>
                <a:latin typeface="Calibri"/>
              </a:rPr>
              <a:t>Keep mask checks explicit — they are not optional for sparse training.</a:t>
            </a:r>
          </a:p>
        </p:txBody>
      </p:sp>
      <p:sp>
        <p:nvSpPr>
          <p:cNvPr id="11" name="Rectangle 10"/>
          <p:cNvSpPr/>
          <p:nvPr/>
        </p:nvSpPr>
        <p:spPr>
          <a:xfrm>
            <a:off x="457200" y="5532120"/>
            <a:ext cx="5303520" cy="502920"/>
          </a:xfrm>
          <a:prstGeom prst="rect">
            <a:avLst/>
          </a:prstGeom>
          <a:solidFill>
            <a:srgbClr val="F5F6FA"/>
          </a:solidFill>
          <a:ln w="9525">
            <a:solidFill>
              <a:srgbClr val="2C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568696"/>
            <a:ext cx="640080" cy="457200"/>
          </a:xfrm>
          <a:prstGeom prst="rect">
            <a:avLst/>
          </a:prstGeom>
          <a:noFill/>
        </p:spPr>
        <p:txBody>
          <a:bodyPr wrap="square" lIns="45720" rIns="45720" tIns="18288" bIns="18288" anchor="ctr">
            <a:spAutoFit/>
          </a:bodyPr>
          <a:lstStyle/>
          <a:p>
            <a:pPr algn="l">
              <a:lnSpc>
                <a:spcPct val="115000"/>
              </a:lnSpc>
            </a:pPr>
            <a:r>
              <a:rPr sz="1100" b="1" i="0">
                <a:solidFill>
                  <a:srgbClr val="2C7A4B"/>
                </a:solidFill>
                <a:latin typeface="Calibri"/>
              </a:rPr>
              <a:t>GATE</a:t>
            </a:r>
          </a:p>
        </p:txBody>
      </p:sp>
      <p:sp>
        <p:nvSpPr>
          <p:cNvPr id="13" name="TextBox 12"/>
          <p:cNvSpPr txBox="1"/>
          <p:nvPr/>
        </p:nvSpPr>
        <p:spPr>
          <a:xfrm>
            <a:off x="1234440" y="5532120"/>
            <a:ext cx="4480560" cy="502920"/>
          </a:xfrm>
          <a:prstGeom prst="rect">
            <a:avLst/>
          </a:prstGeom>
          <a:noFill/>
        </p:spPr>
        <p:txBody>
          <a:bodyPr wrap="square" lIns="45720" rIns="45720" tIns="18288" bIns="18288" anchor="ctr">
            <a:spAutoFit/>
          </a:bodyPr>
          <a:lstStyle/>
          <a:p>
            <a:pPr algn="l">
              <a:lnSpc>
                <a:spcPct val="115000"/>
              </a:lnSpc>
            </a:pPr>
            <a:r>
              <a:rPr sz="1150" b="0" i="0">
                <a:solidFill>
                  <a:srgbClr val="21295C"/>
                </a:solidFill>
                <a:latin typeface="Calibri"/>
              </a:rPr>
              <a:t>dW agrees with finite-difference within 1 LSB  ·  full backward chain rule verified.</a:t>
            </a:r>
          </a:p>
        </p:txBody>
      </p:sp>
      <p:sp>
        <p:nvSpPr>
          <p:cNvPr id="14" name="TextBox 13"/>
          <p:cNvSpPr txBox="1"/>
          <p:nvPr/>
        </p:nvSpPr>
        <p:spPr>
          <a:xfrm>
            <a:off x="6035040" y="2011680"/>
            <a:ext cx="566928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Algorithm</a:t>
            </a:r>
          </a:p>
        </p:txBody>
      </p:sp>
      <p:sp>
        <p:nvSpPr>
          <p:cNvPr id="15" name="Rectangle 14"/>
          <p:cNvSpPr/>
          <p:nvPr/>
        </p:nvSpPr>
        <p:spPr>
          <a:xfrm>
            <a:off x="6035040" y="2304288"/>
            <a:ext cx="5669280" cy="3931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377440"/>
            <a:ext cx="5449824" cy="3785616"/>
          </a:xfrm>
          <a:prstGeom prst="rect">
            <a:avLst/>
          </a:prstGeom>
          <a:noFill/>
        </p:spPr>
        <p:txBody>
          <a:bodyPr wrap="none" lIns="18288" tIns="0" bIns="0" anchor="t">
            <a:spAutoFit/>
          </a:bodyPr>
          <a:lstStyle/>
          <a:p>
            <a:pPr algn="l">
              <a:lnSpc>
                <a:spcPct val="105000"/>
              </a:lnSpc>
            </a:pPr>
            <a:r>
              <a:rPr sz="1050">
                <a:solidFill>
                  <a:srgbClr val="21295C"/>
                </a:solidFill>
                <a:latin typeface="Consolas"/>
              </a:rPr>
              <a:t>ALGORITHM  linear_backward</a:t>
            </a:r>
          </a:p>
          <a:p>
            <a:pPr algn="l">
              <a:lnSpc>
                <a:spcPct val="105000"/>
              </a:lnSpc>
            </a:pPr>
            <a:r>
              <a:rPr sz="1050">
                <a:solidFill>
                  <a:srgbClr val="21295C"/>
                </a:solidFill>
                <a:latin typeface="Consolas"/>
              </a:rPr>
              <a:t>INPUTS   :  L, x_in[fan_in], dy[fan_out]   (int8)</a:t>
            </a:r>
          </a:p>
          <a:p>
            <a:pPr algn="l">
              <a:lnSpc>
                <a:spcPct val="105000"/>
              </a:lnSpc>
            </a:pPr>
            <a:r>
              <a:rPr sz="1050">
                <a:solidFill>
                  <a:srgbClr val="21295C"/>
                </a:solidFill>
                <a:latin typeface="Consolas"/>
              </a:rPr>
              <a:t>OUTPUT   :  dW[fan_in*fan_out], dx[fan_in]  (int8)</a:t>
            </a:r>
          </a:p>
          <a:p>
            <a:pPr algn="l">
              <a:lnSpc>
                <a:spcPct val="105000"/>
              </a:lnSpc>
            </a:pPr>
            <a:r>
              <a:rPr sz="1050">
                <a:solidFill>
                  <a:srgbClr val="21295C"/>
                </a:solidFill>
                <a:latin typeface="Consolas"/>
              </a:rPr>
              <a:t>---------------------------------------------------</a:t>
            </a:r>
          </a:p>
          <a:p>
            <a:pPr algn="l">
              <a:lnSpc>
                <a:spcPct val="105000"/>
              </a:lnSpc>
            </a:pPr>
            <a:r>
              <a:rPr sz="1050">
                <a:solidFill>
                  <a:srgbClr val="21295C"/>
                </a:solidFill>
                <a:latin typeface="Consolas"/>
              </a:rPr>
              <a:t> // dW = x_in^T  outer  dy    (mask applied)</a:t>
            </a:r>
          </a:p>
          <a:p>
            <a:pPr algn="l">
              <a:lnSpc>
                <a:spcPct val="105000"/>
              </a:lnSpc>
            </a:pPr>
            <a:r>
              <a:rPr sz="1050">
                <a:solidFill>
                  <a:srgbClr val="21295C"/>
                </a:solidFill>
                <a:latin typeface="Consolas"/>
              </a:rPr>
              <a:t> 1.  for o = 0 .. fan_out-1:</a:t>
            </a:r>
          </a:p>
          <a:p>
            <a:pPr algn="l">
              <a:lnSpc>
                <a:spcPct val="105000"/>
              </a:lnSpc>
            </a:pPr>
            <a:r>
              <a:rPr sz="1050">
                <a:solidFill>
                  <a:srgbClr val="21295C"/>
                </a:solidFill>
                <a:latin typeface="Consolas"/>
              </a:rPr>
              <a:t> 2.       for i = 0 .. fan_in-1:</a:t>
            </a:r>
          </a:p>
          <a:p>
            <a:pPr algn="l">
              <a:lnSpc>
                <a:spcPct val="105000"/>
              </a:lnSpc>
            </a:pPr>
            <a:r>
              <a:rPr sz="1050">
                <a:solidFill>
                  <a:srgbClr val="21295C"/>
                </a:solidFill>
                <a:latin typeface="Consolas"/>
              </a:rPr>
              <a:t> 3.            idx &lt;- o*fan_in + i</a:t>
            </a:r>
          </a:p>
          <a:p>
            <a:pPr algn="l">
              <a:lnSpc>
                <a:spcPct val="105000"/>
              </a:lnSpc>
            </a:pPr>
            <a:r>
              <a:rPr sz="1050">
                <a:solidFill>
                  <a:srgbClr val="21295C"/>
                </a:solidFill>
                <a:latin typeface="Consolas"/>
              </a:rPr>
              <a:t> 4.            if NOT bit_get(M, idx):</a:t>
            </a:r>
          </a:p>
          <a:p>
            <a:pPr algn="l">
              <a:lnSpc>
                <a:spcPct val="105000"/>
              </a:lnSpc>
            </a:pPr>
            <a:r>
              <a:rPr sz="1050">
                <a:solidFill>
                  <a:srgbClr val="21295C"/>
                </a:solidFill>
                <a:latin typeface="Consolas"/>
              </a:rPr>
              <a:t> 5.                 dW[idx] &lt;- 0; continue</a:t>
            </a:r>
          </a:p>
          <a:p>
            <a:pPr algn="l">
              <a:lnSpc>
                <a:spcPct val="105000"/>
              </a:lnSpc>
            </a:pPr>
            <a:r>
              <a:rPr sz="1050">
                <a:solidFill>
                  <a:srgbClr val="21295C"/>
                </a:solidFill>
                <a:latin typeface="Consolas"/>
              </a:rPr>
              <a:t> 6.            a &lt;- (int32)x_in[i] * (int32)dy[o]</a:t>
            </a:r>
          </a:p>
          <a:p>
            <a:pPr algn="l">
              <a:lnSpc>
                <a:spcPct val="105000"/>
              </a:lnSpc>
            </a:pPr>
            <a:r>
              <a:rPr sz="1050">
                <a:solidFill>
                  <a:srgbClr val="21295C"/>
                </a:solidFill>
                <a:latin typeface="Consolas"/>
              </a:rPr>
              <a:t> 7.            dW[idx] &lt;- sat_int8( round( a *</a:t>
            </a:r>
          </a:p>
          <a:p>
            <a:pPr algn="l">
              <a:lnSpc>
                <a:spcPct val="105000"/>
              </a:lnSpc>
            </a:pPr>
            <a:r>
              <a:rPr sz="1050">
                <a:solidFill>
                  <a:srgbClr val="21295C"/>
                </a:solidFill>
                <a:latin typeface="Consolas"/>
              </a:rPr>
              <a:t>                                    s_a_in * s_g_out / s_w ) )</a:t>
            </a:r>
          </a:p>
          <a:p>
            <a:pPr algn="l">
              <a:lnSpc>
                <a:spcPct val="105000"/>
              </a:lnSpc>
            </a:pPr>
            <a:r>
              <a:rPr sz="1050">
                <a:solidFill>
                  <a:srgbClr val="21295C"/>
                </a:solidFill>
                <a:latin typeface="Consolas"/>
              </a:rPr>
              <a:t> </a:t>
            </a:r>
          </a:p>
          <a:p>
            <a:pPr algn="l">
              <a:lnSpc>
                <a:spcPct val="105000"/>
              </a:lnSpc>
            </a:pPr>
            <a:r>
              <a:rPr sz="1050">
                <a:solidFill>
                  <a:srgbClr val="21295C"/>
                </a:solidFill>
                <a:latin typeface="Consolas"/>
              </a:rPr>
              <a:t> // dx = dy  .  W^T            (mask applied)</a:t>
            </a:r>
          </a:p>
          <a:p>
            <a:pPr algn="l">
              <a:lnSpc>
                <a:spcPct val="105000"/>
              </a:lnSpc>
            </a:pPr>
            <a:r>
              <a:rPr sz="1050">
                <a:solidFill>
                  <a:srgbClr val="21295C"/>
                </a:solidFill>
                <a:latin typeface="Consolas"/>
              </a:rPr>
              <a:t> 8.  for i = 0 .. fan_in-1:</a:t>
            </a:r>
          </a:p>
          <a:p>
            <a:pPr algn="l">
              <a:lnSpc>
                <a:spcPct val="105000"/>
              </a:lnSpc>
            </a:pPr>
            <a:r>
              <a:rPr sz="1050">
                <a:solidFill>
                  <a:srgbClr val="21295C"/>
                </a:solidFill>
                <a:latin typeface="Consolas"/>
              </a:rPr>
              <a:t> 9.       acc &lt;- 0</a:t>
            </a:r>
          </a:p>
          <a:p>
            <a:pPr algn="l">
              <a:lnSpc>
                <a:spcPct val="105000"/>
              </a:lnSpc>
            </a:pPr>
            <a:r>
              <a:rPr sz="1050">
                <a:solidFill>
                  <a:srgbClr val="21295C"/>
                </a:solidFill>
                <a:latin typeface="Consolas"/>
              </a:rPr>
              <a:t>10.       for o = 0 .. fan_out-1:</a:t>
            </a:r>
          </a:p>
          <a:p>
            <a:pPr algn="l">
              <a:lnSpc>
                <a:spcPct val="105000"/>
              </a:lnSpc>
            </a:pPr>
            <a:r>
              <a:rPr sz="1050">
                <a:solidFill>
                  <a:srgbClr val="21295C"/>
                </a:solidFill>
                <a:latin typeface="Consolas"/>
              </a:rPr>
              <a:t>11.            idx &lt;- o*fan_in + i</a:t>
            </a:r>
          </a:p>
          <a:p>
            <a:pPr algn="l">
              <a:lnSpc>
                <a:spcPct val="105000"/>
              </a:lnSpc>
            </a:pPr>
            <a:r>
              <a:rPr sz="1050">
                <a:solidFill>
                  <a:srgbClr val="21295C"/>
                </a:solidFill>
                <a:latin typeface="Consolas"/>
              </a:rPr>
              <a:t>12.            if bit_get(M, idx):</a:t>
            </a:r>
          </a:p>
          <a:p>
            <a:pPr algn="l">
              <a:lnSpc>
                <a:spcPct val="105000"/>
              </a:lnSpc>
            </a:pPr>
            <a:r>
              <a:rPr sz="1050">
                <a:solidFill>
                  <a:srgbClr val="21295C"/>
                </a:solidFill>
                <a:latin typeface="Consolas"/>
              </a:rPr>
              <a:t>13.                 acc += (int32)dy[o] * (int32)W[idx]</a:t>
            </a:r>
          </a:p>
          <a:p>
            <a:pPr algn="l">
              <a:lnSpc>
                <a:spcPct val="105000"/>
              </a:lnSpc>
            </a:pPr>
            <a:r>
              <a:rPr sz="1050">
                <a:solidFill>
                  <a:srgbClr val="21295C"/>
                </a:solidFill>
                <a:latin typeface="Consolas"/>
              </a:rPr>
              <a:t>14.       dx[i] &lt;- sat_int8( round( acc *</a:t>
            </a:r>
          </a:p>
          <a:p>
            <a:pPr algn="l">
              <a:lnSpc>
                <a:spcPct val="105000"/>
              </a:lnSpc>
            </a:pPr>
            <a:r>
              <a:rPr sz="1050">
                <a:solidFill>
                  <a:srgbClr val="21295C"/>
                </a:solidFill>
                <a:latin typeface="Consolas"/>
              </a:rPr>
              <a:t>                                s_w * s_g_out / s_g_in ) )</a:t>
            </a:r>
          </a:p>
          <a:p>
            <a:pPr algn="l">
              <a:lnSpc>
                <a:spcPct val="105000"/>
              </a:lnSpc>
            </a:pPr>
            <a:r>
              <a:rPr sz="1050">
                <a:solidFill>
                  <a:srgbClr val="21295C"/>
                </a:solidFill>
                <a:latin typeface="Consolas"/>
              </a:rPr>
              <a:t> </a:t>
            </a:r>
          </a:p>
        </p:txBody>
      </p:sp>
      <p:sp>
        <p:nvSpPr>
          <p:cNvPr id="17" name="TextBox 16"/>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8" name="TextBox 17"/>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C4  ·  HOST PC</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SGD with momentum + FQT partial update</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Goal: integer-step optimizer that updates only top-k gradients.</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Purpose</a:t>
            </a:r>
          </a:p>
        </p:txBody>
      </p:sp>
      <p:sp>
        <p:nvSpPr>
          <p:cNvPr id="8" name="TextBox 7"/>
          <p:cNvSpPr txBox="1"/>
          <p:nvPr/>
        </p:nvSpPr>
        <p:spPr>
          <a:xfrm>
            <a:off x="457200" y="2304288"/>
            <a:ext cx="5303520" cy="1463040"/>
          </a:xfrm>
          <a:prstGeom prst="rect">
            <a:avLst/>
          </a:prstGeom>
          <a:noFill/>
        </p:spPr>
        <p:txBody>
          <a:bodyPr wrap="square" lIns="45720" rIns="45720" tIns="18288" bIns="18288" anchor="t">
            <a:spAutoFit/>
          </a:bodyPr>
          <a:lstStyle/>
          <a:p>
            <a:pPr algn="l">
              <a:lnSpc>
                <a:spcPct val="125000"/>
              </a:lnSpc>
            </a:pPr>
            <a:r>
              <a:rPr sz="1250" b="0" i="0">
                <a:solidFill>
                  <a:srgbClr val="21295C"/>
                </a:solidFill>
                <a:latin typeface="Calibri"/>
              </a:rPr>
              <a:t>FQT's headline ~49% latency win comes from writing only the top-k weights per step, not all of them. We implement SGD-with-momentum in integer steps and a bounded min-heap that selects the kappa * |active| largest |dW| entries per layer. Updates are in-place against the int8 W tensor.</a:t>
            </a:r>
          </a:p>
        </p:txBody>
      </p:sp>
      <p:sp>
        <p:nvSpPr>
          <p:cNvPr id="9" name="TextBox 8"/>
          <p:cNvSpPr txBox="1"/>
          <p:nvPr/>
        </p:nvSpPr>
        <p:spPr>
          <a:xfrm>
            <a:off x="457200" y="38404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How to start</a:t>
            </a:r>
          </a:p>
        </p:txBody>
      </p:sp>
      <p:sp>
        <p:nvSpPr>
          <p:cNvPr id="10" name="TextBox 9"/>
          <p:cNvSpPr txBox="1"/>
          <p:nvPr/>
        </p:nvSpPr>
        <p:spPr>
          <a:xfrm>
            <a:off x="457200" y="4133088"/>
            <a:ext cx="5303520" cy="1737360"/>
          </a:xfrm>
          <a:prstGeom prst="rect">
            <a:avLst/>
          </a:prstGeom>
          <a:noFill/>
        </p:spPr>
        <p:txBody>
          <a:bodyPr wrap="square" lIns="0" rIns="0">
            <a:spAutoFit/>
          </a:bodyPr>
          <a:lstStyle/>
          <a:p>
            <a:pPr algn="l">
              <a:lnSpc>
                <a:spcPct val="125000"/>
              </a:lnSpc>
            </a:pPr>
            <a:r>
              <a:rPr sz="1200" b="1">
                <a:solidFill>
                  <a:srgbClr val="1E2761"/>
                </a:solidFill>
                <a:latin typeface="Calibri"/>
              </a:rPr>
              <a:t>1.  </a:t>
            </a:r>
            <a:r>
              <a:rPr sz="1150">
                <a:solidFill>
                  <a:srgbClr val="21295C"/>
                </a:solidFill>
                <a:latin typeface="Calibri"/>
              </a:rPr>
              <a:t>Implement a bounded min-heap (parent/child arithmetic) — ~50 lines of C.</a:t>
            </a:r>
          </a:p>
          <a:p>
            <a:pPr algn="l">
              <a:lnSpc>
                <a:spcPct val="125000"/>
              </a:lnSpc>
            </a:pPr>
            <a:r>
              <a:rPr sz="1200" b="1">
                <a:solidFill>
                  <a:srgbClr val="1E2761"/>
                </a:solidFill>
                <a:latin typeface="Calibri"/>
              </a:rPr>
              <a:t>2.  </a:t>
            </a:r>
            <a:r>
              <a:rPr sz="1150">
                <a:solidFill>
                  <a:srgbClr val="21295C"/>
                </a:solidFill>
                <a:latin typeface="Calibri"/>
              </a:rPr>
              <a:t>Unit-test the heap on random inputs against qsort's top-k.</a:t>
            </a:r>
          </a:p>
          <a:p>
            <a:pPr algn="l">
              <a:lnSpc>
                <a:spcPct val="125000"/>
              </a:lnSpc>
            </a:pPr>
            <a:r>
              <a:rPr sz="1200" b="1">
                <a:solidFill>
                  <a:srgbClr val="1E2761"/>
                </a:solidFill>
                <a:latin typeface="Calibri"/>
              </a:rPr>
              <a:t>3.  </a:t>
            </a:r>
            <a:r>
              <a:rPr sz="1150">
                <a:solidFill>
                  <a:srgbClr val="21295C"/>
                </a:solidFill>
                <a:latin typeface="Calibri"/>
              </a:rPr>
              <a:t>Wire the heap into fqt_partial_update; test on a known dW.</a:t>
            </a:r>
          </a:p>
          <a:p>
            <a:pPr algn="l">
              <a:lnSpc>
                <a:spcPct val="125000"/>
              </a:lnSpc>
            </a:pPr>
            <a:r>
              <a:rPr sz="1200" b="1">
                <a:solidFill>
                  <a:srgbClr val="1E2761"/>
                </a:solidFill>
                <a:latin typeface="Calibri"/>
              </a:rPr>
              <a:t>4.  </a:t>
            </a:r>
            <a:r>
              <a:rPr sz="1150">
                <a:solidFill>
                  <a:srgbClr val="21295C"/>
                </a:solidFill>
                <a:latin typeface="Calibri"/>
              </a:rPr>
              <a:t>Add momentum as an int8 velocity buffer per layer.</a:t>
            </a:r>
          </a:p>
          <a:p>
            <a:pPr algn="l">
              <a:lnSpc>
                <a:spcPct val="125000"/>
              </a:lnSpc>
            </a:pPr>
            <a:r>
              <a:rPr sz="1200" b="1">
                <a:solidFill>
                  <a:srgbClr val="1E2761"/>
                </a:solidFill>
                <a:latin typeface="Calibri"/>
              </a:rPr>
              <a:t>5.  </a:t>
            </a:r>
            <a:r>
              <a:rPr sz="1150">
                <a:solidFill>
                  <a:srgbClr val="21295C"/>
                </a:solidFill>
                <a:latin typeface="Calibri"/>
              </a:rPr>
              <a:t>Set kappa=1.0 first to debug, then drop to 0.1 (Deutel's value).</a:t>
            </a:r>
          </a:p>
        </p:txBody>
      </p:sp>
      <p:sp>
        <p:nvSpPr>
          <p:cNvPr id="11" name="Rectangle 10"/>
          <p:cNvSpPr/>
          <p:nvPr/>
        </p:nvSpPr>
        <p:spPr>
          <a:xfrm>
            <a:off x="457200" y="5532120"/>
            <a:ext cx="5303520" cy="502920"/>
          </a:xfrm>
          <a:prstGeom prst="rect">
            <a:avLst/>
          </a:prstGeom>
          <a:solidFill>
            <a:srgbClr val="F5F6FA"/>
          </a:solidFill>
          <a:ln w="9525">
            <a:solidFill>
              <a:srgbClr val="2C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568696"/>
            <a:ext cx="640080" cy="457200"/>
          </a:xfrm>
          <a:prstGeom prst="rect">
            <a:avLst/>
          </a:prstGeom>
          <a:noFill/>
        </p:spPr>
        <p:txBody>
          <a:bodyPr wrap="square" lIns="45720" rIns="45720" tIns="18288" bIns="18288" anchor="ctr">
            <a:spAutoFit/>
          </a:bodyPr>
          <a:lstStyle/>
          <a:p>
            <a:pPr algn="l">
              <a:lnSpc>
                <a:spcPct val="115000"/>
              </a:lnSpc>
            </a:pPr>
            <a:r>
              <a:rPr sz="1100" b="1" i="0">
                <a:solidFill>
                  <a:srgbClr val="2C7A4B"/>
                </a:solidFill>
                <a:latin typeface="Calibri"/>
              </a:rPr>
              <a:t>GATE</a:t>
            </a:r>
          </a:p>
        </p:txBody>
      </p:sp>
      <p:sp>
        <p:nvSpPr>
          <p:cNvPr id="13" name="TextBox 12"/>
          <p:cNvSpPr txBox="1"/>
          <p:nvPr/>
        </p:nvSpPr>
        <p:spPr>
          <a:xfrm>
            <a:off x="1234440" y="5532120"/>
            <a:ext cx="4480560" cy="502920"/>
          </a:xfrm>
          <a:prstGeom prst="rect">
            <a:avLst/>
          </a:prstGeom>
          <a:noFill/>
        </p:spPr>
        <p:txBody>
          <a:bodyPr wrap="square" lIns="45720" rIns="45720" tIns="18288" bIns="18288" anchor="ctr">
            <a:spAutoFit/>
          </a:bodyPr>
          <a:lstStyle/>
          <a:p>
            <a:pPr algn="l">
              <a:lnSpc>
                <a:spcPct val="115000"/>
              </a:lnSpc>
            </a:pPr>
            <a:r>
              <a:rPr sz="1150" b="0" i="0">
                <a:solidFill>
                  <a:srgbClr val="21295C"/>
                </a:solidFill>
                <a:latin typeface="Calibri"/>
              </a:rPr>
              <a:t>On a static dW input, partial update modifies exactly k weights and matches a brute-force top-k reference.</a:t>
            </a:r>
          </a:p>
        </p:txBody>
      </p:sp>
      <p:sp>
        <p:nvSpPr>
          <p:cNvPr id="14" name="TextBox 13"/>
          <p:cNvSpPr txBox="1"/>
          <p:nvPr/>
        </p:nvSpPr>
        <p:spPr>
          <a:xfrm>
            <a:off x="6035040" y="2011680"/>
            <a:ext cx="566928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Algorithm</a:t>
            </a:r>
          </a:p>
        </p:txBody>
      </p:sp>
      <p:sp>
        <p:nvSpPr>
          <p:cNvPr id="15" name="Rectangle 14"/>
          <p:cNvSpPr/>
          <p:nvPr/>
        </p:nvSpPr>
        <p:spPr>
          <a:xfrm>
            <a:off x="6035040" y="2304288"/>
            <a:ext cx="5669280" cy="3931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377440"/>
            <a:ext cx="5449824" cy="3785616"/>
          </a:xfrm>
          <a:prstGeom prst="rect">
            <a:avLst/>
          </a:prstGeom>
          <a:noFill/>
        </p:spPr>
        <p:txBody>
          <a:bodyPr wrap="none" lIns="18288" tIns="0" bIns="0" anchor="t">
            <a:spAutoFit/>
          </a:bodyPr>
          <a:lstStyle/>
          <a:p>
            <a:pPr algn="l">
              <a:lnSpc>
                <a:spcPct val="105000"/>
              </a:lnSpc>
            </a:pPr>
            <a:r>
              <a:rPr sz="1050">
                <a:solidFill>
                  <a:srgbClr val="21295C"/>
                </a:solidFill>
                <a:latin typeface="Consolas"/>
              </a:rPr>
              <a:t>ALGORITHM  fqt_partial_update</a:t>
            </a:r>
          </a:p>
          <a:p>
            <a:pPr algn="l">
              <a:lnSpc>
                <a:spcPct val="105000"/>
              </a:lnSpc>
            </a:pPr>
            <a:r>
              <a:rPr sz="1050">
                <a:solidFill>
                  <a:srgbClr val="21295C"/>
                </a:solidFill>
                <a:latin typeface="Consolas"/>
              </a:rPr>
              <a:t>INPUTS   :  L (W, M, s_w, s_a_in), dW[N],</a:t>
            </a:r>
          </a:p>
          <a:p>
            <a:pPr algn="l">
              <a:lnSpc>
                <a:spcPct val="105000"/>
              </a:lnSpc>
            </a:pPr>
            <a:r>
              <a:rPr sz="1050">
                <a:solidFill>
                  <a:srgbClr val="21295C"/>
                </a:solidFill>
                <a:latin typeface="Consolas"/>
              </a:rPr>
              <a:t>            eta (lr), kappa (top-k fraction)</a:t>
            </a:r>
          </a:p>
          <a:p>
            <a:pPr algn="l">
              <a:lnSpc>
                <a:spcPct val="105000"/>
              </a:lnSpc>
            </a:pPr>
            <a:r>
              <a:rPr sz="1050">
                <a:solidFill>
                  <a:srgbClr val="21295C"/>
                </a:solidFill>
                <a:latin typeface="Consolas"/>
              </a:rPr>
              <a:t>OUTPUT   :  W mutated in place</a:t>
            </a:r>
          </a:p>
          <a:p>
            <a:pPr algn="l">
              <a:lnSpc>
                <a:spcPct val="105000"/>
              </a:lnSpc>
            </a:pPr>
            <a:r>
              <a:rPr sz="1050">
                <a:solidFill>
                  <a:srgbClr val="21295C"/>
                </a:solidFill>
                <a:latin typeface="Consolas"/>
              </a:rPr>
              <a:t>---------------------------------------------------</a:t>
            </a:r>
          </a:p>
          <a:p>
            <a:pPr algn="l">
              <a:lnSpc>
                <a:spcPct val="105000"/>
              </a:lnSpc>
            </a:pPr>
            <a:r>
              <a:rPr sz="1050">
                <a:solidFill>
                  <a:srgbClr val="21295C"/>
                </a:solidFill>
                <a:latin typeface="Consolas"/>
              </a:rPr>
              <a:t> 1.  active  &lt;-  popcount_bits(L.M)</a:t>
            </a:r>
          </a:p>
          <a:p>
            <a:pPr algn="l">
              <a:lnSpc>
                <a:spcPct val="105000"/>
              </a:lnSpc>
            </a:pPr>
            <a:r>
              <a:rPr sz="1050">
                <a:solidFill>
                  <a:srgbClr val="21295C"/>
                </a:solidFill>
                <a:latin typeface="Consolas"/>
              </a:rPr>
              <a:t> 2.  k       &lt;-  floor(kappa * active)</a:t>
            </a:r>
          </a:p>
          <a:p>
            <a:pPr algn="l">
              <a:lnSpc>
                <a:spcPct val="105000"/>
              </a:lnSpc>
            </a:pPr>
            <a:r>
              <a:rPr sz="1050">
                <a:solidFill>
                  <a:srgbClr val="21295C"/>
                </a:solidFill>
                <a:latin typeface="Consolas"/>
              </a:rPr>
              <a:t> 3.  heap_init(H, capacity=k)        // min-heap on |dW|</a:t>
            </a:r>
          </a:p>
          <a:p>
            <a:pPr algn="l">
              <a:lnSpc>
                <a:spcPct val="105000"/>
              </a:lnSpc>
            </a:pPr>
            <a:r>
              <a:rPr sz="1050">
                <a:solidFill>
                  <a:srgbClr val="21295C"/>
                </a:solidFill>
                <a:latin typeface="Consolas"/>
              </a:rPr>
              <a:t> 4.  for i = 0 .. N-1:</a:t>
            </a:r>
          </a:p>
          <a:p>
            <a:pPr algn="l">
              <a:lnSpc>
                <a:spcPct val="105000"/>
              </a:lnSpc>
            </a:pPr>
            <a:r>
              <a:rPr sz="1050">
                <a:solidFill>
                  <a:srgbClr val="21295C"/>
                </a:solidFill>
                <a:latin typeface="Consolas"/>
              </a:rPr>
              <a:t> 5.       if bit_get(L.M, i):</a:t>
            </a:r>
          </a:p>
          <a:p>
            <a:pPr algn="l">
              <a:lnSpc>
                <a:spcPct val="105000"/>
              </a:lnSpc>
            </a:pPr>
            <a:r>
              <a:rPr sz="1050">
                <a:solidFill>
                  <a:srgbClr val="21295C"/>
                </a:solidFill>
                <a:latin typeface="Consolas"/>
              </a:rPr>
              <a:t> 6.            heap_push(H, idx=i, key=|dW[i]|)</a:t>
            </a:r>
          </a:p>
          <a:p>
            <a:pPr algn="l">
              <a:lnSpc>
                <a:spcPct val="105000"/>
              </a:lnSpc>
            </a:pPr>
            <a:r>
              <a:rPr sz="1050">
                <a:solidFill>
                  <a:srgbClr val="21295C"/>
                </a:solidFill>
                <a:latin typeface="Consolas"/>
              </a:rPr>
              <a:t>                                        // pops smaller when full</a:t>
            </a:r>
          </a:p>
          <a:p>
            <a:pPr algn="l">
              <a:lnSpc>
                <a:spcPct val="105000"/>
              </a:lnSpc>
            </a:pPr>
            <a:r>
              <a:rPr sz="1050">
                <a:solidFill>
                  <a:srgbClr val="21295C"/>
                </a:solidFill>
                <a:latin typeface="Consolas"/>
              </a:rPr>
              <a:t> 7.  // H now holds the k indices with the largest |dW|</a:t>
            </a:r>
          </a:p>
          <a:p>
            <a:pPr algn="l">
              <a:lnSpc>
                <a:spcPct val="105000"/>
              </a:lnSpc>
            </a:pPr>
            <a:r>
              <a:rPr sz="1050">
                <a:solidFill>
                  <a:srgbClr val="21295C"/>
                </a:solidFill>
                <a:latin typeface="Consolas"/>
              </a:rPr>
              <a:t> 8.  for j = 0 .. H.size-1:</a:t>
            </a:r>
          </a:p>
          <a:p>
            <a:pPr algn="l">
              <a:lnSpc>
                <a:spcPct val="105000"/>
              </a:lnSpc>
            </a:pPr>
            <a:r>
              <a:rPr sz="1050">
                <a:solidFill>
                  <a:srgbClr val="21295C"/>
                </a:solidFill>
                <a:latin typeface="Consolas"/>
              </a:rPr>
              <a:t> 9.       idx  &lt;-  H.idx[j]</a:t>
            </a:r>
          </a:p>
          <a:p>
            <a:pPr algn="l">
              <a:lnSpc>
                <a:spcPct val="105000"/>
              </a:lnSpc>
            </a:pPr>
            <a:r>
              <a:rPr sz="1050">
                <a:solidFill>
                  <a:srgbClr val="21295C"/>
                </a:solidFill>
                <a:latin typeface="Consolas"/>
              </a:rPr>
              <a:t>10.       step &lt;-  round( eta * dW[idx] * s_w / s_a_in )</a:t>
            </a:r>
          </a:p>
          <a:p>
            <a:pPr algn="l">
              <a:lnSpc>
                <a:spcPct val="105000"/>
              </a:lnSpc>
            </a:pPr>
            <a:r>
              <a:rPr sz="1050">
                <a:solidFill>
                  <a:srgbClr val="21295C"/>
                </a:solidFill>
                <a:latin typeface="Consolas"/>
              </a:rPr>
              <a:t>11.       W[idx] &lt;- sat_int8( (int32)W[idx] - step )</a:t>
            </a:r>
          </a:p>
          <a:p>
            <a:pPr algn="l">
              <a:lnSpc>
                <a:spcPct val="105000"/>
              </a:lnSpc>
            </a:pPr>
            <a:r>
              <a:rPr sz="1050">
                <a:solidFill>
                  <a:srgbClr val="21295C"/>
                </a:solidFill>
                <a:latin typeface="Consolas"/>
              </a:rPr>
              <a:t> </a:t>
            </a:r>
          </a:p>
          <a:p>
            <a:pPr algn="l">
              <a:lnSpc>
                <a:spcPct val="105000"/>
              </a:lnSpc>
            </a:pPr>
            <a:r>
              <a:rPr sz="1050">
                <a:solidFill>
                  <a:srgbClr val="21295C"/>
                </a:solidFill>
                <a:latin typeface="Consolas"/>
              </a:rPr>
              <a:t>MOMENTUM (per-layer int8 velocity buffer V[N]):</a:t>
            </a:r>
          </a:p>
          <a:p>
            <a:pPr algn="l">
              <a:lnSpc>
                <a:spcPct val="105000"/>
              </a:lnSpc>
            </a:pPr>
            <a:r>
              <a:rPr sz="1050">
                <a:solidFill>
                  <a:srgbClr val="21295C"/>
                </a:solidFill>
                <a:latin typeface="Consolas"/>
              </a:rPr>
              <a:t>  V[idx] &lt;- sat_int8( mu * V[idx] + dW[idx] )</a:t>
            </a:r>
          </a:p>
          <a:p>
            <a:pPr algn="l">
              <a:lnSpc>
                <a:spcPct val="105000"/>
              </a:lnSpc>
            </a:pPr>
            <a:r>
              <a:rPr sz="1050">
                <a:solidFill>
                  <a:srgbClr val="21295C"/>
                </a:solidFill>
                <a:latin typeface="Consolas"/>
              </a:rPr>
              <a:t>  use V in place of dW at line 10</a:t>
            </a:r>
          </a:p>
          <a:p>
            <a:pPr algn="l">
              <a:lnSpc>
                <a:spcPct val="105000"/>
              </a:lnSpc>
            </a:pPr>
            <a:r>
              <a:rPr sz="1050">
                <a:solidFill>
                  <a:srgbClr val="21295C"/>
                </a:solidFill>
                <a:latin typeface="Consolas"/>
              </a:rPr>
              <a:t> </a:t>
            </a:r>
          </a:p>
        </p:txBody>
      </p:sp>
      <p:sp>
        <p:nvSpPr>
          <p:cNvPr id="17" name="TextBox 16"/>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8" name="TextBox 17"/>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C5  ·  HOST PC</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RigL mask manager — ER-K init, cosine drop, prune-and-grow</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Goal: dynamic sparse mask that evolves during training.</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Purpose</a:t>
            </a:r>
          </a:p>
        </p:txBody>
      </p:sp>
      <p:sp>
        <p:nvSpPr>
          <p:cNvPr id="8" name="TextBox 7"/>
          <p:cNvSpPr txBox="1"/>
          <p:nvPr/>
        </p:nvSpPr>
        <p:spPr>
          <a:xfrm>
            <a:off x="457200" y="2304288"/>
            <a:ext cx="5303520" cy="1463040"/>
          </a:xfrm>
          <a:prstGeom prst="rect">
            <a:avLst/>
          </a:prstGeom>
          <a:noFill/>
        </p:spPr>
        <p:txBody>
          <a:bodyPr wrap="square" lIns="45720" rIns="45720" tIns="18288" bIns="18288" anchor="t">
            <a:spAutoFit/>
          </a:bodyPr>
          <a:lstStyle/>
          <a:p>
            <a:pPr algn="l">
              <a:lnSpc>
                <a:spcPct val="125000"/>
              </a:lnSpc>
            </a:pPr>
            <a:r>
              <a:rPr sz="1250" b="0" i="0">
                <a:solidFill>
                  <a:srgbClr val="21295C"/>
                </a:solidFill>
                <a:latin typeface="Calibri"/>
              </a:rPr>
              <a:t>RigL is what turns a static-sparsity model into one that finds its own topology. The mask manager owns ER-K initialization (denser big layers, sparser small ones), a cosine schedule for the drop fraction, and a two-heap drop-and-grow operation every dT iterations until t_end.</a:t>
            </a:r>
          </a:p>
        </p:txBody>
      </p:sp>
      <p:sp>
        <p:nvSpPr>
          <p:cNvPr id="9" name="TextBox 8"/>
          <p:cNvSpPr txBox="1"/>
          <p:nvPr/>
        </p:nvSpPr>
        <p:spPr>
          <a:xfrm>
            <a:off x="457200" y="38404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How to start</a:t>
            </a:r>
          </a:p>
        </p:txBody>
      </p:sp>
      <p:sp>
        <p:nvSpPr>
          <p:cNvPr id="10" name="TextBox 9"/>
          <p:cNvSpPr txBox="1"/>
          <p:nvPr/>
        </p:nvSpPr>
        <p:spPr>
          <a:xfrm>
            <a:off x="457200" y="4133088"/>
            <a:ext cx="5303520" cy="1737360"/>
          </a:xfrm>
          <a:prstGeom prst="rect">
            <a:avLst/>
          </a:prstGeom>
          <a:noFill/>
        </p:spPr>
        <p:txBody>
          <a:bodyPr wrap="square" lIns="0" rIns="0">
            <a:spAutoFit/>
          </a:bodyPr>
          <a:lstStyle/>
          <a:p>
            <a:pPr algn="l">
              <a:lnSpc>
                <a:spcPct val="125000"/>
              </a:lnSpc>
            </a:pPr>
            <a:r>
              <a:rPr sz="1200" b="1">
                <a:solidFill>
                  <a:srgbClr val="1E2761"/>
                </a:solidFill>
                <a:latin typeface="Calibri"/>
              </a:rPr>
              <a:t>1.  </a:t>
            </a:r>
            <a:r>
              <a:rPr sz="1150">
                <a:solidFill>
                  <a:srgbClr val="21295C"/>
                </a:solidFill>
                <a:latin typeface="Calibri"/>
              </a:rPr>
              <a:t>Implement ER-K init: density per layer + random bit pattern + W *= M.</a:t>
            </a:r>
          </a:p>
          <a:p>
            <a:pPr algn="l">
              <a:lnSpc>
                <a:spcPct val="125000"/>
              </a:lnSpc>
            </a:pPr>
            <a:r>
              <a:rPr sz="1200" b="1">
                <a:solidFill>
                  <a:srgbClr val="1E2761"/>
                </a:solidFill>
                <a:latin typeface="Calibri"/>
              </a:rPr>
              <a:t>2.  </a:t>
            </a:r>
            <a:r>
              <a:rPr sz="1150">
                <a:solidFill>
                  <a:srgbClr val="21295C"/>
                </a:solidFill>
                <a:latin typeface="Calibri"/>
              </a:rPr>
              <a:t>Cosine schedule as a single math function: f_t.</a:t>
            </a:r>
          </a:p>
          <a:p>
            <a:pPr algn="l">
              <a:lnSpc>
                <a:spcPct val="125000"/>
              </a:lnSpc>
            </a:pPr>
            <a:r>
              <a:rPr sz="1200" b="1">
                <a:solidFill>
                  <a:srgbClr val="1E2761"/>
                </a:solidFill>
                <a:latin typeface="Calibri"/>
              </a:rPr>
              <a:t>3.  </a:t>
            </a:r>
            <a:r>
              <a:rPr sz="1150">
                <a:solidFill>
                  <a:srgbClr val="21295C"/>
                </a:solidFill>
                <a:latin typeface="Calibri"/>
              </a:rPr>
              <a:t>Reuse the bounded heap from C4 for drop and grow with min/max variants.</a:t>
            </a:r>
          </a:p>
          <a:p>
            <a:pPr algn="l">
              <a:lnSpc>
                <a:spcPct val="125000"/>
              </a:lnSpc>
            </a:pPr>
            <a:r>
              <a:rPr sz="1200" b="1">
                <a:solidFill>
                  <a:srgbClr val="1E2761"/>
                </a:solidFill>
                <a:latin typeface="Calibri"/>
              </a:rPr>
              <a:t>4.  </a:t>
            </a:r>
            <a:r>
              <a:rPr sz="1150">
                <a:solidFill>
                  <a:srgbClr val="21295C"/>
                </a:solidFill>
                <a:latin typeface="Calibri"/>
              </a:rPr>
              <a:t>Test on a 2-layer model — print active count before/after a refresh.</a:t>
            </a:r>
          </a:p>
          <a:p>
            <a:pPr algn="l">
              <a:lnSpc>
                <a:spcPct val="125000"/>
              </a:lnSpc>
            </a:pPr>
            <a:r>
              <a:rPr sz="1200" b="1">
                <a:solidFill>
                  <a:srgbClr val="1E2761"/>
                </a:solidFill>
                <a:latin typeface="Calibri"/>
              </a:rPr>
              <a:t>5.  </a:t>
            </a:r>
            <a:r>
              <a:rPr sz="1150">
                <a:solidFill>
                  <a:srgbClr val="21295C"/>
                </a:solidFill>
                <a:latin typeface="Calibri"/>
              </a:rPr>
              <a:t>Verify |drop| == |grow| so sparsity stays exact.</a:t>
            </a:r>
          </a:p>
        </p:txBody>
      </p:sp>
      <p:sp>
        <p:nvSpPr>
          <p:cNvPr id="11" name="Rectangle 10"/>
          <p:cNvSpPr/>
          <p:nvPr/>
        </p:nvSpPr>
        <p:spPr>
          <a:xfrm>
            <a:off x="457200" y="5532120"/>
            <a:ext cx="5303520" cy="502920"/>
          </a:xfrm>
          <a:prstGeom prst="rect">
            <a:avLst/>
          </a:prstGeom>
          <a:solidFill>
            <a:srgbClr val="F5F6FA"/>
          </a:solidFill>
          <a:ln w="9525">
            <a:solidFill>
              <a:srgbClr val="2C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568696"/>
            <a:ext cx="640080" cy="457200"/>
          </a:xfrm>
          <a:prstGeom prst="rect">
            <a:avLst/>
          </a:prstGeom>
          <a:noFill/>
        </p:spPr>
        <p:txBody>
          <a:bodyPr wrap="square" lIns="45720" rIns="45720" tIns="18288" bIns="18288" anchor="ctr">
            <a:spAutoFit/>
          </a:bodyPr>
          <a:lstStyle/>
          <a:p>
            <a:pPr algn="l">
              <a:lnSpc>
                <a:spcPct val="115000"/>
              </a:lnSpc>
            </a:pPr>
            <a:r>
              <a:rPr sz="1100" b="1" i="0">
                <a:solidFill>
                  <a:srgbClr val="2C7A4B"/>
                </a:solidFill>
                <a:latin typeface="Calibri"/>
              </a:rPr>
              <a:t>GATE</a:t>
            </a:r>
          </a:p>
        </p:txBody>
      </p:sp>
      <p:sp>
        <p:nvSpPr>
          <p:cNvPr id="13" name="TextBox 12"/>
          <p:cNvSpPr txBox="1"/>
          <p:nvPr/>
        </p:nvSpPr>
        <p:spPr>
          <a:xfrm>
            <a:off x="1234440" y="5532120"/>
            <a:ext cx="4480560" cy="502920"/>
          </a:xfrm>
          <a:prstGeom prst="rect">
            <a:avLst/>
          </a:prstGeom>
          <a:noFill/>
        </p:spPr>
        <p:txBody>
          <a:bodyPr wrap="square" lIns="45720" rIns="45720" tIns="18288" bIns="18288" anchor="ctr">
            <a:spAutoFit/>
          </a:bodyPr>
          <a:lstStyle/>
          <a:p>
            <a:pPr algn="l">
              <a:lnSpc>
                <a:spcPct val="115000"/>
              </a:lnSpc>
            </a:pPr>
            <a:r>
              <a:rPr sz="1150" b="0" i="0">
                <a:solidFill>
                  <a:srgbClr val="21295C"/>
                </a:solidFill>
                <a:latin typeface="Calibri"/>
              </a:rPr>
              <a:t>Mask churn equals planned k each refresh, sparsity stays constant, new W slots are exactly zero.</a:t>
            </a:r>
          </a:p>
        </p:txBody>
      </p:sp>
      <p:sp>
        <p:nvSpPr>
          <p:cNvPr id="14" name="TextBox 13"/>
          <p:cNvSpPr txBox="1"/>
          <p:nvPr/>
        </p:nvSpPr>
        <p:spPr>
          <a:xfrm>
            <a:off x="6035040" y="2011680"/>
            <a:ext cx="566928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Algorithm</a:t>
            </a:r>
          </a:p>
        </p:txBody>
      </p:sp>
      <p:sp>
        <p:nvSpPr>
          <p:cNvPr id="15" name="Rectangle 14"/>
          <p:cNvSpPr/>
          <p:nvPr/>
        </p:nvSpPr>
        <p:spPr>
          <a:xfrm>
            <a:off x="6035040" y="2304288"/>
            <a:ext cx="5669280" cy="3931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377440"/>
            <a:ext cx="5449824" cy="3785616"/>
          </a:xfrm>
          <a:prstGeom prst="rect">
            <a:avLst/>
          </a:prstGeom>
          <a:noFill/>
        </p:spPr>
        <p:txBody>
          <a:bodyPr wrap="none" lIns="18288" tIns="0" bIns="0" anchor="t">
            <a:spAutoFit/>
          </a:bodyPr>
          <a:lstStyle/>
          <a:p>
            <a:pPr algn="l">
              <a:lnSpc>
                <a:spcPct val="105000"/>
              </a:lnSpc>
            </a:pPr>
            <a:r>
              <a:rPr sz="1050">
                <a:solidFill>
                  <a:srgbClr val="21295C"/>
                </a:solidFill>
                <a:latin typeface="Consolas"/>
              </a:rPr>
              <a:t>ALGORITHM  rigl_update     (called when t mod dT == 0, t &lt; T_end)</a:t>
            </a:r>
          </a:p>
          <a:p>
            <a:pPr algn="l">
              <a:lnSpc>
                <a:spcPct val="105000"/>
              </a:lnSpc>
            </a:pPr>
            <a:r>
              <a:rPr sz="1050">
                <a:solidFill>
                  <a:srgbClr val="21295C"/>
                </a:solidFill>
                <a:latin typeface="Consolas"/>
              </a:rPr>
              <a:t>INPUTS   :  L, g_dense[N], drop_frac</a:t>
            </a:r>
          </a:p>
          <a:p>
            <a:pPr algn="l">
              <a:lnSpc>
                <a:spcPct val="105000"/>
              </a:lnSpc>
            </a:pPr>
            <a:r>
              <a:rPr sz="1050">
                <a:solidFill>
                  <a:srgbClr val="21295C"/>
                </a:solidFill>
                <a:latin typeface="Consolas"/>
              </a:rPr>
              <a:t>OUTPUT   :  L.M and L.W mutated</a:t>
            </a:r>
          </a:p>
          <a:p>
            <a:pPr algn="l">
              <a:lnSpc>
                <a:spcPct val="105000"/>
              </a:lnSpc>
            </a:pPr>
            <a:r>
              <a:rPr sz="1050">
                <a:solidFill>
                  <a:srgbClr val="21295C"/>
                </a:solidFill>
                <a:latin typeface="Consolas"/>
              </a:rPr>
              <a:t>---------------------------------------------------</a:t>
            </a:r>
          </a:p>
          <a:p>
            <a:pPr algn="l">
              <a:lnSpc>
                <a:spcPct val="105000"/>
              </a:lnSpc>
            </a:pPr>
            <a:r>
              <a:rPr sz="1050">
                <a:solidFill>
                  <a:srgbClr val="21295C"/>
                </a:solidFill>
                <a:latin typeface="Consolas"/>
              </a:rPr>
              <a:t> 1.  active  &lt;-  popcount_bits(L.M)</a:t>
            </a:r>
          </a:p>
          <a:p>
            <a:pPr algn="l">
              <a:lnSpc>
                <a:spcPct val="105000"/>
              </a:lnSpc>
            </a:pPr>
            <a:r>
              <a:rPr sz="1050">
                <a:solidFill>
                  <a:srgbClr val="21295C"/>
                </a:solidFill>
                <a:latin typeface="Consolas"/>
              </a:rPr>
              <a:t> 2.  k       &lt;-  floor(drop_frac * active)</a:t>
            </a:r>
          </a:p>
          <a:p>
            <a:pPr algn="l">
              <a:lnSpc>
                <a:spcPct val="105000"/>
              </a:lnSpc>
            </a:pPr>
            <a:r>
              <a:rPr sz="1050">
                <a:solidFill>
                  <a:srgbClr val="21295C"/>
                </a:solidFill>
                <a:latin typeface="Consolas"/>
              </a:rPr>
              <a:t> </a:t>
            </a:r>
          </a:p>
          <a:p>
            <a:pPr algn="l">
              <a:lnSpc>
                <a:spcPct val="105000"/>
              </a:lnSpc>
            </a:pPr>
            <a:r>
              <a:rPr sz="1050">
                <a:solidFill>
                  <a:srgbClr val="21295C"/>
                </a:solidFill>
                <a:latin typeface="Consolas"/>
              </a:rPr>
              <a:t> // ----- DROP: k smallest |W| over active slots -----</a:t>
            </a:r>
          </a:p>
          <a:p>
            <a:pPr algn="l">
              <a:lnSpc>
                <a:spcPct val="105000"/>
              </a:lnSpc>
            </a:pPr>
            <a:r>
              <a:rPr sz="1050">
                <a:solidFill>
                  <a:srgbClr val="21295C"/>
                </a:solidFill>
                <a:latin typeface="Consolas"/>
              </a:rPr>
              <a:t> 3.  heap_init(Hd, capacity=k)        // max-heap on |W|</a:t>
            </a:r>
          </a:p>
          <a:p>
            <a:pPr algn="l">
              <a:lnSpc>
                <a:spcPct val="105000"/>
              </a:lnSpc>
            </a:pPr>
            <a:r>
              <a:rPr sz="1050">
                <a:solidFill>
                  <a:srgbClr val="21295C"/>
                </a:solidFill>
                <a:latin typeface="Consolas"/>
              </a:rPr>
              <a:t> 4.  for i in 0..N:</a:t>
            </a:r>
          </a:p>
          <a:p>
            <a:pPr algn="l">
              <a:lnSpc>
                <a:spcPct val="105000"/>
              </a:lnSpc>
            </a:pPr>
            <a:r>
              <a:rPr sz="1050">
                <a:solidFill>
                  <a:srgbClr val="21295C"/>
                </a:solidFill>
                <a:latin typeface="Consolas"/>
              </a:rPr>
              <a:t> 5.       if bit_get(L.M, i):</a:t>
            </a:r>
          </a:p>
          <a:p>
            <a:pPr algn="l">
              <a:lnSpc>
                <a:spcPct val="105000"/>
              </a:lnSpc>
            </a:pPr>
            <a:r>
              <a:rPr sz="1050">
                <a:solidFill>
                  <a:srgbClr val="21295C"/>
                </a:solidFill>
                <a:latin typeface="Consolas"/>
              </a:rPr>
              <a:t> 6.            heap_push_max(Hd, i, |W[i]|)</a:t>
            </a:r>
          </a:p>
          <a:p>
            <a:pPr algn="l">
              <a:lnSpc>
                <a:spcPct val="105000"/>
              </a:lnSpc>
            </a:pPr>
            <a:r>
              <a:rPr sz="1050">
                <a:solidFill>
                  <a:srgbClr val="21295C"/>
                </a:solidFill>
                <a:latin typeface="Consolas"/>
              </a:rPr>
              <a:t> 7.  for j in 0..Hd.size: bit_clr(L.M, Hd.idx[j])</a:t>
            </a:r>
          </a:p>
          <a:p>
            <a:pPr algn="l">
              <a:lnSpc>
                <a:spcPct val="105000"/>
              </a:lnSpc>
            </a:pPr>
            <a:r>
              <a:rPr sz="1050">
                <a:solidFill>
                  <a:srgbClr val="21295C"/>
                </a:solidFill>
                <a:latin typeface="Consolas"/>
              </a:rPr>
              <a:t> </a:t>
            </a:r>
          </a:p>
          <a:p>
            <a:pPr algn="l">
              <a:lnSpc>
                <a:spcPct val="105000"/>
              </a:lnSpc>
            </a:pPr>
            <a:r>
              <a:rPr sz="1050">
                <a:solidFill>
                  <a:srgbClr val="21295C"/>
                </a:solidFill>
                <a:latin typeface="Consolas"/>
              </a:rPr>
              <a:t> // ----- GROW: k largest |g_dense| over INACTIVE slots -----</a:t>
            </a:r>
          </a:p>
          <a:p>
            <a:pPr algn="l">
              <a:lnSpc>
                <a:spcPct val="105000"/>
              </a:lnSpc>
            </a:pPr>
            <a:r>
              <a:rPr sz="1050">
                <a:solidFill>
                  <a:srgbClr val="21295C"/>
                </a:solidFill>
                <a:latin typeface="Consolas"/>
              </a:rPr>
              <a:t> 8.  heap_init(Hg, capacity=k)        // min-heap on |g|</a:t>
            </a:r>
          </a:p>
          <a:p>
            <a:pPr algn="l">
              <a:lnSpc>
                <a:spcPct val="105000"/>
              </a:lnSpc>
            </a:pPr>
            <a:r>
              <a:rPr sz="1050">
                <a:solidFill>
                  <a:srgbClr val="21295C"/>
                </a:solidFill>
                <a:latin typeface="Consolas"/>
              </a:rPr>
              <a:t> 9.  for i in 0..N:</a:t>
            </a:r>
          </a:p>
          <a:p>
            <a:pPr algn="l">
              <a:lnSpc>
                <a:spcPct val="105000"/>
              </a:lnSpc>
            </a:pPr>
            <a:r>
              <a:rPr sz="1050">
                <a:solidFill>
                  <a:srgbClr val="21295C"/>
                </a:solidFill>
                <a:latin typeface="Consolas"/>
              </a:rPr>
              <a:t>10.       if NOT bit_get(L.M, i):</a:t>
            </a:r>
          </a:p>
          <a:p>
            <a:pPr algn="l">
              <a:lnSpc>
                <a:spcPct val="105000"/>
              </a:lnSpc>
            </a:pPr>
            <a:r>
              <a:rPr sz="1050">
                <a:solidFill>
                  <a:srgbClr val="21295C"/>
                </a:solidFill>
                <a:latin typeface="Consolas"/>
              </a:rPr>
              <a:t>11.            heap_push_min(Hg, i, |g_dense[i]|)</a:t>
            </a:r>
          </a:p>
          <a:p>
            <a:pPr algn="l">
              <a:lnSpc>
                <a:spcPct val="105000"/>
              </a:lnSpc>
            </a:pPr>
            <a:r>
              <a:rPr sz="1050">
                <a:solidFill>
                  <a:srgbClr val="21295C"/>
                </a:solidFill>
                <a:latin typeface="Consolas"/>
              </a:rPr>
              <a:t>12.  for j in 0..Hg.size:</a:t>
            </a:r>
          </a:p>
          <a:p>
            <a:pPr algn="l">
              <a:lnSpc>
                <a:spcPct val="105000"/>
              </a:lnSpc>
            </a:pPr>
            <a:r>
              <a:rPr sz="1050">
                <a:solidFill>
                  <a:srgbClr val="21295C"/>
                </a:solidFill>
                <a:latin typeface="Consolas"/>
              </a:rPr>
              <a:t>13.       bit_set(L.M, Hg.idx[j])</a:t>
            </a:r>
          </a:p>
          <a:p>
            <a:pPr algn="l">
              <a:lnSpc>
                <a:spcPct val="105000"/>
              </a:lnSpc>
            </a:pPr>
            <a:r>
              <a:rPr sz="1050">
                <a:solidFill>
                  <a:srgbClr val="21295C"/>
                </a:solidFill>
                <a:latin typeface="Consolas"/>
              </a:rPr>
              <a:t>14.       L.W[Hg.idx[j]] &lt;- 0          // zero-init grown slots</a:t>
            </a:r>
          </a:p>
          <a:p>
            <a:pPr algn="l">
              <a:lnSpc>
                <a:spcPct val="105000"/>
              </a:lnSpc>
            </a:pPr>
            <a:r>
              <a:rPr sz="1050">
                <a:solidFill>
                  <a:srgbClr val="21295C"/>
                </a:solidFill>
                <a:latin typeface="Consolas"/>
              </a:rPr>
              <a:t> </a:t>
            </a:r>
          </a:p>
          <a:p>
            <a:pPr algn="l">
              <a:lnSpc>
                <a:spcPct val="105000"/>
              </a:lnSpc>
            </a:pPr>
            <a:r>
              <a:rPr sz="1050">
                <a:solidFill>
                  <a:srgbClr val="21295C"/>
                </a:solidFill>
                <a:latin typeface="Consolas"/>
              </a:rPr>
              <a:t>DROP-FRACTION SCHEDULE</a:t>
            </a:r>
          </a:p>
          <a:p>
            <a:pPr algn="l">
              <a:lnSpc>
                <a:spcPct val="105000"/>
              </a:lnSpc>
            </a:pPr>
            <a:r>
              <a:rPr sz="1050">
                <a:solidFill>
                  <a:srgbClr val="21295C"/>
                </a:solidFill>
                <a:latin typeface="Consolas"/>
              </a:rPr>
              <a:t>  f(t) = (alpha/2) * (1 + cos(pi * t / T_end))</a:t>
            </a:r>
          </a:p>
          <a:p>
            <a:pPr algn="l">
              <a:lnSpc>
                <a:spcPct val="105000"/>
              </a:lnSpc>
            </a:pPr>
            <a:r>
              <a:rPr sz="1050">
                <a:solidFill>
                  <a:srgbClr val="21295C"/>
                </a:solidFill>
                <a:latin typeface="Consolas"/>
              </a:rPr>
              <a:t>ER-K INIT (per layer):  density = (1-s) * N / max(fan_in, fan_out)</a:t>
            </a:r>
          </a:p>
          <a:p>
            <a:pPr algn="l">
              <a:lnSpc>
                <a:spcPct val="105000"/>
              </a:lnSpc>
            </a:pPr>
            <a:r>
              <a:rPr sz="1050">
                <a:solidFill>
                  <a:srgbClr val="21295C"/>
                </a:solidFill>
                <a:latin typeface="Consolas"/>
              </a:rPr>
              <a:t> </a:t>
            </a:r>
          </a:p>
        </p:txBody>
      </p:sp>
      <p:sp>
        <p:nvSpPr>
          <p:cNvPr id="17" name="TextBox 16"/>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8" name="TextBox 17"/>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C6  ·  HOST PC</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MFCC + audio pipeline</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Goal: .flac files in, (1,13,101) int8 MFCC tensors out.</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Purpose</a:t>
            </a:r>
          </a:p>
        </p:txBody>
      </p:sp>
      <p:sp>
        <p:nvSpPr>
          <p:cNvPr id="8" name="TextBox 7"/>
          <p:cNvSpPr txBox="1"/>
          <p:nvPr/>
        </p:nvSpPr>
        <p:spPr>
          <a:xfrm>
            <a:off x="457200" y="2304288"/>
            <a:ext cx="5303520" cy="1463040"/>
          </a:xfrm>
          <a:prstGeom prst="rect">
            <a:avLst/>
          </a:prstGeom>
          <a:noFill/>
        </p:spPr>
        <p:txBody>
          <a:bodyPr wrap="square" lIns="45720" rIns="45720" tIns="18288" bIns="18288" anchor="t">
            <a:spAutoFit/>
          </a:bodyPr>
          <a:lstStyle/>
          <a:p>
            <a:pPr algn="l">
              <a:lnSpc>
                <a:spcPct val="125000"/>
              </a:lnSpc>
            </a:pPr>
            <a:r>
              <a:rPr sz="1250" b="0" i="0">
                <a:solidFill>
                  <a:srgbClr val="21295C"/>
                </a:solidFill>
                <a:latin typeface="Calibri"/>
              </a:rPr>
              <a:t>Without PyTorch / torchaudio we own the entire feature pipeline. Decode .flac to PCM (dr_flac single-header library), compute 13 MFCCs at 25ms / 10ms hop with a 40-mel filterbank, quantize to int8 with a fixed scale, and cache to disk so re-runs are I/O-bound instead of FFT-bound.</a:t>
            </a:r>
          </a:p>
        </p:txBody>
      </p:sp>
      <p:sp>
        <p:nvSpPr>
          <p:cNvPr id="9" name="TextBox 8"/>
          <p:cNvSpPr txBox="1"/>
          <p:nvPr/>
        </p:nvSpPr>
        <p:spPr>
          <a:xfrm>
            <a:off x="457200" y="38404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How to start</a:t>
            </a:r>
          </a:p>
        </p:txBody>
      </p:sp>
      <p:sp>
        <p:nvSpPr>
          <p:cNvPr id="10" name="TextBox 9"/>
          <p:cNvSpPr txBox="1"/>
          <p:nvPr/>
        </p:nvSpPr>
        <p:spPr>
          <a:xfrm>
            <a:off x="457200" y="4133088"/>
            <a:ext cx="5303520" cy="1737360"/>
          </a:xfrm>
          <a:prstGeom prst="rect">
            <a:avLst/>
          </a:prstGeom>
          <a:noFill/>
        </p:spPr>
        <p:txBody>
          <a:bodyPr wrap="square" lIns="0" rIns="0">
            <a:spAutoFit/>
          </a:bodyPr>
          <a:lstStyle/>
          <a:p>
            <a:pPr algn="l">
              <a:lnSpc>
                <a:spcPct val="125000"/>
              </a:lnSpc>
            </a:pPr>
            <a:r>
              <a:rPr sz="1200" b="1">
                <a:solidFill>
                  <a:srgbClr val="1E2761"/>
                </a:solidFill>
                <a:latin typeface="Calibri"/>
              </a:rPr>
              <a:t>1.  </a:t>
            </a:r>
            <a:r>
              <a:rPr sz="1150">
                <a:solidFill>
                  <a:srgbClr val="21295C"/>
                </a:solidFill>
                <a:latin typeface="Calibri"/>
              </a:rPr>
              <a:t>Pull dr_flac.h and kissfft (single-file C, no build system needed).</a:t>
            </a:r>
          </a:p>
          <a:p>
            <a:pPr algn="l">
              <a:lnSpc>
                <a:spcPct val="125000"/>
              </a:lnSpc>
            </a:pPr>
            <a:r>
              <a:rPr sz="1200" b="1">
                <a:solidFill>
                  <a:srgbClr val="1E2761"/>
                </a:solidFill>
                <a:latin typeface="Calibri"/>
              </a:rPr>
              <a:t>2.  </a:t>
            </a:r>
            <a:r>
              <a:rPr sz="1150">
                <a:solidFill>
                  <a:srgbClr val="21295C"/>
                </a:solidFill>
                <a:latin typeface="Calibri"/>
              </a:rPr>
              <a:t>Implement mel-filterbank by hand — ~30 lines of triangular weights.</a:t>
            </a:r>
          </a:p>
          <a:p>
            <a:pPr algn="l">
              <a:lnSpc>
                <a:spcPct val="125000"/>
              </a:lnSpc>
            </a:pPr>
            <a:r>
              <a:rPr sz="1200" b="1">
                <a:solidFill>
                  <a:srgbClr val="1E2761"/>
                </a:solidFill>
                <a:latin typeface="Calibri"/>
              </a:rPr>
              <a:t>3.  </a:t>
            </a:r>
            <a:r>
              <a:rPr sz="1150">
                <a:solidFill>
                  <a:srgbClr val="21295C"/>
                </a:solidFill>
                <a:latin typeface="Calibri"/>
              </a:rPr>
              <a:t>Validate one MFCC frame against a reference (Python librosa one-time check).</a:t>
            </a:r>
          </a:p>
          <a:p>
            <a:pPr algn="l">
              <a:lnSpc>
                <a:spcPct val="125000"/>
              </a:lnSpc>
            </a:pPr>
            <a:r>
              <a:rPr sz="1200" b="1">
                <a:solidFill>
                  <a:srgbClr val="1E2761"/>
                </a:solidFill>
                <a:latin typeface="Calibri"/>
              </a:rPr>
              <a:t>4.  </a:t>
            </a:r>
            <a:r>
              <a:rPr sz="1150">
                <a:solidFill>
                  <a:srgbClr val="21295C"/>
                </a:solidFill>
                <a:latin typeface="Calibri"/>
              </a:rPr>
              <a:t>Iterate over the 40-speaker LibriSpeech subset, write .f8 cache files.</a:t>
            </a:r>
          </a:p>
          <a:p>
            <a:pPr algn="l">
              <a:lnSpc>
                <a:spcPct val="125000"/>
              </a:lnSpc>
            </a:pPr>
            <a:r>
              <a:rPr sz="1200" b="1">
                <a:solidFill>
                  <a:srgbClr val="1E2761"/>
                </a:solidFill>
                <a:latin typeface="Calibri"/>
              </a:rPr>
              <a:t>5.  </a:t>
            </a:r>
            <a:r>
              <a:rPr sz="1150">
                <a:solidFill>
                  <a:srgbClr val="21295C"/>
                </a:solidFill>
                <a:latin typeface="Calibri"/>
              </a:rPr>
              <a:t>Sanity check: feat file size ~ 13*101 bytes + scale  per utterance.</a:t>
            </a:r>
          </a:p>
        </p:txBody>
      </p:sp>
      <p:sp>
        <p:nvSpPr>
          <p:cNvPr id="11" name="Rectangle 10"/>
          <p:cNvSpPr/>
          <p:nvPr/>
        </p:nvSpPr>
        <p:spPr>
          <a:xfrm>
            <a:off x="457200" y="5532120"/>
            <a:ext cx="5303520" cy="502920"/>
          </a:xfrm>
          <a:prstGeom prst="rect">
            <a:avLst/>
          </a:prstGeom>
          <a:solidFill>
            <a:srgbClr val="F5F6FA"/>
          </a:solidFill>
          <a:ln w="9525">
            <a:solidFill>
              <a:srgbClr val="2C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568696"/>
            <a:ext cx="640080" cy="457200"/>
          </a:xfrm>
          <a:prstGeom prst="rect">
            <a:avLst/>
          </a:prstGeom>
          <a:noFill/>
        </p:spPr>
        <p:txBody>
          <a:bodyPr wrap="square" lIns="45720" rIns="45720" tIns="18288" bIns="18288" anchor="ctr">
            <a:spAutoFit/>
          </a:bodyPr>
          <a:lstStyle/>
          <a:p>
            <a:pPr algn="l">
              <a:lnSpc>
                <a:spcPct val="115000"/>
              </a:lnSpc>
            </a:pPr>
            <a:r>
              <a:rPr sz="1100" b="1" i="0">
                <a:solidFill>
                  <a:srgbClr val="2C7A4B"/>
                </a:solidFill>
                <a:latin typeface="Calibri"/>
              </a:rPr>
              <a:t>GATE</a:t>
            </a:r>
          </a:p>
        </p:txBody>
      </p:sp>
      <p:sp>
        <p:nvSpPr>
          <p:cNvPr id="13" name="TextBox 12"/>
          <p:cNvSpPr txBox="1"/>
          <p:nvPr/>
        </p:nvSpPr>
        <p:spPr>
          <a:xfrm>
            <a:off x="1234440" y="5532120"/>
            <a:ext cx="4480560" cy="502920"/>
          </a:xfrm>
          <a:prstGeom prst="rect">
            <a:avLst/>
          </a:prstGeom>
          <a:noFill/>
        </p:spPr>
        <p:txBody>
          <a:bodyPr wrap="square" lIns="45720" rIns="45720" tIns="18288" bIns="18288" anchor="ctr">
            <a:spAutoFit/>
          </a:bodyPr>
          <a:lstStyle/>
          <a:p>
            <a:pPr algn="l">
              <a:lnSpc>
                <a:spcPct val="115000"/>
              </a:lnSpc>
            </a:pPr>
            <a:r>
              <a:rPr sz="1150" b="0" i="0">
                <a:solidFill>
                  <a:srgbClr val="21295C"/>
                </a:solidFill>
                <a:latin typeface="Calibri"/>
              </a:rPr>
              <a:t>One MFCC frame matches librosa within rounding  ·  full dataset cached on disk.</a:t>
            </a:r>
          </a:p>
        </p:txBody>
      </p:sp>
      <p:sp>
        <p:nvSpPr>
          <p:cNvPr id="14" name="TextBox 13"/>
          <p:cNvSpPr txBox="1"/>
          <p:nvPr/>
        </p:nvSpPr>
        <p:spPr>
          <a:xfrm>
            <a:off x="6035040" y="2011680"/>
            <a:ext cx="566928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Algorithm</a:t>
            </a:r>
          </a:p>
        </p:txBody>
      </p:sp>
      <p:sp>
        <p:nvSpPr>
          <p:cNvPr id="15" name="Rectangle 14"/>
          <p:cNvSpPr/>
          <p:nvPr/>
        </p:nvSpPr>
        <p:spPr>
          <a:xfrm>
            <a:off x="6035040" y="2304288"/>
            <a:ext cx="5669280" cy="3931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377440"/>
            <a:ext cx="5449824" cy="3785616"/>
          </a:xfrm>
          <a:prstGeom prst="rect">
            <a:avLst/>
          </a:prstGeom>
          <a:noFill/>
        </p:spPr>
        <p:txBody>
          <a:bodyPr wrap="none" lIns="18288" tIns="0" bIns="0" anchor="t">
            <a:spAutoFit/>
          </a:bodyPr>
          <a:lstStyle/>
          <a:p>
            <a:pPr algn="l">
              <a:lnSpc>
                <a:spcPct val="105000"/>
              </a:lnSpc>
            </a:pPr>
            <a:r>
              <a:rPr sz="1050">
                <a:solidFill>
                  <a:srgbClr val="21295C"/>
                </a:solidFill>
                <a:latin typeface="Consolas"/>
              </a:rPr>
              <a:t>ALGORITHM  mfcc_extract</a:t>
            </a:r>
          </a:p>
          <a:p>
            <a:pPr algn="l">
              <a:lnSpc>
                <a:spcPct val="105000"/>
              </a:lnSpc>
            </a:pPr>
            <a:r>
              <a:rPr sz="1050">
                <a:solidFill>
                  <a:srgbClr val="21295C"/>
                </a:solidFill>
                <a:latin typeface="Consolas"/>
              </a:rPr>
              <a:t>INPUTS   :  pcm[SR] (1 second, 16 kHz), n_mfcc=13,</a:t>
            </a:r>
          </a:p>
          <a:p>
            <a:pPr algn="l">
              <a:lnSpc>
                <a:spcPct val="105000"/>
              </a:lnSpc>
            </a:pPr>
            <a:r>
              <a:rPr sz="1050">
                <a:solidFill>
                  <a:srgbClr val="21295C"/>
                </a:solidFill>
                <a:latin typeface="Consolas"/>
              </a:rPr>
              <a:t>            n_mels=40, win=400, hop=160, n_fft=400</a:t>
            </a:r>
          </a:p>
          <a:p>
            <a:pPr algn="l">
              <a:lnSpc>
                <a:spcPct val="105000"/>
              </a:lnSpc>
            </a:pPr>
            <a:r>
              <a:rPr sz="1050">
                <a:solidFill>
                  <a:srgbClr val="21295C"/>
                </a:solidFill>
                <a:latin typeface="Consolas"/>
              </a:rPr>
              <a:t>OUTPUT   :  feat[1][13][101]  (int8)</a:t>
            </a:r>
          </a:p>
          <a:p>
            <a:pPr algn="l">
              <a:lnSpc>
                <a:spcPct val="105000"/>
              </a:lnSpc>
            </a:pPr>
            <a:r>
              <a:rPr sz="1050">
                <a:solidFill>
                  <a:srgbClr val="21295C"/>
                </a:solidFill>
                <a:latin typeface="Consolas"/>
              </a:rPr>
              <a:t>---------------------------------------------------</a:t>
            </a:r>
          </a:p>
          <a:p>
            <a:pPr algn="l">
              <a:lnSpc>
                <a:spcPct val="105000"/>
              </a:lnSpc>
            </a:pPr>
            <a:r>
              <a:rPr sz="1050">
                <a:solidFill>
                  <a:srgbClr val="21295C"/>
                </a:solidFill>
                <a:latin typeface="Consolas"/>
              </a:rPr>
              <a:t> 1.  pad-or-truncate(pcm, SR)</a:t>
            </a:r>
          </a:p>
          <a:p>
            <a:pPr algn="l">
              <a:lnSpc>
                <a:spcPct val="105000"/>
              </a:lnSpc>
            </a:pPr>
            <a:r>
              <a:rPr sz="1050">
                <a:solidFill>
                  <a:srgbClr val="21295C"/>
                </a:solidFill>
                <a:latin typeface="Consolas"/>
              </a:rPr>
              <a:t> 2.  pre-emphasis: pcm[i] -= 0.97 * pcm[i-1]</a:t>
            </a:r>
          </a:p>
          <a:p>
            <a:pPr algn="l">
              <a:lnSpc>
                <a:spcPct val="105000"/>
              </a:lnSpc>
            </a:pPr>
            <a:r>
              <a:rPr sz="1050">
                <a:solidFill>
                  <a:srgbClr val="21295C"/>
                </a:solidFill>
                <a:latin typeface="Consolas"/>
              </a:rPr>
              <a:t> 3.  for each frame f in [0..100]:</a:t>
            </a:r>
          </a:p>
          <a:p>
            <a:pPr algn="l">
              <a:lnSpc>
                <a:spcPct val="105000"/>
              </a:lnSpc>
            </a:pPr>
            <a:r>
              <a:rPr sz="1050">
                <a:solidFill>
                  <a:srgbClr val="21295C"/>
                </a:solidFill>
                <a:latin typeface="Consolas"/>
              </a:rPr>
              <a:t> 4.       seg     &lt;- pcm[f*hop : f*hop+win] * hamming_window</a:t>
            </a:r>
          </a:p>
          <a:p>
            <a:pPr algn="l">
              <a:lnSpc>
                <a:spcPct val="105000"/>
              </a:lnSpc>
            </a:pPr>
            <a:r>
              <a:rPr sz="1050">
                <a:solidFill>
                  <a:srgbClr val="21295C"/>
                </a:solidFill>
                <a:latin typeface="Consolas"/>
              </a:rPr>
              <a:t> 5.       spec    &lt;- |FFT(seg, n_fft)|^2          // power spectrum</a:t>
            </a:r>
          </a:p>
          <a:p>
            <a:pPr algn="l">
              <a:lnSpc>
                <a:spcPct val="105000"/>
              </a:lnSpc>
            </a:pPr>
            <a:r>
              <a:rPr sz="1050">
                <a:solidFill>
                  <a:srgbClr val="21295C"/>
                </a:solidFill>
                <a:latin typeface="Consolas"/>
              </a:rPr>
              <a:t> 6.       mel     &lt;- mel_filterbank(spec, 40)     // 40 bins</a:t>
            </a:r>
          </a:p>
          <a:p>
            <a:pPr algn="l">
              <a:lnSpc>
                <a:spcPct val="105000"/>
              </a:lnSpc>
            </a:pPr>
            <a:r>
              <a:rPr sz="1050">
                <a:solidFill>
                  <a:srgbClr val="21295C"/>
                </a:solidFill>
                <a:latin typeface="Consolas"/>
              </a:rPr>
              <a:t> 7.       log_mel &lt;- log(mel + 1e-6)</a:t>
            </a:r>
          </a:p>
          <a:p>
            <a:pPr algn="l">
              <a:lnSpc>
                <a:spcPct val="105000"/>
              </a:lnSpc>
            </a:pPr>
            <a:r>
              <a:rPr sz="1050">
                <a:solidFill>
                  <a:srgbClr val="21295C"/>
                </a:solidFill>
                <a:latin typeface="Consolas"/>
              </a:rPr>
              <a:t> 8.       cep[f]  &lt;- DCT(log_mel)[0:13]           // 13 cepstra</a:t>
            </a:r>
          </a:p>
          <a:p>
            <a:pPr algn="l">
              <a:lnSpc>
                <a:spcPct val="105000"/>
              </a:lnSpc>
            </a:pPr>
            <a:r>
              <a:rPr sz="1050">
                <a:solidFill>
                  <a:srgbClr val="21295C"/>
                </a:solidFill>
                <a:latin typeface="Consolas"/>
              </a:rPr>
              <a:t> 9.  scale  &lt;-  max(|cep|) / 127</a:t>
            </a:r>
          </a:p>
          <a:p>
            <a:pPr algn="l">
              <a:lnSpc>
                <a:spcPct val="105000"/>
              </a:lnSpc>
            </a:pPr>
            <a:r>
              <a:rPr sz="1050">
                <a:solidFill>
                  <a:srgbClr val="21295C"/>
                </a:solidFill>
                <a:latin typeface="Consolas"/>
              </a:rPr>
              <a:t>10.  feat   &lt;-  round(cep / scale)  saturated to int8</a:t>
            </a:r>
          </a:p>
          <a:p>
            <a:pPr algn="l">
              <a:lnSpc>
                <a:spcPct val="105000"/>
              </a:lnSpc>
            </a:pPr>
            <a:r>
              <a:rPr sz="1050">
                <a:solidFill>
                  <a:srgbClr val="21295C"/>
                </a:solidFill>
                <a:latin typeface="Consolas"/>
              </a:rPr>
              <a:t>11.  write feat + scale to &lt;utt_id&gt;.f8</a:t>
            </a:r>
          </a:p>
          <a:p>
            <a:pPr algn="l">
              <a:lnSpc>
                <a:spcPct val="105000"/>
              </a:lnSpc>
            </a:pPr>
            <a:r>
              <a:rPr sz="1050">
                <a:solidFill>
                  <a:srgbClr val="21295C"/>
                </a:solidFill>
                <a:latin typeface="Consolas"/>
              </a:rPr>
              <a:t> </a:t>
            </a:r>
          </a:p>
        </p:txBody>
      </p:sp>
      <p:sp>
        <p:nvSpPr>
          <p:cNvPr id="17" name="TextBox 16"/>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8" name="TextBox 17"/>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C7  ·  HOST PC</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End-to-end training run — sparse int8 FQT+RigL converges</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Goal: prove the algorithm works on real data BEFORE touching the MCU.</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Purpose</a:t>
            </a:r>
          </a:p>
        </p:txBody>
      </p:sp>
      <p:sp>
        <p:nvSpPr>
          <p:cNvPr id="8" name="TextBox 7"/>
          <p:cNvSpPr txBox="1"/>
          <p:nvPr/>
        </p:nvSpPr>
        <p:spPr>
          <a:xfrm>
            <a:off x="457200" y="2304288"/>
            <a:ext cx="5303520" cy="1463040"/>
          </a:xfrm>
          <a:prstGeom prst="rect">
            <a:avLst/>
          </a:prstGeom>
          <a:noFill/>
        </p:spPr>
        <p:txBody>
          <a:bodyPr wrap="square" lIns="45720" rIns="45720" tIns="18288" bIns="18288" anchor="t">
            <a:spAutoFit/>
          </a:bodyPr>
          <a:lstStyle/>
          <a:p>
            <a:pPr algn="l">
              <a:lnSpc>
                <a:spcPct val="125000"/>
              </a:lnSpc>
            </a:pPr>
            <a:r>
              <a:rPr sz="1250" b="0" i="0">
                <a:solidFill>
                  <a:srgbClr val="21295C"/>
                </a:solidFill>
                <a:latin typeface="Calibri"/>
              </a:rPr>
              <a:t>Wire C2–C6 together into one training program. Loads the cached MFCC tensors, runs the sparse-int8 forward, the int8 backward, the FQT partial update, and the periodic RigL mask refresh. Trains a small Conv→Conv→Linear→Linear stack on the 40-speaker split. This is the moment the thesis algorithm becomes real.</a:t>
            </a:r>
          </a:p>
        </p:txBody>
      </p:sp>
      <p:sp>
        <p:nvSpPr>
          <p:cNvPr id="9" name="TextBox 8"/>
          <p:cNvSpPr txBox="1"/>
          <p:nvPr/>
        </p:nvSpPr>
        <p:spPr>
          <a:xfrm>
            <a:off x="457200" y="38404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How to start</a:t>
            </a:r>
          </a:p>
        </p:txBody>
      </p:sp>
      <p:sp>
        <p:nvSpPr>
          <p:cNvPr id="10" name="TextBox 9"/>
          <p:cNvSpPr txBox="1"/>
          <p:nvPr/>
        </p:nvSpPr>
        <p:spPr>
          <a:xfrm>
            <a:off x="457200" y="4133088"/>
            <a:ext cx="5303520" cy="1737360"/>
          </a:xfrm>
          <a:prstGeom prst="rect">
            <a:avLst/>
          </a:prstGeom>
          <a:noFill/>
        </p:spPr>
        <p:txBody>
          <a:bodyPr wrap="square" lIns="0" rIns="0">
            <a:spAutoFit/>
          </a:bodyPr>
          <a:lstStyle/>
          <a:p>
            <a:pPr algn="l">
              <a:lnSpc>
                <a:spcPct val="125000"/>
              </a:lnSpc>
            </a:pPr>
            <a:r>
              <a:rPr sz="1200" b="1">
                <a:solidFill>
                  <a:srgbClr val="1E2761"/>
                </a:solidFill>
                <a:latin typeface="Calibri"/>
              </a:rPr>
              <a:t>1.  </a:t>
            </a:r>
            <a:r>
              <a:rPr sz="1150">
                <a:solidFill>
                  <a:srgbClr val="21295C"/>
                </a:solidFill>
                <a:latin typeface="Calibri"/>
              </a:rPr>
              <a:t>Choose model topology that fits 320 KB SRAM at 90% sparsity (4 layers).</a:t>
            </a:r>
          </a:p>
          <a:p>
            <a:pPr algn="l">
              <a:lnSpc>
                <a:spcPct val="125000"/>
              </a:lnSpc>
            </a:pPr>
            <a:r>
              <a:rPr sz="1200" b="1">
                <a:solidFill>
                  <a:srgbClr val="1E2761"/>
                </a:solidFill>
                <a:latin typeface="Calibri"/>
              </a:rPr>
              <a:t>2.  </a:t>
            </a:r>
            <a:r>
              <a:rPr sz="1150">
                <a:solidFill>
                  <a:srgbClr val="21295C"/>
                </a:solidFill>
                <a:latin typeface="Calibri"/>
              </a:rPr>
              <a:t>Run for 1 epoch first — confirm loss decreases. Treat as smoke test.</a:t>
            </a:r>
          </a:p>
          <a:p>
            <a:pPr algn="l">
              <a:lnSpc>
                <a:spcPct val="125000"/>
              </a:lnSpc>
            </a:pPr>
            <a:r>
              <a:rPr sz="1200" b="1">
                <a:solidFill>
                  <a:srgbClr val="1E2761"/>
                </a:solidFill>
                <a:latin typeface="Calibri"/>
              </a:rPr>
              <a:t>3.  </a:t>
            </a:r>
            <a:r>
              <a:rPr sz="1150">
                <a:solidFill>
                  <a:srgbClr val="21295C"/>
                </a:solidFill>
                <a:latin typeface="Calibri"/>
              </a:rPr>
              <a:t>Then run the full schedule, log per-epoch val accuracy.</a:t>
            </a:r>
          </a:p>
          <a:p>
            <a:pPr algn="l">
              <a:lnSpc>
                <a:spcPct val="125000"/>
              </a:lnSpc>
            </a:pPr>
            <a:r>
              <a:rPr sz="1200" b="1">
                <a:solidFill>
                  <a:srgbClr val="1E2761"/>
                </a:solidFill>
                <a:latin typeface="Calibri"/>
              </a:rPr>
              <a:t>4.  </a:t>
            </a:r>
            <a:r>
              <a:rPr sz="1150">
                <a:solidFill>
                  <a:srgbClr val="21295C"/>
                </a:solidFill>
                <a:latin typeface="Calibri"/>
              </a:rPr>
              <a:t>Tune kappa and dT if convergence stalls; document choices.</a:t>
            </a:r>
          </a:p>
          <a:p>
            <a:pPr algn="l">
              <a:lnSpc>
                <a:spcPct val="125000"/>
              </a:lnSpc>
            </a:pPr>
            <a:r>
              <a:rPr sz="1200" b="1">
                <a:solidFill>
                  <a:srgbClr val="1E2761"/>
                </a:solidFill>
                <a:latin typeface="Calibri"/>
              </a:rPr>
              <a:t>5.  </a:t>
            </a:r>
            <a:r>
              <a:rPr sz="1150">
                <a:solidFill>
                  <a:srgbClr val="21295C"/>
                </a:solidFill>
                <a:latin typeface="Calibri"/>
              </a:rPr>
              <a:t>Save final int8 weights + bitmask + scales as binary files for C8.</a:t>
            </a:r>
          </a:p>
        </p:txBody>
      </p:sp>
      <p:sp>
        <p:nvSpPr>
          <p:cNvPr id="11" name="Rectangle 10"/>
          <p:cNvSpPr/>
          <p:nvPr/>
        </p:nvSpPr>
        <p:spPr>
          <a:xfrm>
            <a:off x="457200" y="5532120"/>
            <a:ext cx="5303520" cy="502920"/>
          </a:xfrm>
          <a:prstGeom prst="rect">
            <a:avLst/>
          </a:prstGeom>
          <a:solidFill>
            <a:srgbClr val="F5F6FA"/>
          </a:solidFill>
          <a:ln w="9525">
            <a:solidFill>
              <a:srgbClr val="2C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568696"/>
            <a:ext cx="640080" cy="457200"/>
          </a:xfrm>
          <a:prstGeom prst="rect">
            <a:avLst/>
          </a:prstGeom>
          <a:noFill/>
        </p:spPr>
        <p:txBody>
          <a:bodyPr wrap="square" lIns="45720" rIns="45720" tIns="18288" bIns="18288" anchor="ctr">
            <a:spAutoFit/>
          </a:bodyPr>
          <a:lstStyle/>
          <a:p>
            <a:pPr algn="l">
              <a:lnSpc>
                <a:spcPct val="115000"/>
              </a:lnSpc>
            </a:pPr>
            <a:r>
              <a:rPr sz="1100" b="1" i="0">
                <a:solidFill>
                  <a:srgbClr val="2C7A4B"/>
                </a:solidFill>
                <a:latin typeface="Calibri"/>
              </a:rPr>
              <a:t>GATE</a:t>
            </a:r>
          </a:p>
        </p:txBody>
      </p:sp>
      <p:sp>
        <p:nvSpPr>
          <p:cNvPr id="13" name="TextBox 12"/>
          <p:cNvSpPr txBox="1"/>
          <p:nvPr/>
        </p:nvSpPr>
        <p:spPr>
          <a:xfrm>
            <a:off x="1234440" y="5532120"/>
            <a:ext cx="4480560" cy="502920"/>
          </a:xfrm>
          <a:prstGeom prst="rect">
            <a:avLst/>
          </a:prstGeom>
          <a:noFill/>
        </p:spPr>
        <p:txBody>
          <a:bodyPr wrap="square" lIns="45720" rIns="45720" tIns="18288" bIns="18288" anchor="ctr">
            <a:spAutoFit/>
          </a:bodyPr>
          <a:lstStyle/>
          <a:p>
            <a:pPr algn="l">
              <a:lnSpc>
                <a:spcPct val="115000"/>
              </a:lnSpc>
            </a:pPr>
            <a:r>
              <a:rPr sz="1150" b="0" i="0">
                <a:solidFill>
                  <a:srgbClr val="21295C"/>
                </a:solidFill>
                <a:latin typeface="Calibri"/>
              </a:rPr>
              <a:t>Test accuracy stabilises (target ~70–85%)  ·  weights export cleanly for the MCU port.</a:t>
            </a:r>
          </a:p>
        </p:txBody>
      </p:sp>
      <p:sp>
        <p:nvSpPr>
          <p:cNvPr id="14" name="TextBox 13"/>
          <p:cNvSpPr txBox="1"/>
          <p:nvPr/>
        </p:nvSpPr>
        <p:spPr>
          <a:xfrm>
            <a:off x="6035040" y="2011680"/>
            <a:ext cx="566928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Algorithm</a:t>
            </a:r>
          </a:p>
        </p:txBody>
      </p:sp>
      <p:sp>
        <p:nvSpPr>
          <p:cNvPr id="15" name="Rectangle 14"/>
          <p:cNvSpPr/>
          <p:nvPr/>
        </p:nvSpPr>
        <p:spPr>
          <a:xfrm>
            <a:off x="6035040" y="2304288"/>
            <a:ext cx="5669280" cy="3931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377440"/>
            <a:ext cx="5449824" cy="3785616"/>
          </a:xfrm>
          <a:prstGeom prst="rect">
            <a:avLst/>
          </a:prstGeom>
          <a:noFill/>
        </p:spPr>
        <p:txBody>
          <a:bodyPr wrap="none" lIns="18288" tIns="0" bIns="0" anchor="t">
            <a:spAutoFit/>
          </a:bodyPr>
          <a:lstStyle/>
          <a:p>
            <a:pPr algn="l">
              <a:lnSpc>
                <a:spcPct val="105000"/>
              </a:lnSpc>
            </a:pPr>
            <a:r>
              <a:rPr sz="1050">
                <a:solidFill>
                  <a:srgbClr val="21295C"/>
                </a:solidFill>
                <a:latin typeface="Consolas"/>
              </a:rPr>
              <a:t>ALGORITHM  train_e2e</a:t>
            </a:r>
          </a:p>
          <a:p>
            <a:pPr algn="l">
              <a:lnSpc>
                <a:spcPct val="105000"/>
              </a:lnSpc>
            </a:pPr>
            <a:r>
              <a:rPr sz="1050">
                <a:solidFill>
                  <a:srgbClr val="21295C"/>
                </a:solidFill>
                <a:latin typeface="Consolas"/>
              </a:rPr>
              <a:t>INPUTS   :  cached MFCC dataset, model layers L[0..3],</a:t>
            </a:r>
          </a:p>
          <a:p>
            <a:pPr algn="l">
              <a:lnSpc>
                <a:spcPct val="105000"/>
              </a:lnSpc>
            </a:pPr>
            <a:r>
              <a:rPr sz="1050">
                <a:solidFill>
                  <a:srgbClr val="21295C"/>
                </a:solidFill>
                <a:latin typeface="Consolas"/>
              </a:rPr>
              <a:t>            sparsity=0.9, kappa=0.1, T_end, dT, eta, epochs</a:t>
            </a:r>
          </a:p>
          <a:p>
            <a:pPr algn="l">
              <a:lnSpc>
                <a:spcPct val="105000"/>
              </a:lnSpc>
            </a:pPr>
            <a:r>
              <a:rPr sz="1050">
                <a:solidFill>
                  <a:srgbClr val="21295C"/>
                </a:solidFill>
                <a:latin typeface="Consolas"/>
              </a:rPr>
              <a:t>OUTPUT   :  trained int8 weights, accuracy curve</a:t>
            </a:r>
          </a:p>
          <a:p>
            <a:pPr algn="l">
              <a:lnSpc>
                <a:spcPct val="105000"/>
              </a:lnSpc>
            </a:pPr>
            <a:r>
              <a:rPr sz="1050">
                <a:solidFill>
                  <a:srgbClr val="21295C"/>
                </a:solidFill>
                <a:latin typeface="Consolas"/>
              </a:rPr>
              <a:t>---------------------------------------------------</a:t>
            </a:r>
          </a:p>
          <a:p>
            <a:pPr algn="l">
              <a:lnSpc>
                <a:spcPct val="105000"/>
              </a:lnSpc>
            </a:pPr>
            <a:r>
              <a:rPr sz="1050">
                <a:solidFill>
                  <a:srgbClr val="21295C"/>
                </a:solidFill>
                <a:latin typeface="Consolas"/>
              </a:rPr>
              <a:t> 1.  rigl_erk_init(layers, sparsity=0.9)</a:t>
            </a:r>
          </a:p>
          <a:p>
            <a:pPr algn="l">
              <a:lnSpc>
                <a:spcPct val="105000"/>
              </a:lnSpc>
            </a:pPr>
            <a:r>
              <a:rPr sz="1050">
                <a:solidFill>
                  <a:srgbClr val="21295C"/>
                </a:solidFill>
                <a:latin typeface="Consolas"/>
              </a:rPr>
              <a:t> 2.  for epoch in 1..epochs:</a:t>
            </a:r>
          </a:p>
          <a:p>
            <a:pPr algn="l">
              <a:lnSpc>
                <a:spcPct val="105000"/>
              </a:lnSpc>
            </a:pPr>
            <a:r>
              <a:rPr sz="1050">
                <a:solidFill>
                  <a:srgbClr val="21295C"/>
                </a:solidFill>
                <a:latin typeface="Consolas"/>
              </a:rPr>
              <a:t> 3.       shuffle train_set</a:t>
            </a:r>
          </a:p>
          <a:p>
            <a:pPr algn="l">
              <a:lnSpc>
                <a:spcPct val="105000"/>
              </a:lnSpc>
            </a:pPr>
            <a:r>
              <a:rPr sz="1050">
                <a:solidFill>
                  <a:srgbClr val="21295C"/>
                </a:solidFill>
                <a:latin typeface="Consolas"/>
              </a:rPr>
              <a:t> 4.       for (x, y) in train_set:</a:t>
            </a:r>
          </a:p>
          <a:p>
            <a:pPr algn="l">
              <a:lnSpc>
                <a:spcPct val="105000"/>
              </a:lnSpc>
            </a:pPr>
            <a:r>
              <a:rPr sz="1050">
                <a:solidFill>
                  <a:srgbClr val="21295C"/>
                </a:solidFill>
                <a:latin typeface="Consolas"/>
              </a:rPr>
              <a:t> 5.            // ---- sparse forward + loss</a:t>
            </a:r>
          </a:p>
          <a:p>
            <a:pPr algn="l">
              <a:lnSpc>
                <a:spcPct val="105000"/>
              </a:lnSpc>
            </a:pPr>
            <a:r>
              <a:rPr sz="1050">
                <a:solidFill>
                  <a:srgbClr val="21295C"/>
                </a:solidFill>
                <a:latin typeface="Consolas"/>
              </a:rPr>
              <a:t> 6.            logits &lt;- model_forward(layers, x)</a:t>
            </a:r>
          </a:p>
          <a:p>
            <a:pPr algn="l">
              <a:lnSpc>
                <a:spcPct val="105000"/>
              </a:lnSpc>
            </a:pPr>
            <a:r>
              <a:rPr sz="1050">
                <a:solidFill>
                  <a:srgbClr val="21295C"/>
                </a:solidFill>
                <a:latin typeface="Consolas"/>
              </a:rPr>
              <a:t> 7.            dL_dlogits &lt;- softmax_xent_grad(logits, y)</a:t>
            </a:r>
          </a:p>
          <a:p>
            <a:pPr algn="l">
              <a:lnSpc>
                <a:spcPct val="105000"/>
              </a:lnSpc>
            </a:pPr>
            <a:r>
              <a:rPr sz="1050">
                <a:solidFill>
                  <a:srgbClr val="21295C"/>
                </a:solidFill>
                <a:latin typeface="Consolas"/>
              </a:rPr>
              <a:t> 8.            // ---- sparse backward</a:t>
            </a:r>
          </a:p>
          <a:p>
            <a:pPr algn="l">
              <a:lnSpc>
                <a:spcPct val="105000"/>
              </a:lnSpc>
            </a:pPr>
            <a:r>
              <a:rPr sz="1050">
                <a:solidFill>
                  <a:srgbClr val="21295C"/>
                </a:solidFill>
                <a:latin typeface="Consolas"/>
              </a:rPr>
              <a:t> 9.            dW[*], dA[*] &lt;- model_backward(layers, dL_dlogits)</a:t>
            </a:r>
          </a:p>
          <a:p>
            <a:pPr algn="l">
              <a:lnSpc>
                <a:spcPct val="105000"/>
              </a:lnSpc>
            </a:pPr>
            <a:r>
              <a:rPr sz="1050">
                <a:solidFill>
                  <a:srgbClr val="21295C"/>
                </a:solidFill>
                <a:latin typeface="Consolas"/>
              </a:rPr>
              <a:t>10.            // ---- FQT partial update (active set only)</a:t>
            </a:r>
          </a:p>
          <a:p>
            <a:pPr algn="l">
              <a:lnSpc>
                <a:spcPct val="105000"/>
              </a:lnSpc>
            </a:pPr>
            <a:r>
              <a:rPr sz="1050">
                <a:solidFill>
                  <a:srgbClr val="21295C"/>
                </a:solidFill>
                <a:latin typeface="Consolas"/>
              </a:rPr>
              <a:t>11.            for L in layers:  fqt_partial_update(L, dW[L])</a:t>
            </a:r>
          </a:p>
          <a:p>
            <a:pPr algn="l">
              <a:lnSpc>
                <a:spcPct val="105000"/>
              </a:lnSpc>
            </a:pPr>
            <a:r>
              <a:rPr sz="1050">
                <a:solidFill>
                  <a:srgbClr val="21295C"/>
                </a:solidFill>
                <a:latin typeface="Consolas"/>
              </a:rPr>
              <a:t>12.            // ---- RigL mask refresh</a:t>
            </a:r>
          </a:p>
          <a:p>
            <a:pPr algn="l">
              <a:lnSpc>
                <a:spcPct val="105000"/>
              </a:lnSpc>
            </a:pPr>
            <a:r>
              <a:rPr sz="1050">
                <a:solidFill>
                  <a:srgbClr val="21295C"/>
                </a:solidFill>
                <a:latin typeface="Consolas"/>
              </a:rPr>
              <a:t>13.            if t mod dT == 0 and t &lt; T_end:</a:t>
            </a:r>
          </a:p>
          <a:p>
            <a:pPr algn="l">
              <a:lnSpc>
                <a:spcPct val="105000"/>
              </a:lnSpc>
            </a:pPr>
            <a:r>
              <a:rPr sz="1050">
                <a:solidFill>
                  <a:srgbClr val="21295C"/>
                </a:solidFill>
                <a:latin typeface="Consolas"/>
              </a:rPr>
              <a:t>14.                 g_dense &lt;- model_backward_dense(layers, dL_dlogits)</a:t>
            </a:r>
          </a:p>
          <a:p>
            <a:pPr algn="l">
              <a:lnSpc>
                <a:spcPct val="105000"/>
              </a:lnSpc>
            </a:pPr>
            <a:r>
              <a:rPr sz="1050">
                <a:solidFill>
                  <a:srgbClr val="21295C"/>
                </a:solidFill>
                <a:latin typeface="Consolas"/>
              </a:rPr>
              <a:t>15.                 f_t     &lt;- (alpha/2)(1 + cos(pi t/T_end))</a:t>
            </a:r>
          </a:p>
          <a:p>
            <a:pPr algn="l">
              <a:lnSpc>
                <a:spcPct val="105000"/>
              </a:lnSpc>
            </a:pPr>
            <a:r>
              <a:rPr sz="1050">
                <a:solidFill>
                  <a:srgbClr val="21295C"/>
                </a:solidFill>
                <a:latin typeface="Consolas"/>
              </a:rPr>
              <a:t>16.                 for L:  rigl_update(L, g_dense[L], f_t)</a:t>
            </a:r>
          </a:p>
          <a:p>
            <a:pPr algn="l">
              <a:lnSpc>
                <a:spcPct val="105000"/>
              </a:lnSpc>
            </a:pPr>
            <a:r>
              <a:rPr sz="1050">
                <a:solidFill>
                  <a:srgbClr val="21295C"/>
                </a:solidFill>
                <a:latin typeface="Consolas"/>
              </a:rPr>
              <a:t>17.            t &lt;- t + 1</a:t>
            </a:r>
          </a:p>
          <a:p>
            <a:pPr algn="l">
              <a:lnSpc>
                <a:spcPct val="105000"/>
              </a:lnSpc>
            </a:pPr>
            <a:r>
              <a:rPr sz="1050">
                <a:solidFill>
                  <a:srgbClr val="21295C"/>
                </a:solidFill>
                <a:latin typeface="Consolas"/>
              </a:rPr>
              <a:t>18.       acc_val &lt;- evaluate(layers, val_set)</a:t>
            </a:r>
          </a:p>
          <a:p>
            <a:pPr algn="l">
              <a:lnSpc>
                <a:spcPct val="105000"/>
              </a:lnSpc>
            </a:pPr>
            <a:r>
              <a:rPr sz="1050">
                <a:solidFill>
                  <a:srgbClr val="21295C"/>
                </a:solidFill>
                <a:latin typeface="Consolas"/>
              </a:rPr>
              <a:t>19.       log(epoch, acc_val); save_checkpoint_if_best()</a:t>
            </a:r>
          </a:p>
          <a:p>
            <a:pPr algn="l">
              <a:lnSpc>
                <a:spcPct val="105000"/>
              </a:lnSpc>
            </a:pPr>
            <a:r>
              <a:rPr sz="1050">
                <a:solidFill>
                  <a:srgbClr val="21295C"/>
                </a:solidFill>
                <a:latin typeface="Consolas"/>
              </a:rPr>
              <a:t> </a:t>
            </a:r>
          </a:p>
        </p:txBody>
      </p:sp>
      <p:sp>
        <p:nvSpPr>
          <p:cNvPr id="17" name="TextBox 16"/>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8" name="TextBox 17"/>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C8  ·  MCU F746ZG</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Project skeleton + forward port</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Goal: same forward kernels running on the F746ZG, bit-exact vs host C.</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Purpose</a:t>
            </a:r>
          </a:p>
        </p:txBody>
      </p:sp>
      <p:sp>
        <p:nvSpPr>
          <p:cNvPr id="8" name="TextBox 7"/>
          <p:cNvSpPr txBox="1"/>
          <p:nvPr/>
        </p:nvSpPr>
        <p:spPr>
          <a:xfrm>
            <a:off x="457200" y="2304288"/>
            <a:ext cx="5303520" cy="1463040"/>
          </a:xfrm>
          <a:prstGeom prst="rect">
            <a:avLst/>
          </a:prstGeom>
          <a:noFill/>
        </p:spPr>
        <p:txBody>
          <a:bodyPr wrap="square" lIns="45720" rIns="45720" tIns="18288" bIns="18288" anchor="t">
            <a:spAutoFit/>
          </a:bodyPr>
          <a:lstStyle/>
          <a:p>
            <a:pPr algn="l">
              <a:lnSpc>
                <a:spcPct val="125000"/>
              </a:lnSpc>
            </a:pPr>
            <a:r>
              <a:rPr sz="1250" b="0" i="0">
                <a:solidFill>
                  <a:srgbClr val="21295C"/>
                </a:solidFill>
                <a:latin typeface="Calibri"/>
              </a:rPr>
              <a:t>First contact with the target hardware. Bring up an STM32CubeIDE project, wire USART3 for printf, enable the DWT cycle counter, and port the C2 forward kernels onto the MCU. CMSIS-NN handles standard kernels — we only need the mask-aware wrapper around its int8 GEMM.</a:t>
            </a:r>
          </a:p>
        </p:txBody>
      </p:sp>
      <p:sp>
        <p:nvSpPr>
          <p:cNvPr id="9" name="TextBox 8"/>
          <p:cNvSpPr txBox="1"/>
          <p:nvPr/>
        </p:nvSpPr>
        <p:spPr>
          <a:xfrm>
            <a:off x="457200" y="38404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How to start</a:t>
            </a:r>
          </a:p>
        </p:txBody>
      </p:sp>
      <p:sp>
        <p:nvSpPr>
          <p:cNvPr id="10" name="TextBox 9"/>
          <p:cNvSpPr txBox="1"/>
          <p:nvPr/>
        </p:nvSpPr>
        <p:spPr>
          <a:xfrm>
            <a:off x="457200" y="4133088"/>
            <a:ext cx="5303520" cy="1737360"/>
          </a:xfrm>
          <a:prstGeom prst="rect">
            <a:avLst/>
          </a:prstGeom>
          <a:noFill/>
        </p:spPr>
        <p:txBody>
          <a:bodyPr wrap="square" lIns="0" rIns="0">
            <a:spAutoFit/>
          </a:bodyPr>
          <a:lstStyle/>
          <a:p>
            <a:pPr algn="l">
              <a:lnSpc>
                <a:spcPct val="125000"/>
              </a:lnSpc>
            </a:pPr>
            <a:r>
              <a:rPr sz="1200" b="1">
                <a:solidFill>
                  <a:srgbClr val="1E2761"/>
                </a:solidFill>
                <a:latin typeface="Calibri"/>
              </a:rPr>
              <a:t>1.  </a:t>
            </a:r>
            <a:r>
              <a:rPr sz="1150">
                <a:solidFill>
                  <a:srgbClr val="21295C"/>
                </a:solidFill>
                <a:latin typeface="Calibri"/>
              </a:rPr>
              <a:t>Get printf('hello\n') over USART3 at 115200 baud working first.</a:t>
            </a:r>
          </a:p>
          <a:p>
            <a:pPr algn="l">
              <a:lnSpc>
                <a:spcPct val="125000"/>
              </a:lnSpc>
            </a:pPr>
            <a:r>
              <a:rPr sz="1200" b="1">
                <a:solidFill>
                  <a:srgbClr val="1E2761"/>
                </a:solidFill>
                <a:latin typeface="Calibri"/>
              </a:rPr>
              <a:t>2.  </a:t>
            </a:r>
            <a:r>
              <a:rPr sz="1150">
                <a:solidFill>
                  <a:srgbClr val="21295C"/>
                </a:solidFill>
                <a:latin typeface="Calibri"/>
              </a:rPr>
              <a:t>Verify DWT cycle counter ticks (~216M per second).</a:t>
            </a:r>
          </a:p>
          <a:p>
            <a:pPr algn="l">
              <a:lnSpc>
                <a:spcPct val="125000"/>
              </a:lnSpc>
            </a:pPr>
            <a:r>
              <a:rPr sz="1200" b="1">
                <a:solidFill>
                  <a:srgbClr val="1E2761"/>
                </a:solidFill>
                <a:latin typeface="Calibri"/>
              </a:rPr>
              <a:t>3.  </a:t>
            </a:r>
            <a:r>
              <a:rPr sz="1150">
                <a:solidFill>
                  <a:srgbClr val="21295C"/>
                </a:solidFill>
                <a:latin typeface="Calibri"/>
              </a:rPr>
              <a:t>Port qfc_forward_masked unchanged; only the SRAM mirrors differ.</a:t>
            </a:r>
          </a:p>
          <a:p>
            <a:pPr algn="l">
              <a:lnSpc>
                <a:spcPct val="125000"/>
              </a:lnSpc>
            </a:pPr>
            <a:r>
              <a:rPr sz="1200" b="1">
                <a:solidFill>
                  <a:srgbClr val="1E2761"/>
                </a:solidFill>
                <a:latin typeface="Calibri"/>
              </a:rPr>
              <a:t>4.  </a:t>
            </a:r>
            <a:r>
              <a:rPr sz="1150">
                <a:solidFill>
                  <a:srgbClr val="21295C"/>
                </a:solidFill>
                <a:latin typeface="Calibri"/>
              </a:rPr>
              <a:t>Stream a fixed input batch from host via UART; collect logits back.</a:t>
            </a:r>
          </a:p>
          <a:p>
            <a:pPr algn="l">
              <a:lnSpc>
                <a:spcPct val="125000"/>
              </a:lnSpc>
            </a:pPr>
            <a:r>
              <a:rPr sz="1200" b="1">
                <a:solidFill>
                  <a:srgbClr val="1E2761"/>
                </a:solidFill>
                <a:latin typeface="Calibri"/>
              </a:rPr>
              <a:t>5.  </a:t>
            </a:r>
            <a:r>
              <a:rPr sz="1150">
                <a:solidFill>
                  <a:srgbClr val="21295C"/>
                </a:solidFill>
                <a:latin typeface="Calibri"/>
              </a:rPr>
              <a:t>Diff against host-C output — must match within 1 LSB.</a:t>
            </a:r>
          </a:p>
        </p:txBody>
      </p:sp>
      <p:sp>
        <p:nvSpPr>
          <p:cNvPr id="11" name="Rectangle 10"/>
          <p:cNvSpPr/>
          <p:nvPr/>
        </p:nvSpPr>
        <p:spPr>
          <a:xfrm>
            <a:off x="457200" y="5532120"/>
            <a:ext cx="5303520" cy="502920"/>
          </a:xfrm>
          <a:prstGeom prst="rect">
            <a:avLst/>
          </a:prstGeom>
          <a:solidFill>
            <a:srgbClr val="F5F6FA"/>
          </a:solidFill>
          <a:ln w="9525">
            <a:solidFill>
              <a:srgbClr val="2C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568696"/>
            <a:ext cx="640080" cy="457200"/>
          </a:xfrm>
          <a:prstGeom prst="rect">
            <a:avLst/>
          </a:prstGeom>
          <a:noFill/>
        </p:spPr>
        <p:txBody>
          <a:bodyPr wrap="square" lIns="45720" rIns="45720" tIns="18288" bIns="18288" anchor="ctr">
            <a:spAutoFit/>
          </a:bodyPr>
          <a:lstStyle/>
          <a:p>
            <a:pPr algn="l">
              <a:lnSpc>
                <a:spcPct val="115000"/>
              </a:lnSpc>
            </a:pPr>
            <a:r>
              <a:rPr sz="1100" b="1" i="0">
                <a:solidFill>
                  <a:srgbClr val="2C7A4B"/>
                </a:solidFill>
                <a:latin typeface="Calibri"/>
              </a:rPr>
              <a:t>GATE</a:t>
            </a:r>
          </a:p>
        </p:txBody>
      </p:sp>
      <p:sp>
        <p:nvSpPr>
          <p:cNvPr id="13" name="TextBox 12"/>
          <p:cNvSpPr txBox="1"/>
          <p:nvPr/>
        </p:nvSpPr>
        <p:spPr>
          <a:xfrm>
            <a:off x="1234440" y="5532120"/>
            <a:ext cx="4480560" cy="502920"/>
          </a:xfrm>
          <a:prstGeom prst="rect">
            <a:avLst/>
          </a:prstGeom>
          <a:noFill/>
        </p:spPr>
        <p:txBody>
          <a:bodyPr wrap="square" lIns="45720" rIns="45720" tIns="18288" bIns="18288" anchor="ctr">
            <a:spAutoFit/>
          </a:bodyPr>
          <a:lstStyle/>
          <a:p>
            <a:pPr algn="l">
              <a:lnSpc>
                <a:spcPct val="115000"/>
              </a:lnSpc>
            </a:pPr>
            <a:r>
              <a:rPr sz="1150" b="0" i="0">
                <a:solidFill>
                  <a:srgbClr val="21295C"/>
                </a:solidFill>
                <a:latin typeface="Calibri"/>
              </a:rPr>
              <a:t>max |delta_logit| &lt;= 1 LSB versus host-C reference  ·  DWT reports per-step latency.</a:t>
            </a:r>
          </a:p>
        </p:txBody>
      </p:sp>
      <p:sp>
        <p:nvSpPr>
          <p:cNvPr id="14" name="TextBox 13"/>
          <p:cNvSpPr txBox="1"/>
          <p:nvPr/>
        </p:nvSpPr>
        <p:spPr>
          <a:xfrm>
            <a:off x="6035040" y="2011680"/>
            <a:ext cx="566928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Algorithm</a:t>
            </a:r>
          </a:p>
        </p:txBody>
      </p:sp>
      <p:sp>
        <p:nvSpPr>
          <p:cNvPr id="15" name="Rectangle 14"/>
          <p:cNvSpPr/>
          <p:nvPr/>
        </p:nvSpPr>
        <p:spPr>
          <a:xfrm>
            <a:off x="6035040" y="2304288"/>
            <a:ext cx="5669280" cy="3931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377440"/>
            <a:ext cx="5449824" cy="3785616"/>
          </a:xfrm>
          <a:prstGeom prst="rect">
            <a:avLst/>
          </a:prstGeom>
          <a:noFill/>
        </p:spPr>
        <p:txBody>
          <a:bodyPr wrap="none" lIns="18288" tIns="0" bIns="0" anchor="t">
            <a:spAutoFit/>
          </a:bodyPr>
          <a:lstStyle/>
          <a:p>
            <a:pPr algn="l">
              <a:lnSpc>
                <a:spcPct val="105000"/>
              </a:lnSpc>
            </a:pPr>
            <a:r>
              <a:rPr sz="1050">
                <a:solidFill>
                  <a:srgbClr val="21295C"/>
                </a:solidFill>
                <a:latin typeface="Consolas"/>
              </a:rPr>
              <a:t>ALGORITHM  mcu_forward_bringup</a:t>
            </a:r>
          </a:p>
          <a:p>
            <a:pPr algn="l">
              <a:lnSpc>
                <a:spcPct val="105000"/>
              </a:lnSpc>
            </a:pPr>
            <a:r>
              <a:rPr sz="1050">
                <a:solidFill>
                  <a:srgbClr val="21295C"/>
                </a:solidFill>
                <a:latin typeface="Consolas"/>
              </a:rPr>
              <a:t>STEPS</a:t>
            </a:r>
          </a:p>
          <a:p>
            <a:pPr algn="l">
              <a:lnSpc>
                <a:spcPct val="105000"/>
              </a:lnSpc>
            </a:pPr>
            <a:r>
              <a:rPr sz="1050">
                <a:solidFill>
                  <a:srgbClr val="21295C"/>
                </a:solidFill>
                <a:latin typeface="Consolas"/>
              </a:rPr>
              <a:t>---------------------------------------------------</a:t>
            </a:r>
          </a:p>
          <a:p>
            <a:pPr algn="l">
              <a:lnSpc>
                <a:spcPct val="105000"/>
              </a:lnSpc>
            </a:pPr>
            <a:r>
              <a:rPr sz="1050">
                <a:solidFill>
                  <a:srgbClr val="21295C"/>
                </a:solidFill>
                <a:latin typeface="Consolas"/>
              </a:rPr>
              <a:t> 1.  CubeMX:  enable USART3, FPU, 216 MHz clock.</a:t>
            </a:r>
          </a:p>
          <a:p>
            <a:pPr algn="l">
              <a:lnSpc>
                <a:spcPct val="105000"/>
              </a:lnSpc>
            </a:pPr>
            <a:r>
              <a:rPr sz="1050">
                <a:solidFill>
                  <a:srgbClr val="21295C"/>
                </a:solidFill>
                <a:latin typeface="Consolas"/>
              </a:rPr>
              <a:t> 2.  Pull CMSIS-NN as submodule; add to include path.</a:t>
            </a:r>
          </a:p>
          <a:p>
            <a:pPr algn="l">
              <a:lnSpc>
                <a:spcPct val="105000"/>
              </a:lnSpc>
            </a:pPr>
            <a:r>
              <a:rPr sz="1050">
                <a:solidFill>
                  <a:srgbClr val="21295C"/>
                </a:solidFill>
                <a:latin typeface="Consolas"/>
              </a:rPr>
              <a:t> 3.  In main():</a:t>
            </a:r>
          </a:p>
          <a:p>
            <a:pPr algn="l">
              <a:lnSpc>
                <a:spcPct val="105000"/>
              </a:lnSpc>
            </a:pPr>
            <a:r>
              <a:rPr sz="1050">
                <a:solidFill>
                  <a:srgbClr val="21295C"/>
                </a:solidFill>
                <a:latin typeface="Consolas"/>
              </a:rPr>
              <a:t>        CoreDebug-&gt;DEMCR |= TRCENA_Msk;</a:t>
            </a:r>
          </a:p>
          <a:p>
            <a:pPr algn="l">
              <a:lnSpc>
                <a:spcPct val="105000"/>
              </a:lnSpc>
            </a:pPr>
            <a:r>
              <a:rPr sz="1050">
                <a:solidFill>
                  <a:srgbClr val="21295C"/>
                </a:solidFill>
                <a:latin typeface="Consolas"/>
              </a:rPr>
              <a:t>        DWT-&gt;CYCCNT = 0;</a:t>
            </a:r>
          </a:p>
          <a:p>
            <a:pPr algn="l">
              <a:lnSpc>
                <a:spcPct val="105000"/>
              </a:lnSpc>
            </a:pPr>
            <a:r>
              <a:rPr sz="1050">
                <a:solidFill>
                  <a:srgbClr val="21295C"/>
                </a:solidFill>
                <a:latin typeface="Consolas"/>
              </a:rPr>
              <a:t>        DWT-&gt;CTRL  |= CYCCNTENA_Msk;</a:t>
            </a:r>
          </a:p>
          <a:p>
            <a:pPr algn="l">
              <a:lnSpc>
                <a:spcPct val="105000"/>
              </a:lnSpc>
            </a:pPr>
            <a:r>
              <a:rPr sz="1050">
                <a:solidFill>
                  <a:srgbClr val="21295C"/>
                </a:solidFill>
                <a:latin typeface="Consolas"/>
              </a:rPr>
              <a:t> 4.  Flash weights_q8.c + masks.c + scales.c</a:t>
            </a:r>
          </a:p>
          <a:p>
            <a:pPr algn="l">
              <a:lnSpc>
                <a:spcPct val="105000"/>
              </a:lnSpc>
            </a:pPr>
            <a:r>
              <a:rPr sz="1050">
                <a:solidFill>
                  <a:srgbClr val="21295C"/>
                </a:solidFill>
                <a:latin typeface="Consolas"/>
              </a:rPr>
              <a:t>     (binary blobs exported from C7) as const arrays.</a:t>
            </a:r>
          </a:p>
          <a:p>
            <a:pPr algn="l">
              <a:lnSpc>
                <a:spcPct val="105000"/>
              </a:lnSpc>
            </a:pPr>
            <a:r>
              <a:rPr sz="1050">
                <a:solidFill>
                  <a:srgbClr val="21295C"/>
                </a:solidFill>
                <a:latin typeface="Consolas"/>
              </a:rPr>
              <a:t> 5.  Boot:  memcpy(W_ram, W0, TOTAL_W)</a:t>
            </a:r>
          </a:p>
          <a:p>
            <a:pPr algn="l">
              <a:lnSpc>
                <a:spcPct val="105000"/>
              </a:lnSpc>
            </a:pPr>
            <a:r>
              <a:rPr sz="1050">
                <a:solidFill>
                  <a:srgbClr val="21295C"/>
                </a:solidFill>
                <a:latin typeface="Consolas"/>
              </a:rPr>
              <a:t>            memcpy(M_ram, M0, TOTAL_M_BYTES)</a:t>
            </a:r>
          </a:p>
          <a:p>
            <a:pPr algn="l">
              <a:lnSpc>
                <a:spcPct val="105000"/>
              </a:lnSpc>
            </a:pPr>
            <a:r>
              <a:rPr sz="1050">
                <a:solidFill>
                  <a:srgbClr val="21295C"/>
                </a:solidFill>
                <a:latin typeface="Consolas"/>
              </a:rPr>
              <a:t> 6.  Implement model_forward(x, logits):</a:t>
            </a:r>
          </a:p>
          <a:p>
            <a:pPr algn="l">
              <a:lnSpc>
                <a:spcPct val="105000"/>
              </a:lnSpc>
            </a:pPr>
            <a:r>
              <a:rPr sz="1050">
                <a:solidFill>
                  <a:srgbClr val="21295C"/>
                </a:solidFill>
                <a:latin typeface="Consolas"/>
              </a:rPr>
              <a:t>        for l in 0..L-1:</a:t>
            </a:r>
          </a:p>
          <a:p>
            <a:pPr algn="l">
              <a:lnSpc>
                <a:spcPct val="105000"/>
              </a:lnSpc>
            </a:pPr>
            <a:r>
              <a:rPr sz="1050">
                <a:solidFill>
                  <a:srgbClr val="21295C"/>
                </a:solidFill>
                <a:latin typeface="Consolas"/>
              </a:rPr>
              <a:t>            switch LAYERS[l].kind:</a:t>
            </a:r>
          </a:p>
          <a:p>
            <a:pPr algn="l">
              <a:lnSpc>
                <a:spcPct val="105000"/>
              </a:lnSpc>
            </a:pPr>
            <a:r>
              <a:rPr sz="1050">
                <a:solidFill>
                  <a:srgbClr val="21295C"/>
                </a:solidFill>
                <a:latin typeface="Consolas"/>
              </a:rPr>
              <a:t>                LINEAR : qfc_forward_masked(...)</a:t>
            </a:r>
          </a:p>
          <a:p>
            <a:pPr algn="l">
              <a:lnSpc>
                <a:spcPct val="105000"/>
              </a:lnSpc>
            </a:pPr>
            <a:r>
              <a:rPr sz="1050">
                <a:solidFill>
                  <a:srgbClr val="21295C"/>
                </a:solidFill>
                <a:latin typeface="Consolas"/>
              </a:rPr>
              <a:t>                CONV2D : qconv2d_forward_masked(...)</a:t>
            </a:r>
          </a:p>
          <a:p>
            <a:pPr algn="l">
              <a:lnSpc>
                <a:spcPct val="105000"/>
              </a:lnSpc>
            </a:pPr>
            <a:r>
              <a:rPr sz="1050">
                <a:solidFill>
                  <a:srgbClr val="21295C"/>
                </a:solidFill>
                <a:latin typeface="Consolas"/>
              </a:rPr>
              <a:t>            swap input/output buffers (A_ram ping-pong)</a:t>
            </a:r>
          </a:p>
          <a:p>
            <a:pPr algn="l">
              <a:lnSpc>
                <a:spcPct val="105000"/>
              </a:lnSpc>
            </a:pPr>
            <a:r>
              <a:rPr sz="1050">
                <a:solidFill>
                  <a:srgbClr val="21295C"/>
                </a:solidFill>
                <a:latin typeface="Consolas"/>
              </a:rPr>
              <a:t> 7.  Send one fixed input over UART, run model_forward,</a:t>
            </a:r>
          </a:p>
          <a:p>
            <a:pPr algn="l">
              <a:lnSpc>
                <a:spcPct val="105000"/>
              </a:lnSpc>
            </a:pPr>
            <a:r>
              <a:rPr sz="1050">
                <a:solidFill>
                  <a:srgbClr val="21295C"/>
                </a:solidFill>
                <a:latin typeface="Consolas"/>
              </a:rPr>
              <a:t>     UART back the int8 logits.</a:t>
            </a:r>
          </a:p>
          <a:p>
            <a:pPr algn="l">
              <a:lnSpc>
                <a:spcPct val="105000"/>
              </a:lnSpc>
            </a:pPr>
            <a:r>
              <a:rPr sz="1050">
                <a:solidFill>
                  <a:srgbClr val="21295C"/>
                </a:solidFill>
                <a:latin typeface="Consolas"/>
              </a:rPr>
              <a:t> 8.  Diff against host-C reference on the same input.</a:t>
            </a:r>
          </a:p>
          <a:p>
            <a:pPr algn="l">
              <a:lnSpc>
                <a:spcPct val="105000"/>
              </a:lnSpc>
            </a:pPr>
            <a:r>
              <a:rPr sz="1050">
                <a:solidFill>
                  <a:srgbClr val="21295C"/>
                </a:solidFill>
                <a:latin typeface="Consolas"/>
              </a:rPr>
              <a:t> </a:t>
            </a:r>
          </a:p>
        </p:txBody>
      </p:sp>
      <p:sp>
        <p:nvSpPr>
          <p:cNvPr id="17" name="TextBox 16"/>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8" name="TextBox 17"/>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C9  ·  MCU F746ZG</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int8 backward on the MCU</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Goal: backward kernels running on-device, dW bit-identical to host C.</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Purpose</a:t>
            </a:r>
          </a:p>
        </p:txBody>
      </p:sp>
      <p:sp>
        <p:nvSpPr>
          <p:cNvPr id="8" name="TextBox 7"/>
          <p:cNvSpPr txBox="1"/>
          <p:nvPr/>
        </p:nvSpPr>
        <p:spPr>
          <a:xfrm>
            <a:off x="457200" y="2304288"/>
            <a:ext cx="5303520" cy="1463040"/>
          </a:xfrm>
          <a:prstGeom prst="rect">
            <a:avLst/>
          </a:prstGeom>
          <a:noFill/>
        </p:spPr>
        <p:txBody>
          <a:bodyPr wrap="square" lIns="45720" rIns="45720" tIns="18288" bIns="18288" anchor="t">
            <a:spAutoFit/>
          </a:bodyPr>
          <a:lstStyle/>
          <a:p>
            <a:pPr algn="l">
              <a:lnSpc>
                <a:spcPct val="125000"/>
              </a:lnSpc>
            </a:pPr>
            <a:r>
              <a:rPr sz="1250" b="0" i="0">
                <a:solidFill>
                  <a:srgbClr val="21295C"/>
                </a:solidFill>
                <a:latin typeface="Calibri"/>
              </a:rPr>
              <a:t>Port the C3 backward kernels (dW, dA for Linear and Conv2d) onto the F746ZG. This is the heaviest C work in the project — CMSIS-NN does not ship backward kernels, so we own this code. Validation is brutal: dW must match the host-C reference byte-for-byte for the first 10 mini-batches.</a:t>
            </a:r>
          </a:p>
        </p:txBody>
      </p:sp>
      <p:sp>
        <p:nvSpPr>
          <p:cNvPr id="9" name="TextBox 8"/>
          <p:cNvSpPr txBox="1"/>
          <p:nvPr/>
        </p:nvSpPr>
        <p:spPr>
          <a:xfrm>
            <a:off x="457200" y="38404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How to start</a:t>
            </a:r>
          </a:p>
        </p:txBody>
      </p:sp>
      <p:sp>
        <p:nvSpPr>
          <p:cNvPr id="10" name="TextBox 9"/>
          <p:cNvSpPr txBox="1"/>
          <p:nvPr/>
        </p:nvSpPr>
        <p:spPr>
          <a:xfrm>
            <a:off x="457200" y="4133088"/>
            <a:ext cx="5303520" cy="1737360"/>
          </a:xfrm>
          <a:prstGeom prst="rect">
            <a:avLst/>
          </a:prstGeom>
          <a:noFill/>
        </p:spPr>
        <p:txBody>
          <a:bodyPr wrap="square" lIns="0" rIns="0">
            <a:spAutoFit/>
          </a:bodyPr>
          <a:lstStyle/>
          <a:p>
            <a:pPr algn="l">
              <a:lnSpc>
                <a:spcPct val="125000"/>
              </a:lnSpc>
            </a:pPr>
            <a:r>
              <a:rPr sz="1200" b="1">
                <a:solidFill>
                  <a:srgbClr val="1E2761"/>
                </a:solidFill>
                <a:latin typeface="Calibri"/>
              </a:rPr>
              <a:t>1.  </a:t>
            </a:r>
            <a:r>
              <a:rPr sz="1150">
                <a:solidFill>
                  <a:srgbClr val="21295C"/>
                </a:solidFill>
                <a:latin typeface="Calibri"/>
              </a:rPr>
              <a:t>Port qfc_backward unchanged from host C — the algorithm is the same.</a:t>
            </a:r>
          </a:p>
          <a:p>
            <a:pPr algn="l">
              <a:lnSpc>
                <a:spcPct val="125000"/>
              </a:lnSpc>
            </a:pPr>
            <a:r>
              <a:rPr sz="1200" b="1">
                <a:solidFill>
                  <a:srgbClr val="1E2761"/>
                </a:solidFill>
                <a:latin typeface="Calibri"/>
              </a:rPr>
              <a:t>2.  </a:t>
            </a:r>
            <a:r>
              <a:rPr sz="1150">
                <a:solidFill>
                  <a:srgbClr val="21295C"/>
                </a:solidFill>
                <a:latin typeface="Calibri"/>
              </a:rPr>
              <a:t>Make qconv_backward stride/pad/dilation match host C exactly.</a:t>
            </a:r>
          </a:p>
          <a:p>
            <a:pPr algn="l">
              <a:lnSpc>
                <a:spcPct val="125000"/>
              </a:lnSpc>
            </a:pPr>
            <a:r>
              <a:rPr sz="1200" b="1">
                <a:solidFill>
                  <a:srgbClr val="1E2761"/>
                </a:solidFill>
                <a:latin typeface="Calibri"/>
              </a:rPr>
              <a:t>3.  </a:t>
            </a:r>
            <a:r>
              <a:rPr sz="1150">
                <a:solidFill>
                  <a:srgbClr val="21295C"/>
                </a:solidFill>
                <a:latin typeface="Calibri"/>
              </a:rPr>
              <a:t>Stream one fixed batch from host, run forward + backward, UART back dW.</a:t>
            </a:r>
          </a:p>
          <a:p>
            <a:pPr algn="l">
              <a:lnSpc>
                <a:spcPct val="125000"/>
              </a:lnSpc>
            </a:pPr>
            <a:r>
              <a:rPr sz="1200" b="1">
                <a:solidFill>
                  <a:srgbClr val="1E2761"/>
                </a:solidFill>
                <a:latin typeface="Calibri"/>
              </a:rPr>
              <a:t>4.  </a:t>
            </a:r>
            <a:r>
              <a:rPr sz="1150">
                <a:solidFill>
                  <a:srgbClr val="21295C"/>
                </a:solidFill>
                <a:latin typeface="Calibri"/>
              </a:rPr>
              <a:t>Diff each layer's dW against host-C reference for 10 batches.</a:t>
            </a:r>
          </a:p>
          <a:p>
            <a:pPr algn="l">
              <a:lnSpc>
                <a:spcPct val="125000"/>
              </a:lnSpc>
            </a:pPr>
            <a:r>
              <a:rPr sz="1200" b="1">
                <a:solidFill>
                  <a:srgbClr val="1E2761"/>
                </a:solidFill>
                <a:latin typeface="Calibri"/>
              </a:rPr>
              <a:t>5.  </a:t>
            </a:r>
            <a:r>
              <a:rPr sz="1150">
                <a:solidFill>
                  <a:srgbClr val="21295C"/>
                </a:solidFill>
                <a:latin typeface="Calibri"/>
              </a:rPr>
              <a:t>Profile peak SRAM use — must not exceed memory map budget.</a:t>
            </a:r>
          </a:p>
        </p:txBody>
      </p:sp>
      <p:sp>
        <p:nvSpPr>
          <p:cNvPr id="11" name="Rectangle 10"/>
          <p:cNvSpPr/>
          <p:nvPr/>
        </p:nvSpPr>
        <p:spPr>
          <a:xfrm>
            <a:off x="457200" y="5532120"/>
            <a:ext cx="5303520" cy="502920"/>
          </a:xfrm>
          <a:prstGeom prst="rect">
            <a:avLst/>
          </a:prstGeom>
          <a:solidFill>
            <a:srgbClr val="F5F6FA"/>
          </a:solidFill>
          <a:ln w="9525">
            <a:solidFill>
              <a:srgbClr val="2C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568696"/>
            <a:ext cx="640080" cy="457200"/>
          </a:xfrm>
          <a:prstGeom prst="rect">
            <a:avLst/>
          </a:prstGeom>
          <a:noFill/>
        </p:spPr>
        <p:txBody>
          <a:bodyPr wrap="square" lIns="45720" rIns="45720" tIns="18288" bIns="18288" anchor="ctr">
            <a:spAutoFit/>
          </a:bodyPr>
          <a:lstStyle/>
          <a:p>
            <a:pPr algn="l">
              <a:lnSpc>
                <a:spcPct val="115000"/>
              </a:lnSpc>
            </a:pPr>
            <a:r>
              <a:rPr sz="1100" b="1" i="0">
                <a:solidFill>
                  <a:srgbClr val="2C7A4B"/>
                </a:solidFill>
                <a:latin typeface="Calibri"/>
              </a:rPr>
              <a:t>GATE</a:t>
            </a:r>
          </a:p>
        </p:txBody>
      </p:sp>
      <p:sp>
        <p:nvSpPr>
          <p:cNvPr id="13" name="TextBox 12"/>
          <p:cNvSpPr txBox="1"/>
          <p:nvPr/>
        </p:nvSpPr>
        <p:spPr>
          <a:xfrm>
            <a:off x="1234440" y="5532120"/>
            <a:ext cx="4480560" cy="502920"/>
          </a:xfrm>
          <a:prstGeom prst="rect">
            <a:avLst/>
          </a:prstGeom>
          <a:noFill/>
        </p:spPr>
        <p:txBody>
          <a:bodyPr wrap="square" lIns="45720" rIns="45720" tIns="18288" bIns="18288" anchor="ctr">
            <a:spAutoFit/>
          </a:bodyPr>
          <a:lstStyle/>
          <a:p>
            <a:pPr algn="l">
              <a:lnSpc>
                <a:spcPct val="115000"/>
              </a:lnSpc>
            </a:pPr>
            <a:r>
              <a:rPr sz="1150" b="0" i="0">
                <a:solidFill>
                  <a:srgbClr val="21295C"/>
                </a:solidFill>
                <a:latin typeface="Calibri"/>
              </a:rPr>
              <a:t>dW byte-identical to host C for 10 batches  ·  peak SRAM within 320 KB.</a:t>
            </a:r>
          </a:p>
        </p:txBody>
      </p:sp>
      <p:sp>
        <p:nvSpPr>
          <p:cNvPr id="14" name="TextBox 13"/>
          <p:cNvSpPr txBox="1"/>
          <p:nvPr/>
        </p:nvSpPr>
        <p:spPr>
          <a:xfrm>
            <a:off x="6035040" y="2011680"/>
            <a:ext cx="566928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Algorithm</a:t>
            </a:r>
          </a:p>
        </p:txBody>
      </p:sp>
      <p:sp>
        <p:nvSpPr>
          <p:cNvPr id="15" name="Rectangle 14"/>
          <p:cNvSpPr/>
          <p:nvPr/>
        </p:nvSpPr>
        <p:spPr>
          <a:xfrm>
            <a:off x="6035040" y="2304288"/>
            <a:ext cx="5669280" cy="3931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377440"/>
            <a:ext cx="5449824" cy="3785616"/>
          </a:xfrm>
          <a:prstGeom prst="rect">
            <a:avLst/>
          </a:prstGeom>
          <a:noFill/>
        </p:spPr>
        <p:txBody>
          <a:bodyPr wrap="none" lIns="18288" tIns="0" bIns="0" anchor="t">
            <a:spAutoFit/>
          </a:bodyPr>
          <a:lstStyle/>
          <a:p>
            <a:pPr algn="l">
              <a:lnSpc>
                <a:spcPct val="105000"/>
              </a:lnSpc>
            </a:pPr>
            <a:r>
              <a:rPr sz="1050">
                <a:solidFill>
                  <a:srgbClr val="21295C"/>
                </a:solidFill>
                <a:latin typeface="Consolas"/>
              </a:rPr>
              <a:t>ALGORITHM  mcu_backward_step</a:t>
            </a:r>
          </a:p>
          <a:p>
            <a:pPr algn="l">
              <a:lnSpc>
                <a:spcPct val="105000"/>
              </a:lnSpc>
            </a:pPr>
            <a:r>
              <a:rPr sz="1050">
                <a:solidFill>
                  <a:srgbClr val="21295C"/>
                </a:solidFill>
                <a:latin typeface="Consolas"/>
              </a:rPr>
              <a:t>---------------------------------------------------</a:t>
            </a:r>
          </a:p>
          <a:p>
            <a:pPr algn="l">
              <a:lnSpc>
                <a:spcPct val="105000"/>
              </a:lnSpc>
            </a:pPr>
            <a:r>
              <a:rPr sz="1050">
                <a:solidFill>
                  <a:srgbClr val="21295C"/>
                </a:solidFill>
                <a:latin typeface="Consolas"/>
              </a:rPr>
              <a:t> 1.  forward pass (C8) leaves A_l in SRAM ping-pong.</a:t>
            </a:r>
          </a:p>
          <a:p>
            <a:pPr algn="l">
              <a:lnSpc>
                <a:spcPct val="105000"/>
              </a:lnSpc>
            </a:pPr>
            <a:r>
              <a:rPr sz="1050">
                <a:solidFill>
                  <a:srgbClr val="21295C"/>
                </a:solidFill>
                <a:latin typeface="Consolas"/>
              </a:rPr>
              <a:t> 2.  dA_L  &lt;-  softmax_xent_grad(logits, y)  (int8)</a:t>
            </a:r>
          </a:p>
          <a:p>
            <a:pPr algn="l">
              <a:lnSpc>
                <a:spcPct val="105000"/>
              </a:lnSpc>
            </a:pPr>
            <a:r>
              <a:rPr sz="1050">
                <a:solidFill>
                  <a:srgbClr val="21295C"/>
                </a:solidFill>
                <a:latin typeface="Consolas"/>
              </a:rPr>
              <a:t> 3.  for l = L-1 .. 0:</a:t>
            </a:r>
          </a:p>
          <a:p>
            <a:pPr algn="l">
              <a:lnSpc>
                <a:spcPct val="105000"/>
              </a:lnSpc>
            </a:pPr>
            <a:r>
              <a:rPr sz="1050">
                <a:solidFill>
                  <a:srgbClr val="21295C"/>
                </a:solidFill>
                <a:latin typeface="Consolas"/>
              </a:rPr>
              <a:t> 4.       switch LAYERS[l].kind:</a:t>
            </a:r>
          </a:p>
          <a:p>
            <a:pPr algn="l">
              <a:lnSpc>
                <a:spcPct val="105000"/>
              </a:lnSpc>
            </a:pPr>
            <a:r>
              <a:rPr sz="1050">
                <a:solidFill>
                  <a:srgbClr val="21295C"/>
                </a:solidFill>
                <a:latin typeface="Consolas"/>
              </a:rPr>
              <a:t> 5.           LINEAR :</a:t>
            </a:r>
          </a:p>
          <a:p>
            <a:pPr algn="l">
              <a:lnSpc>
                <a:spcPct val="105000"/>
              </a:lnSpc>
            </a:pPr>
            <a:r>
              <a:rPr sz="1050">
                <a:solidFill>
                  <a:srgbClr val="21295C"/>
                </a:solidFill>
                <a:latin typeface="Consolas"/>
              </a:rPr>
              <a:t>                qfc_backward(L,</a:t>
            </a:r>
          </a:p>
          <a:p>
            <a:pPr algn="l">
              <a:lnSpc>
                <a:spcPct val="105000"/>
              </a:lnSpc>
            </a:pPr>
            <a:r>
              <a:rPr sz="1050">
                <a:solidFill>
                  <a:srgbClr val="21295C"/>
                </a:solidFill>
                <a:latin typeface="Consolas"/>
              </a:rPr>
              <a:t>                            x_in   = A_{l-1},</a:t>
            </a:r>
          </a:p>
          <a:p>
            <a:pPr algn="l">
              <a:lnSpc>
                <a:spcPct val="105000"/>
              </a:lnSpc>
            </a:pPr>
            <a:r>
              <a:rPr sz="1050">
                <a:solidFill>
                  <a:srgbClr val="21295C"/>
                </a:solidFill>
                <a:latin typeface="Consolas"/>
              </a:rPr>
              <a:t>                            dy     = dA_{l},</a:t>
            </a:r>
          </a:p>
          <a:p>
            <a:pPr algn="l">
              <a:lnSpc>
                <a:spcPct val="105000"/>
              </a:lnSpc>
            </a:pPr>
            <a:r>
              <a:rPr sz="1050">
                <a:solidFill>
                  <a:srgbClr val="21295C"/>
                </a:solidFill>
                <a:latin typeface="Consolas"/>
              </a:rPr>
              <a:t>                            dW_out = dW_ram_l,</a:t>
            </a:r>
          </a:p>
          <a:p>
            <a:pPr algn="l">
              <a:lnSpc>
                <a:spcPct val="105000"/>
              </a:lnSpc>
            </a:pPr>
            <a:r>
              <a:rPr sz="1050">
                <a:solidFill>
                  <a:srgbClr val="21295C"/>
                </a:solidFill>
                <a:latin typeface="Consolas"/>
              </a:rPr>
              <a:t>                            dx_out = dA_{l-1})</a:t>
            </a:r>
          </a:p>
          <a:p>
            <a:pPr algn="l">
              <a:lnSpc>
                <a:spcPct val="105000"/>
              </a:lnSpc>
            </a:pPr>
            <a:r>
              <a:rPr sz="1050">
                <a:solidFill>
                  <a:srgbClr val="21295C"/>
                </a:solidFill>
                <a:latin typeface="Consolas"/>
              </a:rPr>
              <a:t> 6.           CONV2D :</a:t>
            </a:r>
          </a:p>
          <a:p>
            <a:pPr algn="l">
              <a:lnSpc>
                <a:spcPct val="105000"/>
              </a:lnSpc>
            </a:pPr>
            <a:r>
              <a:rPr sz="1050">
                <a:solidFill>
                  <a:srgbClr val="21295C"/>
                </a:solidFill>
                <a:latin typeface="Consolas"/>
              </a:rPr>
              <a:t>                qconv_backward(L, ...)</a:t>
            </a:r>
          </a:p>
          <a:p>
            <a:pPr algn="l">
              <a:lnSpc>
                <a:spcPct val="105000"/>
              </a:lnSpc>
            </a:pPr>
            <a:r>
              <a:rPr sz="1050">
                <a:solidFill>
                  <a:srgbClr val="21295C"/>
                </a:solidFill>
                <a:latin typeface="Consolas"/>
              </a:rPr>
              <a:t> 7.       reuse A_{l-1} buffer once dW_l is written</a:t>
            </a:r>
          </a:p>
          <a:p>
            <a:pPr algn="l">
              <a:lnSpc>
                <a:spcPct val="105000"/>
              </a:lnSpc>
            </a:pPr>
            <a:r>
              <a:rPr sz="1050">
                <a:solidFill>
                  <a:srgbClr val="21295C"/>
                </a:solidFill>
                <a:latin typeface="Consolas"/>
              </a:rPr>
              <a:t> </a:t>
            </a:r>
          </a:p>
          <a:p>
            <a:pPr algn="l">
              <a:lnSpc>
                <a:spcPct val="105000"/>
              </a:lnSpc>
            </a:pPr>
            <a:r>
              <a:rPr sz="1050">
                <a:solidFill>
                  <a:srgbClr val="21295C"/>
                </a:solidFill>
                <a:latin typeface="Consolas"/>
              </a:rPr>
              <a:t>MEMORY DISCIPLINE</a:t>
            </a:r>
          </a:p>
          <a:p>
            <a:pPr algn="l">
              <a:lnSpc>
                <a:spcPct val="105000"/>
              </a:lnSpc>
            </a:pPr>
            <a:r>
              <a:rPr sz="1050">
                <a:solidFill>
                  <a:srgbClr val="21295C"/>
                </a:solidFill>
                <a:latin typeface="Consolas"/>
              </a:rPr>
              <a:t>  - dW gradient buffer is shared across layers, one at a time</a:t>
            </a:r>
          </a:p>
          <a:p>
            <a:pPr algn="l">
              <a:lnSpc>
                <a:spcPct val="105000"/>
              </a:lnSpc>
            </a:pPr>
            <a:r>
              <a:rPr sz="1050">
                <a:solidFill>
                  <a:srgbClr val="21295C"/>
                </a:solidFill>
                <a:latin typeface="Consolas"/>
              </a:rPr>
              <a:t>  - A_ram pages are reclaimed in reverse-layer order</a:t>
            </a:r>
          </a:p>
          <a:p>
            <a:pPr algn="l">
              <a:lnSpc>
                <a:spcPct val="105000"/>
              </a:lnSpc>
            </a:pPr>
            <a:r>
              <a:rPr sz="1050">
                <a:solidFill>
                  <a:srgbClr val="21295C"/>
                </a:solidFill>
                <a:latin typeface="Consolas"/>
              </a:rPr>
              <a:t>  - peak SRAM use is at the deepest layer's backward step</a:t>
            </a:r>
          </a:p>
          <a:p>
            <a:pPr algn="l">
              <a:lnSpc>
                <a:spcPct val="105000"/>
              </a:lnSpc>
            </a:pPr>
            <a:r>
              <a:rPr sz="1050">
                <a:solidFill>
                  <a:srgbClr val="21295C"/>
                </a:solidFill>
                <a:latin typeface="Consolas"/>
              </a:rPr>
              <a:t> </a:t>
            </a:r>
          </a:p>
        </p:txBody>
      </p:sp>
      <p:sp>
        <p:nvSpPr>
          <p:cNvPr id="17" name="TextBox 16"/>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8" name="TextBox 17"/>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C10  ·  MCU F746ZG</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FQT partial update + RigL mask update on-device</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Goal: full training step on-device (forward + backward + update + mask).</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Purpose</a:t>
            </a:r>
          </a:p>
        </p:txBody>
      </p:sp>
      <p:sp>
        <p:nvSpPr>
          <p:cNvPr id="8" name="TextBox 7"/>
          <p:cNvSpPr txBox="1"/>
          <p:nvPr/>
        </p:nvSpPr>
        <p:spPr>
          <a:xfrm>
            <a:off x="457200" y="2304288"/>
            <a:ext cx="5303520" cy="1463040"/>
          </a:xfrm>
          <a:prstGeom prst="rect">
            <a:avLst/>
          </a:prstGeom>
          <a:noFill/>
        </p:spPr>
        <p:txBody>
          <a:bodyPr wrap="square" lIns="45720" rIns="45720" tIns="18288" bIns="18288" anchor="t">
            <a:spAutoFit/>
          </a:bodyPr>
          <a:lstStyle/>
          <a:p>
            <a:pPr algn="l">
              <a:lnSpc>
                <a:spcPct val="125000"/>
              </a:lnSpc>
            </a:pPr>
            <a:r>
              <a:rPr sz="1250" b="0" i="0">
                <a:solidFill>
                  <a:srgbClr val="21295C"/>
                </a:solidFill>
                <a:latin typeface="Calibri"/>
              </a:rPr>
              <a:t>Bring the FQT top-k heap and the RigL drop-and-grow heaps to the MCU. Both use bounded heaps so memory stays predictable. After this milestone the F746ZG can take one full training step end-to-end: forward, backward, partial update, and (every dT steps) a mask refresh.</a:t>
            </a:r>
          </a:p>
        </p:txBody>
      </p:sp>
      <p:sp>
        <p:nvSpPr>
          <p:cNvPr id="9" name="TextBox 8"/>
          <p:cNvSpPr txBox="1"/>
          <p:nvPr/>
        </p:nvSpPr>
        <p:spPr>
          <a:xfrm>
            <a:off x="457200" y="38404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How to start</a:t>
            </a:r>
          </a:p>
        </p:txBody>
      </p:sp>
      <p:sp>
        <p:nvSpPr>
          <p:cNvPr id="10" name="TextBox 9"/>
          <p:cNvSpPr txBox="1"/>
          <p:nvPr/>
        </p:nvSpPr>
        <p:spPr>
          <a:xfrm>
            <a:off x="457200" y="4133088"/>
            <a:ext cx="5303520" cy="1737360"/>
          </a:xfrm>
          <a:prstGeom prst="rect">
            <a:avLst/>
          </a:prstGeom>
          <a:noFill/>
        </p:spPr>
        <p:txBody>
          <a:bodyPr wrap="square" lIns="0" rIns="0">
            <a:spAutoFit/>
          </a:bodyPr>
          <a:lstStyle/>
          <a:p>
            <a:pPr algn="l">
              <a:lnSpc>
                <a:spcPct val="125000"/>
              </a:lnSpc>
            </a:pPr>
            <a:r>
              <a:rPr sz="1200" b="1">
                <a:solidFill>
                  <a:srgbClr val="1E2761"/>
                </a:solidFill>
                <a:latin typeface="Calibri"/>
              </a:rPr>
              <a:t>1.  </a:t>
            </a:r>
            <a:r>
              <a:rPr sz="1150">
                <a:solidFill>
                  <a:srgbClr val="21295C"/>
                </a:solidFill>
                <a:latin typeface="Calibri"/>
              </a:rPr>
              <a:t>Port the bounded heap from C4/C5 as static memory (no malloc on MCU).</a:t>
            </a:r>
          </a:p>
          <a:p>
            <a:pPr algn="l">
              <a:lnSpc>
                <a:spcPct val="125000"/>
              </a:lnSpc>
            </a:pPr>
            <a:r>
              <a:rPr sz="1200" b="1">
                <a:solidFill>
                  <a:srgbClr val="1E2761"/>
                </a:solidFill>
                <a:latin typeface="Calibri"/>
              </a:rPr>
              <a:t>2.  </a:t>
            </a:r>
            <a:r>
              <a:rPr sz="1150">
                <a:solidFill>
                  <a:srgbClr val="21295C"/>
                </a:solidFill>
                <a:latin typeface="Calibri"/>
              </a:rPr>
              <a:t>Verify mask churn matches host C on a 100-step run.</a:t>
            </a:r>
          </a:p>
          <a:p>
            <a:pPr algn="l">
              <a:lnSpc>
                <a:spcPct val="125000"/>
              </a:lnSpc>
            </a:pPr>
            <a:r>
              <a:rPr sz="1200" b="1">
                <a:solidFill>
                  <a:srgbClr val="1E2761"/>
                </a:solidFill>
                <a:latin typeface="Calibri"/>
              </a:rPr>
              <a:t>3.  </a:t>
            </a:r>
            <a:r>
              <a:rPr sz="1150">
                <a:solidFill>
                  <a:srgbClr val="21295C"/>
                </a:solidFill>
                <a:latin typeface="Calibri"/>
              </a:rPr>
              <a:t>Read DWT before/after each phase — log latencies separately.</a:t>
            </a:r>
          </a:p>
          <a:p>
            <a:pPr algn="l">
              <a:lnSpc>
                <a:spcPct val="125000"/>
              </a:lnSpc>
            </a:pPr>
            <a:r>
              <a:rPr sz="1200" b="1">
                <a:solidFill>
                  <a:srgbClr val="1E2761"/>
                </a:solidFill>
                <a:latin typeface="Calibri"/>
              </a:rPr>
              <a:t>4.  </a:t>
            </a:r>
            <a:r>
              <a:rPr sz="1150">
                <a:solidFill>
                  <a:srgbClr val="21295C"/>
                </a:solidFill>
                <a:latin typeface="Calibri"/>
              </a:rPr>
              <a:t>Confirm peak SRAM at refresh step (worst case) stays within budget.</a:t>
            </a:r>
          </a:p>
          <a:p>
            <a:pPr algn="l">
              <a:lnSpc>
                <a:spcPct val="125000"/>
              </a:lnSpc>
            </a:pPr>
            <a:r>
              <a:rPr sz="1200" b="1">
                <a:solidFill>
                  <a:srgbClr val="1E2761"/>
                </a:solidFill>
                <a:latin typeface="Calibri"/>
              </a:rPr>
              <a:t>5.  </a:t>
            </a:r>
            <a:r>
              <a:rPr sz="1150">
                <a:solidFill>
                  <a:srgbClr val="21295C"/>
                </a:solidFill>
                <a:latin typeface="Calibri"/>
              </a:rPr>
              <a:t>Trigger one RigL refresh from a known seed, byte-match mask vs host.</a:t>
            </a:r>
          </a:p>
        </p:txBody>
      </p:sp>
      <p:sp>
        <p:nvSpPr>
          <p:cNvPr id="11" name="Rectangle 10"/>
          <p:cNvSpPr/>
          <p:nvPr/>
        </p:nvSpPr>
        <p:spPr>
          <a:xfrm>
            <a:off x="457200" y="5532120"/>
            <a:ext cx="5303520" cy="502920"/>
          </a:xfrm>
          <a:prstGeom prst="rect">
            <a:avLst/>
          </a:prstGeom>
          <a:solidFill>
            <a:srgbClr val="F5F6FA"/>
          </a:solidFill>
          <a:ln w="9525">
            <a:solidFill>
              <a:srgbClr val="2C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568696"/>
            <a:ext cx="640080" cy="457200"/>
          </a:xfrm>
          <a:prstGeom prst="rect">
            <a:avLst/>
          </a:prstGeom>
          <a:noFill/>
        </p:spPr>
        <p:txBody>
          <a:bodyPr wrap="square" lIns="45720" rIns="45720" tIns="18288" bIns="18288" anchor="ctr">
            <a:spAutoFit/>
          </a:bodyPr>
          <a:lstStyle/>
          <a:p>
            <a:pPr algn="l">
              <a:lnSpc>
                <a:spcPct val="115000"/>
              </a:lnSpc>
            </a:pPr>
            <a:r>
              <a:rPr sz="1100" b="1" i="0">
                <a:solidFill>
                  <a:srgbClr val="2C7A4B"/>
                </a:solidFill>
                <a:latin typeface="Calibri"/>
              </a:rPr>
              <a:t>GATE</a:t>
            </a:r>
          </a:p>
        </p:txBody>
      </p:sp>
      <p:sp>
        <p:nvSpPr>
          <p:cNvPr id="13" name="TextBox 12"/>
          <p:cNvSpPr txBox="1"/>
          <p:nvPr/>
        </p:nvSpPr>
        <p:spPr>
          <a:xfrm>
            <a:off x="1234440" y="5532120"/>
            <a:ext cx="4480560" cy="502920"/>
          </a:xfrm>
          <a:prstGeom prst="rect">
            <a:avLst/>
          </a:prstGeom>
          <a:noFill/>
        </p:spPr>
        <p:txBody>
          <a:bodyPr wrap="square" lIns="45720" rIns="45720" tIns="18288" bIns="18288" anchor="ctr">
            <a:spAutoFit/>
          </a:bodyPr>
          <a:lstStyle/>
          <a:p>
            <a:pPr algn="l">
              <a:lnSpc>
                <a:spcPct val="115000"/>
              </a:lnSpc>
            </a:pPr>
            <a:r>
              <a:rPr sz="1150" b="0" i="0">
                <a:solidFill>
                  <a:srgbClr val="21295C"/>
                </a:solidFill>
                <a:latin typeface="Calibri"/>
              </a:rPr>
              <a:t>100-step on-device run reproduces host-C loss curve  ·  mask churn byte-matches host.</a:t>
            </a:r>
          </a:p>
        </p:txBody>
      </p:sp>
      <p:sp>
        <p:nvSpPr>
          <p:cNvPr id="14" name="TextBox 13"/>
          <p:cNvSpPr txBox="1"/>
          <p:nvPr/>
        </p:nvSpPr>
        <p:spPr>
          <a:xfrm>
            <a:off x="6035040" y="2011680"/>
            <a:ext cx="566928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Algorithm</a:t>
            </a:r>
          </a:p>
        </p:txBody>
      </p:sp>
      <p:sp>
        <p:nvSpPr>
          <p:cNvPr id="15" name="Rectangle 14"/>
          <p:cNvSpPr/>
          <p:nvPr/>
        </p:nvSpPr>
        <p:spPr>
          <a:xfrm>
            <a:off x="6035040" y="2304288"/>
            <a:ext cx="5669280" cy="3931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377440"/>
            <a:ext cx="5449824" cy="3785616"/>
          </a:xfrm>
          <a:prstGeom prst="rect">
            <a:avLst/>
          </a:prstGeom>
          <a:noFill/>
        </p:spPr>
        <p:txBody>
          <a:bodyPr wrap="none" lIns="18288" tIns="0" bIns="0" anchor="t">
            <a:spAutoFit/>
          </a:bodyPr>
          <a:lstStyle/>
          <a:p>
            <a:pPr algn="l">
              <a:lnSpc>
                <a:spcPct val="105000"/>
              </a:lnSpc>
            </a:pPr>
            <a:r>
              <a:rPr sz="1050">
                <a:solidFill>
                  <a:srgbClr val="21295C"/>
                </a:solidFill>
                <a:latin typeface="Consolas"/>
              </a:rPr>
              <a:t>ALGORITHM  mcu_training_step  (one minibatch)</a:t>
            </a:r>
          </a:p>
          <a:p>
            <a:pPr algn="l">
              <a:lnSpc>
                <a:spcPct val="105000"/>
              </a:lnSpc>
            </a:pPr>
            <a:r>
              <a:rPr sz="1050">
                <a:solidFill>
                  <a:srgbClr val="21295C"/>
                </a:solidFill>
                <a:latin typeface="Consolas"/>
              </a:rPr>
              <a:t>---------------------------------------------------</a:t>
            </a:r>
          </a:p>
          <a:p>
            <a:pPr algn="l">
              <a:lnSpc>
                <a:spcPct val="105000"/>
              </a:lnSpc>
            </a:pPr>
            <a:r>
              <a:rPr sz="1050">
                <a:solidFill>
                  <a:srgbClr val="21295C"/>
                </a:solidFill>
                <a:latin typeface="Consolas"/>
              </a:rPr>
              <a:t> 1.  receive (x_int8, y) over UART</a:t>
            </a:r>
          </a:p>
          <a:p>
            <a:pPr algn="l">
              <a:lnSpc>
                <a:spcPct val="105000"/>
              </a:lnSpc>
            </a:pPr>
            <a:r>
              <a:rPr sz="1050">
                <a:solidFill>
                  <a:srgbClr val="21295C"/>
                </a:solidFill>
                <a:latin typeface="Consolas"/>
              </a:rPr>
              <a:t> 2.  model_forward(x, logits)           // C8</a:t>
            </a:r>
          </a:p>
          <a:p>
            <a:pPr algn="l">
              <a:lnSpc>
                <a:spcPct val="105000"/>
              </a:lnSpc>
            </a:pPr>
            <a:r>
              <a:rPr sz="1050">
                <a:solidFill>
                  <a:srgbClr val="21295C"/>
                </a:solidFill>
                <a:latin typeface="Consolas"/>
              </a:rPr>
              <a:t> 3.  dA_L = softmax_xent_grad(logits, y)</a:t>
            </a:r>
          </a:p>
          <a:p>
            <a:pPr algn="l">
              <a:lnSpc>
                <a:spcPct val="105000"/>
              </a:lnSpc>
            </a:pPr>
            <a:r>
              <a:rPr sz="1050">
                <a:solidFill>
                  <a:srgbClr val="21295C"/>
                </a:solidFill>
                <a:latin typeface="Consolas"/>
              </a:rPr>
              <a:t> 4.  model_backward(dA_L)               // C9</a:t>
            </a:r>
          </a:p>
          <a:p>
            <a:pPr algn="l">
              <a:lnSpc>
                <a:spcPct val="105000"/>
              </a:lnSpc>
            </a:pPr>
            <a:r>
              <a:rPr sz="1050">
                <a:solidFill>
                  <a:srgbClr val="21295C"/>
                </a:solidFill>
                <a:latin typeface="Consolas"/>
              </a:rPr>
              <a:t> </a:t>
            </a:r>
          </a:p>
          <a:p>
            <a:pPr algn="l">
              <a:lnSpc>
                <a:spcPct val="105000"/>
              </a:lnSpc>
            </a:pPr>
            <a:r>
              <a:rPr sz="1050">
                <a:solidFill>
                  <a:srgbClr val="21295C"/>
                </a:solidFill>
                <a:latin typeface="Consolas"/>
              </a:rPr>
              <a:t> // ----- FQT partial update per layer ---------------</a:t>
            </a:r>
          </a:p>
          <a:p>
            <a:pPr algn="l">
              <a:lnSpc>
                <a:spcPct val="105000"/>
              </a:lnSpc>
            </a:pPr>
            <a:r>
              <a:rPr sz="1050">
                <a:solidFill>
                  <a:srgbClr val="21295C"/>
                </a:solidFill>
                <a:latin typeface="Consolas"/>
              </a:rPr>
              <a:t> 5.  for L in layers:</a:t>
            </a:r>
          </a:p>
          <a:p>
            <a:pPr algn="l">
              <a:lnSpc>
                <a:spcPct val="105000"/>
              </a:lnSpc>
            </a:pPr>
            <a:r>
              <a:rPr sz="1050">
                <a:solidFill>
                  <a:srgbClr val="21295C"/>
                </a:solidFill>
                <a:latin typeface="Consolas"/>
              </a:rPr>
              <a:t> 6.       fqt_partial_update(L, dW_ram_l, eta, kappa)</a:t>
            </a:r>
          </a:p>
          <a:p>
            <a:pPr algn="l">
              <a:lnSpc>
                <a:spcPct val="105000"/>
              </a:lnSpc>
            </a:pPr>
            <a:r>
              <a:rPr sz="1050">
                <a:solidFill>
                  <a:srgbClr val="21295C"/>
                </a:solidFill>
                <a:latin typeface="Consolas"/>
              </a:rPr>
              <a:t>          // bounded min-heap, ~10% of weights updated</a:t>
            </a:r>
          </a:p>
          <a:p>
            <a:pPr algn="l">
              <a:lnSpc>
                <a:spcPct val="105000"/>
              </a:lnSpc>
            </a:pPr>
            <a:r>
              <a:rPr sz="1050">
                <a:solidFill>
                  <a:srgbClr val="21295C"/>
                </a:solidFill>
                <a:latin typeface="Consolas"/>
              </a:rPr>
              <a:t> </a:t>
            </a:r>
          </a:p>
          <a:p>
            <a:pPr algn="l">
              <a:lnSpc>
                <a:spcPct val="105000"/>
              </a:lnSpc>
            </a:pPr>
            <a:r>
              <a:rPr sz="1050">
                <a:solidFill>
                  <a:srgbClr val="21295C"/>
                </a:solidFill>
                <a:latin typeface="Consolas"/>
              </a:rPr>
              <a:t> // ----- RigL refresh every dT steps -----------------</a:t>
            </a:r>
          </a:p>
          <a:p>
            <a:pPr algn="l">
              <a:lnSpc>
                <a:spcPct val="105000"/>
              </a:lnSpc>
            </a:pPr>
            <a:r>
              <a:rPr sz="1050">
                <a:solidFill>
                  <a:srgbClr val="21295C"/>
                </a:solidFill>
                <a:latin typeface="Consolas"/>
              </a:rPr>
              <a:t> 7.  if t mod dT == 0 and t &lt; T_end:</a:t>
            </a:r>
          </a:p>
          <a:p>
            <a:pPr algn="l">
              <a:lnSpc>
                <a:spcPct val="105000"/>
              </a:lnSpc>
            </a:pPr>
            <a:r>
              <a:rPr sz="1050">
                <a:solidFill>
                  <a:srgbClr val="21295C"/>
                </a:solidFill>
                <a:latin typeface="Consolas"/>
              </a:rPr>
              <a:t> 8.       model_backward_dense(dA_L)     // no mask</a:t>
            </a:r>
          </a:p>
          <a:p>
            <a:pPr algn="l">
              <a:lnSpc>
                <a:spcPct val="105000"/>
              </a:lnSpc>
            </a:pPr>
            <a:r>
              <a:rPr sz="1050">
                <a:solidFill>
                  <a:srgbClr val="21295C"/>
                </a:solidFill>
                <a:latin typeface="Consolas"/>
              </a:rPr>
              <a:t>          // produces g_dense for inactive slots only</a:t>
            </a:r>
          </a:p>
          <a:p>
            <a:pPr algn="l">
              <a:lnSpc>
                <a:spcPct val="105000"/>
              </a:lnSpc>
            </a:pPr>
            <a:r>
              <a:rPr sz="1050">
                <a:solidFill>
                  <a:srgbClr val="21295C"/>
                </a:solidFill>
                <a:latin typeface="Consolas"/>
              </a:rPr>
              <a:t> 9.       f_t = (alpha/2)*(1+cos(pi*t/T_end))</a:t>
            </a:r>
          </a:p>
          <a:p>
            <a:pPr algn="l">
              <a:lnSpc>
                <a:spcPct val="105000"/>
              </a:lnSpc>
            </a:pPr>
            <a:r>
              <a:rPr sz="1050">
                <a:solidFill>
                  <a:srgbClr val="21295C"/>
                </a:solidFill>
                <a:latin typeface="Consolas"/>
              </a:rPr>
              <a:t>10.       for L:  rigl_update(L, g_dense_l, f_t)</a:t>
            </a:r>
          </a:p>
          <a:p>
            <a:pPr algn="l">
              <a:lnSpc>
                <a:spcPct val="105000"/>
              </a:lnSpc>
            </a:pPr>
            <a:r>
              <a:rPr sz="1050">
                <a:solidFill>
                  <a:srgbClr val="21295C"/>
                </a:solidFill>
                <a:latin typeface="Consolas"/>
              </a:rPr>
              <a:t>          // drop smallest |W| in active set</a:t>
            </a:r>
          </a:p>
          <a:p>
            <a:pPr algn="l">
              <a:lnSpc>
                <a:spcPct val="105000"/>
              </a:lnSpc>
            </a:pPr>
            <a:r>
              <a:rPr sz="1050">
                <a:solidFill>
                  <a:srgbClr val="21295C"/>
                </a:solidFill>
                <a:latin typeface="Consolas"/>
              </a:rPr>
              <a:t>          // grow largest |g| in inactive set</a:t>
            </a:r>
          </a:p>
          <a:p>
            <a:pPr algn="l">
              <a:lnSpc>
                <a:spcPct val="105000"/>
              </a:lnSpc>
            </a:pPr>
            <a:r>
              <a:rPr sz="1050">
                <a:solidFill>
                  <a:srgbClr val="21295C"/>
                </a:solidFill>
                <a:latin typeface="Consolas"/>
              </a:rPr>
              <a:t>11.  t &lt;- t + 1</a:t>
            </a:r>
          </a:p>
          <a:p>
            <a:pPr algn="l">
              <a:lnSpc>
                <a:spcPct val="105000"/>
              </a:lnSpc>
            </a:pPr>
            <a:r>
              <a:rPr sz="1050">
                <a:solidFill>
                  <a:srgbClr val="21295C"/>
                </a:solidFill>
                <a:latin typeface="Consolas"/>
              </a:rPr>
              <a:t>12.  UART back: loss, |active|, latency_cycles</a:t>
            </a:r>
          </a:p>
          <a:p>
            <a:pPr algn="l">
              <a:lnSpc>
                <a:spcPct val="105000"/>
              </a:lnSpc>
            </a:pPr>
            <a:r>
              <a:rPr sz="1050">
                <a:solidFill>
                  <a:srgbClr val="21295C"/>
                </a:solidFill>
                <a:latin typeface="Consolas"/>
              </a:rPr>
              <a:t> </a:t>
            </a:r>
          </a:p>
        </p:txBody>
      </p:sp>
      <p:sp>
        <p:nvSpPr>
          <p:cNvPr id="17" name="TextBox 16"/>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8" name="TextBox 17"/>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C11  ·  MCU F746ZG</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End-to-end MCU training run — thesis deliverable</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Goal: full training schedule on the F746ZG, produce the result table.</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Purpose</a:t>
            </a:r>
          </a:p>
        </p:txBody>
      </p:sp>
      <p:sp>
        <p:nvSpPr>
          <p:cNvPr id="8" name="TextBox 7"/>
          <p:cNvSpPr txBox="1"/>
          <p:nvPr/>
        </p:nvSpPr>
        <p:spPr>
          <a:xfrm>
            <a:off x="457200" y="2304288"/>
            <a:ext cx="5303520" cy="1463040"/>
          </a:xfrm>
          <a:prstGeom prst="rect">
            <a:avLst/>
          </a:prstGeom>
          <a:noFill/>
        </p:spPr>
        <p:txBody>
          <a:bodyPr wrap="square" lIns="45720" rIns="45720" tIns="18288" bIns="18288" anchor="t">
            <a:spAutoFit/>
          </a:bodyPr>
          <a:lstStyle/>
          <a:p>
            <a:pPr algn="l">
              <a:lnSpc>
                <a:spcPct val="125000"/>
              </a:lnSpc>
            </a:pPr>
            <a:r>
              <a:rPr sz="1250" b="0" i="0">
                <a:solidFill>
                  <a:srgbClr val="21295C"/>
                </a:solidFill>
                <a:latin typeface="Calibri"/>
              </a:rPr>
              <a:t>Run the full training schedule from C7 on the F746ZG. Stream the cached MFCC dataset over UART, log latency / loss / accuracy per step, capture energy from an external INA-219 on the 3.3V rail. This is the deliverable the thesis reports.</a:t>
            </a:r>
          </a:p>
        </p:txBody>
      </p:sp>
      <p:sp>
        <p:nvSpPr>
          <p:cNvPr id="9" name="TextBox 8"/>
          <p:cNvSpPr txBox="1"/>
          <p:nvPr/>
        </p:nvSpPr>
        <p:spPr>
          <a:xfrm>
            <a:off x="457200" y="3840480"/>
            <a:ext cx="530352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How to start</a:t>
            </a:r>
          </a:p>
        </p:txBody>
      </p:sp>
      <p:sp>
        <p:nvSpPr>
          <p:cNvPr id="10" name="TextBox 9"/>
          <p:cNvSpPr txBox="1"/>
          <p:nvPr/>
        </p:nvSpPr>
        <p:spPr>
          <a:xfrm>
            <a:off x="457200" y="4133088"/>
            <a:ext cx="5303520" cy="1737360"/>
          </a:xfrm>
          <a:prstGeom prst="rect">
            <a:avLst/>
          </a:prstGeom>
          <a:noFill/>
        </p:spPr>
        <p:txBody>
          <a:bodyPr wrap="square" lIns="0" rIns="0">
            <a:spAutoFit/>
          </a:bodyPr>
          <a:lstStyle/>
          <a:p>
            <a:pPr algn="l">
              <a:lnSpc>
                <a:spcPct val="125000"/>
              </a:lnSpc>
            </a:pPr>
            <a:r>
              <a:rPr sz="1200" b="1">
                <a:solidFill>
                  <a:srgbClr val="1E2761"/>
                </a:solidFill>
                <a:latin typeface="Calibri"/>
              </a:rPr>
              <a:t>1.  </a:t>
            </a:r>
            <a:r>
              <a:rPr sz="1150">
                <a:solidFill>
                  <a:srgbClr val="21295C"/>
                </a:solidFill>
                <a:latin typeface="Calibri"/>
              </a:rPr>
              <a:t>Wire INA-219 (I2C) to the host PC and the 3.3V VDD rail.</a:t>
            </a:r>
          </a:p>
          <a:p>
            <a:pPr algn="l">
              <a:lnSpc>
                <a:spcPct val="125000"/>
              </a:lnSpc>
            </a:pPr>
            <a:r>
              <a:rPr sz="1200" b="1">
                <a:solidFill>
                  <a:srgbClr val="1E2761"/>
                </a:solidFill>
                <a:latin typeface="Calibri"/>
              </a:rPr>
              <a:t>2.  </a:t>
            </a:r>
            <a:r>
              <a:rPr sz="1150">
                <a:solidFill>
                  <a:srgbClr val="21295C"/>
                </a:solidFill>
                <a:latin typeface="Calibri"/>
              </a:rPr>
              <a:t>Stream MFCC features from host over UART (or USB-VCP at higher rate).</a:t>
            </a:r>
          </a:p>
          <a:p>
            <a:pPr algn="l">
              <a:lnSpc>
                <a:spcPct val="125000"/>
              </a:lnSpc>
            </a:pPr>
            <a:r>
              <a:rPr sz="1200" b="1">
                <a:solidFill>
                  <a:srgbClr val="1E2761"/>
                </a:solidFill>
                <a:latin typeface="Calibri"/>
              </a:rPr>
              <a:t>3.  </a:t>
            </a:r>
            <a:r>
              <a:rPr sz="1150">
                <a:solidFill>
                  <a:srgbClr val="21295C"/>
                </a:solidFill>
                <a:latin typeface="Calibri"/>
              </a:rPr>
              <a:t>Run a short schedule first (~500 steps) to verify pipeline.</a:t>
            </a:r>
          </a:p>
          <a:p>
            <a:pPr algn="l">
              <a:lnSpc>
                <a:spcPct val="125000"/>
              </a:lnSpc>
            </a:pPr>
            <a:r>
              <a:rPr sz="1200" b="1">
                <a:solidFill>
                  <a:srgbClr val="1E2761"/>
                </a:solidFill>
                <a:latin typeface="Calibri"/>
              </a:rPr>
              <a:t>4.  </a:t>
            </a:r>
            <a:r>
              <a:rPr sz="1150">
                <a:solidFill>
                  <a:srgbClr val="21295C"/>
                </a:solidFill>
                <a:latin typeface="Calibri"/>
              </a:rPr>
              <a:t>Then run the full schedule overnight; let logs accumulate.</a:t>
            </a:r>
          </a:p>
          <a:p>
            <a:pPr algn="l">
              <a:lnSpc>
                <a:spcPct val="125000"/>
              </a:lnSpc>
            </a:pPr>
            <a:r>
              <a:rPr sz="1200" b="1">
                <a:solidFill>
                  <a:srgbClr val="1E2761"/>
                </a:solidFill>
                <a:latin typeface="Calibri"/>
              </a:rPr>
              <a:t>5.  </a:t>
            </a:r>
            <a:r>
              <a:rPr sz="1150">
                <a:solidFill>
                  <a:srgbClr val="21295C"/>
                </a:solidFill>
                <a:latin typeface="Calibri"/>
              </a:rPr>
              <a:t>Produce the final table for the thesis writeup.</a:t>
            </a:r>
          </a:p>
        </p:txBody>
      </p:sp>
      <p:sp>
        <p:nvSpPr>
          <p:cNvPr id="11" name="Rectangle 10"/>
          <p:cNvSpPr/>
          <p:nvPr/>
        </p:nvSpPr>
        <p:spPr>
          <a:xfrm>
            <a:off x="457200" y="5532120"/>
            <a:ext cx="5303520" cy="502920"/>
          </a:xfrm>
          <a:prstGeom prst="rect">
            <a:avLst/>
          </a:prstGeom>
          <a:solidFill>
            <a:srgbClr val="F5F6FA"/>
          </a:solidFill>
          <a:ln w="9525">
            <a:solidFill>
              <a:srgbClr val="2C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568696"/>
            <a:ext cx="640080" cy="457200"/>
          </a:xfrm>
          <a:prstGeom prst="rect">
            <a:avLst/>
          </a:prstGeom>
          <a:noFill/>
        </p:spPr>
        <p:txBody>
          <a:bodyPr wrap="square" lIns="45720" rIns="45720" tIns="18288" bIns="18288" anchor="ctr">
            <a:spAutoFit/>
          </a:bodyPr>
          <a:lstStyle/>
          <a:p>
            <a:pPr algn="l">
              <a:lnSpc>
                <a:spcPct val="115000"/>
              </a:lnSpc>
            </a:pPr>
            <a:r>
              <a:rPr sz="1100" b="1" i="0">
                <a:solidFill>
                  <a:srgbClr val="2C7A4B"/>
                </a:solidFill>
                <a:latin typeface="Calibri"/>
              </a:rPr>
              <a:t>GATE</a:t>
            </a:r>
          </a:p>
        </p:txBody>
      </p:sp>
      <p:sp>
        <p:nvSpPr>
          <p:cNvPr id="13" name="TextBox 12"/>
          <p:cNvSpPr txBox="1"/>
          <p:nvPr/>
        </p:nvSpPr>
        <p:spPr>
          <a:xfrm>
            <a:off x="1234440" y="5532120"/>
            <a:ext cx="4480560" cy="502920"/>
          </a:xfrm>
          <a:prstGeom prst="rect">
            <a:avLst/>
          </a:prstGeom>
          <a:noFill/>
        </p:spPr>
        <p:txBody>
          <a:bodyPr wrap="square" lIns="45720" rIns="45720" tIns="18288" bIns="18288" anchor="ctr">
            <a:spAutoFit/>
          </a:bodyPr>
          <a:lstStyle/>
          <a:p>
            <a:pPr algn="l">
              <a:lnSpc>
                <a:spcPct val="115000"/>
              </a:lnSpc>
            </a:pPr>
            <a:r>
              <a:rPr sz="1150" b="0" i="0">
                <a:solidFill>
                  <a:srgbClr val="21295C"/>
                </a:solidFill>
                <a:latin typeface="Calibri"/>
              </a:rPr>
              <a:t>Full schedule completes on-device  ·  accuracy + latency + SRAM + energy table produced.</a:t>
            </a:r>
          </a:p>
        </p:txBody>
      </p:sp>
      <p:sp>
        <p:nvSpPr>
          <p:cNvPr id="14" name="TextBox 13"/>
          <p:cNvSpPr txBox="1"/>
          <p:nvPr/>
        </p:nvSpPr>
        <p:spPr>
          <a:xfrm>
            <a:off x="6035040" y="2011680"/>
            <a:ext cx="5669280" cy="274320"/>
          </a:xfrm>
          <a:prstGeom prst="rect">
            <a:avLst/>
          </a:prstGeom>
          <a:noFill/>
        </p:spPr>
        <p:txBody>
          <a:bodyPr wrap="square" lIns="45720" rIns="45720" tIns="18288" bIns="18288" anchor="t">
            <a:spAutoFit/>
          </a:bodyPr>
          <a:lstStyle/>
          <a:p>
            <a:pPr algn="l">
              <a:lnSpc>
                <a:spcPct val="115000"/>
              </a:lnSpc>
            </a:pPr>
            <a:r>
              <a:rPr sz="1400" b="1" i="0">
                <a:solidFill>
                  <a:srgbClr val="E84A1B"/>
                </a:solidFill>
                <a:latin typeface="Calibri"/>
              </a:rPr>
              <a:t>Algorithm</a:t>
            </a:r>
          </a:p>
        </p:txBody>
      </p:sp>
      <p:sp>
        <p:nvSpPr>
          <p:cNvPr id="15" name="Rectangle 14"/>
          <p:cNvSpPr/>
          <p:nvPr/>
        </p:nvSpPr>
        <p:spPr>
          <a:xfrm>
            <a:off x="6035040" y="2304288"/>
            <a:ext cx="5669280" cy="3931920"/>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377440"/>
            <a:ext cx="5449824" cy="3785616"/>
          </a:xfrm>
          <a:prstGeom prst="rect">
            <a:avLst/>
          </a:prstGeom>
          <a:noFill/>
        </p:spPr>
        <p:txBody>
          <a:bodyPr wrap="none" lIns="18288" tIns="0" bIns="0" anchor="t">
            <a:spAutoFit/>
          </a:bodyPr>
          <a:lstStyle/>
          <a:p>
            <a:pPr algn="l">
              <a:lnSpc>
                <a:spcPct val="105000"/>
              </a:lnSpc>
            </a:pPr>
            <a:r>
              <a:rPr sz="1050">
                <a:solidFill>
                  <a:srgbClr val="21295C"/>
                </a:solidFill>
                <a:latin typeface="Consolas"/>
              </a:rPr>
              <a:t>ALGORITHM  mcu_training_run</a:t>
            </a:r>
          </a:p>
          <a:p>
            <a:pPr algn="l">
              <a:lnSpc>
                <a:spcPct val="105000"/>
              </a:lnSpc>
            </a:pPr>
            <a:r>
              <a:rPr sz="1050">
                <a:solidFill>
                  <a:srgbClr val="21295C"/>
                </a:solidFill>
                <a:latin typeface="Consolas"/>
              </a:rPr>
              <a:t>INPUTS   :  cached MFCC dataset (streamed from host),</a:t>
            </a:r>
          </a:p>
          <a:p>
            <a:pPr algn="l">
              <a:lnSpc>
                <a:spcPct val="105000"/>
              </a:lnSpc>
            </a:pPr>
            <a:r>
              <a:rPr sz="1050">
                <a:solidFill>
                  <a:srgbClr val="21295C"/>
                </a:solidFill>
                <a:latin typeface="Consolas"/>
              </a:rPr>
              <a:t>            schedule (epochs, dT, T_end, eta, kappa, alpha)</a:t>
            </a:r>
          </a:p>
          <a:p>
            <a:pPr algn="l">
              <a:lnSpc>
                <a:spcPct val="105000"/>
              </a:lnSpc>
            </a:pPr>
            <a:r>
              <a:rPr sz="1050">
                <a:solidFill>
                  <a:srgbClr val="21295C"/>
                </a:solidFill>
                <a:latin typeface="Consolas"/>
              </a:rPr>
              <a:t>OUTPUT   :  on-device accuracy + latency + memory + energy table</a:t>
            </a:r>
          </a:p>
          <a:p>
            <a:pPr algn="l">
              <a:lnSpc>
                <a:spcPct val="105000"/>
              </a:lnSpc>
            </a:pPr>
            <a:r>
              <a:rPr sz="1050">
                <a:solidFill>
                  <a:srgbClr val="21295C"/>
                </a:solidFill>
                <a:latin typeface="Consolas"/>
              </a:rPr>
              <a:t>---------------------------------------------------</a:t>
            </a:r>
          </a:p>
          <a:p>
            <a:pPr algn="l">
              <a:lnSpc>
                <a:spcPct val="105000"/>
              </a:lnSpc>
            </a:pPr>
            <a:r>
              <a:rPr sz="1050">
                <a:solidFill>
                  <a:srgbClr val="21295C"/>
                </a:solidFill>
                <a:latin typeface="Consolas"/>
              </a:rPr>
              <a:t> 1.  init INA-219 sampling at 1 kHz on the host side</a:t>
            </a:r>
          </a:p>
          <a:p>
            <a:pPr algn="l">
              <a:lnSpc>
                <a:spcPct val="105000"/>
              </a:lnSpc>
            </a:pPr>
            <a:r>
              <a:rPr sz="1050">
                <a:solidFill>
                  <a:srgbClr val="21295C"/>
                </a:solidFill>
                <a:latin typeface="Consolas"/>
              </a:rPr>
              <a:t> 2.  for epoch in 1..N:</a:t>
            </a:r>
          </a:p>
          <a:p>
            <a:pPr algn="l">
              <a:lnSpc>
                <a:spcPct val="105000"/>
              </a:lnSpc>
            </a:pPr>
            <a:r>
              <a:rPr sz="1050">
                <a:solidFill>
                  <a:srgbClr val="21295C"/>
                </a:solidFill>
                <a:latin typeface="Consolas"/>
              </a:rPr>
              <a:t> 3.       for (x, y) in stream(train_set):</a:t>
            </a:r>
          </a:p>
          <a:p>
            <a:pPr algn="l">
              <a:lnSpc>
                <a:spcPct val="105000"/>
              </a:lnSpc>
            </a:pPr>
            <a:r>
              <a:rPr sz="1050">
                <a:solidFill>
                  <a:srgbClr val="21295C"/>
                </a:solidFill>
                <a:latin typeface="Consolas"/>
              </a:rPr>
              <a:t> 4.            mcu_training_step(x, y)         // C10</a:t>
            </a:r>
          </a:p>
          <a:p>
            <a:pPr algn="l">
              <a:lnSpc>
                <a:spcPct val="105000"/>
              </a:lnSpc>
            </a:pPr>
            <a:r>
              <a:rPr sz="1050">
                <a:solidFill>
                  <a:srgbClr val="21295C"/>
                </a:solidFill>
                <a:latin typeface="Consolas"/>
              </a:rPr>
              <a:t> 5.            host logs: cycles, loss, |active|</a:t>
            </a:r>
          </a:p>
          <a:p>
            <a:pPr algn="l">
              <a:lnSpc>
                <a:spcPct val="105000"/>
              </a:lnSpc>
            </a:pPr>
            <a:r>
              <a:rPr sz="1050">
                <a:solidFill>
                  <a:srgbClr val="21295C"/>
                </a:solidFill>
                <a:latin typeface="Consolas"/>
              </a:rPr>
              <a:t> 6.       UART batch over val_set:</a:t>
            </a:r>
          </a:p>
          <a:p>
            <a:pPr algn="l">
              <a:lnSpc>
                <a:spcPct val="105000"/>
              </a:lnSpc>
            </a:pPr>
            <a:r>
              <a:rPr sz="1050">
                <a:solidFill>
                  <a:srgbClr val="21295C"/>
                </a:solidFill>
                <a:latin typeface="Consolas"/>
              </a:rPr>
              <a:t> 7.            forward only, host logs accuracy</a:t>
            </a:r>
          </a:p>
          <a:p>
            <a:pPr algn="l">
              <a:lnSpc>
                <a:spcPct val="105000"/>
              </a:lnSpc>
            </a:pPr>
            <a:r>
              <a:rPr sz="1050">
                <a:solidFill>
                  <a:srgbClr val="21295C"/>
                </a:solidFill>
                <a:latin typeface="Consolas"/>
              </a:rPr>
              <a:t> 8.       host logs: peak SRAM (from MCU snapshot),</a:t>
            </a:r>
          </a:p>
          <a:p>
            <a:pPr algn="l">
              <a:lnSpc>
                <a:spcPct val="105000"/>
              </a:lnSpc>
            </a:pPr>
            <a:r>
              <a:rPr sz="1050">
                <a:solidFill>
                  <a:srgbClr val="21295C"/>
                </a:solidFill>
                <a:latin typeface="Consolas"/>
              </a:rPr>
              <a:t>                     mJ per epoch (INA-219 integration)</a:t>
            </a:r>
          </a:p>
          <a:p>
            <a:pPr algn="l">
              <a:lnSpc>
                <a:spcPct val="105000"/>
              </a:lnSpc>
            </a:pPr>
            <a:r>
              <a:rPr sz="1050">
                <a:solidFill>
                  <a:srgbClr val="21295C"/>
                </a:solidFill>
                <a:latin typeface="Consolas"/>
              </a:rPr>
              <a:t> 9.  write final table:</a:t>
            </a:r>
          </a:p>
          <a:p>
            <a:pPr algn="l">
              <a:lnSpc>
                <a:spcPct val="105000"/>
              </a:lnSpc>
            </a:pPr>
            <a:r>
              <a:rPr sz="1050">
                <a:solidFill>
                  <a:srgbClr val="21295C"/>
                </a:solidFill>
                <a:latin typeface="Consolas"/>
              </a:rPr>
              <a:t>       accuracy_test  ·  latency_per_step  ·  peak_SRAM</a:t>
            </a:r>
          </a:p>
          <a:p>
            <a:pPr algn="l">
              <a:lnSpc>
                <a:spcPct val="105000"/>
              </a:lnSpc>
            </a:pPr>
            <a:r>
              <a:rPr sz="1050">
                <a:solidFill>
                  <a:srgbClr val="21295C"/>
                </a:solidFill>
                <a:latin typeface="Consolas"/>
              </a:rPr>
              <a:t>       ·  energy_per_epoch  ·  final_weights</a:t>
            </a:r>
          </a:p>
          <a:p>
            <a:pPr algn="l">
              <a:lnSpc>
                <a:spcPct val="105000"/>
              </a:lnSpc>
            </a:pPr>
            <a:r>
              <a:rPr sz="1050">
                <a:solidFill>
                  <a:srgbClr val="21295C"/>
                </a:solidFill>
                <a:latin typeface="Consolas"/>
              </a:rPr>
              <a:t> </a:t>
            </a:r>
          </a:p>
        </p:txBody>
      </p:sp>
      <p:sp>
        <p:nvSpPr>
          <p:cNvPr id="17" name="TextBox 16"/>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18" name="TextBox 17"/>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11480"/>
            <a:ext cx="2194560" cy="292608"/>
          </a:xfrm>
          <a:prstGeom prst="rect">
            <a:avLst/>
          </a:prstGeom>
          <a:solidFill>
            <a:srgbClr val="E84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2194560" cy="292608"/>
          </a:xfrm>
          <a:prstGeom prst="rect">
            <a:avLst/>
          </a:prstGeom>
          <a:noFill/>
        </p:spPr>
        <p:txBody>
          <a:bodyPr wrap="none" lIns="45720" rIns="45720" tIns="0" bIns="0" anchor="ctr">
            <a:spAutoFit/>
          </a:bodyPr>
          <a:lstStyle/>
          <a:p>
            <a:pPr algn="ctr"/>
            <a:r>
              <a:rPr sz="1200" b="1">
                <a:solidFill>
                  <a:srgbClr val="FFFFFF"/>
                </a:solidFill>
                <a:latin typeface="Calibri"/>
              </a:rPr>
              <a:t>DELIVERABLE  ·  WHAT GETS REPORTED</a:t>
            </a:r>
          </a:p>
        </p:txBody>
      </p:sp>
      <p:sp>
        <p:nvSpPr>
          <p:cNvPr id="4" name="TextBox 3"/>
          <p:cNvSpPr txBox="1"/>
          <p:nvPr/>
        </p:nvSpPr>
        <p:spPr>
          <a:xfrm>
            <a:off x="457200" y="777240"/>
            <a:ext cx="11247120" cy="640080"/>
          </a:xfrm>
          <a:prstGeom prst="rect">
            <a:avLst/>
          </a:prstGeom>
          <a:noFill/>
        </p:spPr>
        <p:txBody>
          <a:bodyPr wrap="square" lIns="45720" rIns="45720" tIns="18288" bIns="18288" anchor="t">
            <a:spAutoFit/>
          </a:bodyPr>
          <a:lstStyle/>
          <a:p>
            <a:pPr algn="l">
              <a:lnSpc>
                <a:spcPct val="115000"/>
              </a:lnSpc>
            </a:pPr>
            <a:r>
              <a:rPr sz="3000" b="1" i="0">
                <a:solidFill>
                  <a:srgbClr val="1E2761"/>
                </a:solidFill>
                <a:latin typeface="Calibri"/>
              </a:rPr>
              <a:t>Final outputs of the revised pure-C plan</a:t>
            </a:r>
          </a:p>
        </p:txBody>
      </p:sp>
      <p:sp>
        <p:nvSpPr>
          <p:cNvPr id="5" name="TextBox 4"/>
          <p:cNvSpPr txBox="1"/>
          <p:nvPr/>
        </p:nvSpPr>
        <p:spPr>
          <a:xfrm>
            <a:off x="457200" y="1417320"/>
            <a:ext cx="11247120" cy="320040"/>
          </a:xfrm>
          <a:prstGeom prst="rect">
            <a:avLst/>
          </a:prstGeom>
          <a:noFill/>
        </p:spPr>
        <p:txBody>
          <a:bodyPr wrap="square" lIns="45720" rIns="45720" tIns="18288" bIns="18288" anchor="t">
            <a:spAutoFit/>
          </a:bodyPr>
          <a:lstStyle/>
          <a:p>
            <a:pPr algn="l">
              <a:lnSpc>
                <a:spcPct val="115000"/>
              </a:lnSpc>
            </a:pPr>
            <a:r>
              <a:rPr sz="1400" b="0" i="1">
                <a:solidFill>
                  <a:srgbClr val="555B6C"/>
                </a:solidFill>
                <a:latin typeface="Calibri"/>
              </a:rPr>
              <a:t>What ends up in the thesis writeup, given the dropped four-condition comparison.</a:t>
            </a:r>
          </a:p>
        </p:txBody>
      </p:sp>
      <p:sp>
        <p:nvSpPr>
          <p:cNvPr id="6" name="Rectangle 5"/>
          <p:cNvSpPr/>
          <p:nvPr/>
        </p:nvSpPr>
        <p:spPr>
          <a:xfrm>
            <a:off x="457200" y="1828800"/>
            <a:ext cx="11247120" cy="9525"/>
          </a:xfrm>
          <a:prstGeom prst="rect">
            <a:avLst/>
          </a:prstGeom>
          <a:solidFill>
            <a:srgbClr val="D3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103120"/>
            <a:ext cx="11247120" cy="768096"/>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76272"/>
            <a:ext cx="3200400" cy="640080"/>
          </a:xfrm>
          <a:prstGeom prst="rect">
            <a:avLst/>
          </a:prstGeom>
          <a:noFill/>
        </p:spPr>
        <p:txBody>
          <a:bodyPr wrap="square" lIns="45720" rIns="45720" tIns="18288" bIns="18288" anchor="ctr">
            <a:spAutoFit/>
          </a:bodyPr>
          <a:lstStyle/>
          <a:p>
            <a:pPr algn="l">
              <a:lnSpc>
                <a:spcPct val="115000"/>
              </a:lnSpc>
            </a:pPr>
            <a:r>
              <a:rPr sz="1500" b="1" i="0">
                <a:solidFill>
                  <a:srgbClr val="1E2761"/>
                </a:solidFill>
                <a:latin typeface="Calibri"/>
              </a:rPr>
              <a:t>Speaker-ID accuracy</a:t>
            </a:r>
          </a:p>
        </p:txBody>
      </p:sp>
      <p:sp>
        <p:nvSpPr>
          <p:cNvPr id="9" name="TextBox 8"/>
          <p:cNvSpPr txBox="1"/>
          <p:nvPr/>
        </p:nvSpPr>
        <p:spPr>
          <a:xfrm>
            <a:off x="4023360" y="2176272"/>
            <a:ext cx="7498079" cy="640080"/>
          </a:xfrm>
          <a:prstGeom prst="rect">
            <a:avLst/>
          </a:prstGeom>
          <a:noFill/>
        </p:spPr>
        <p:txBody>
          <a:bodyPr wrap="square" lIns="45720" rIns="45720" tIns="18288" bIns="18288" anchor="ctr">
            <a:spAutoFit/>
          </a:bodyPr>
          <a:lstStyle/>
          <a:p>
            <a:pPr algn="l">
              <a:lnSpc>
                <a:spcPct val="125000"/>
              </a:lnSpc>
            </a:pPr>
            <a:r>
              <a:rPr sz="1200" b="0" i="0">
                <a:solidFill>
                  <a:srgbClr val="21295C"/>
                </a:solidFill>
                <a:latin typeface="Calibri"/>
              </a:rPr>
              <a:t>Test-set accuracy of the trained sparse-int8 model on the 40-speaker LibriSpeech split, measured on-device.</a:t>
            </a:r>
          </a:p>
        </p:txBody>
      </p:sp>
      <p:sp>
        <p:nvSpPr>
          <p:cNvPr id="10" name="Rectangle 9"/>
          <p:cNvSpPr/>
          <p:nvPr/>
        </p:nvSpPr>
        <p:spPr>
          <a:xfrm>
            <a:off x="457200" y="2944368"/>
            <a:ext cx="11247120" cy="768096"/>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017520"/>
            <a:ext cx="3200400" cy="640080"/>
          </a:xfrm>
          <a:prstGeom prst="rect">
            <a:avLst/>
          </a:prstGeom>
          <a:noFill/>
        </p:spPr>
        <p:txBody>
          <a:bodyPr wrap="square" lIns="45720" rIns="45720" tIns="18288" bIns="18288" anchor="ctr">
            <a:spAutoFit/>
          </a:bodyPr>
          <a:lstStyle/>
          <a:p>
            <a:pPr algn="l">
              <a:lnSpc>
                <a:spcPct val="115000"/>
              </a:lnSpc>
            </a:pPr>
            <a:r>
              <a:rPr sz="1500" b="1" i="0">
                <a:solidFill>
                  <a:srgbClr val="1E2761"/>
                </a:solidFill>
                <a:latin typeface="Calibri"/>
              </a:rPr>
              <a:t>Per-step latency</a:t>
            </a:r>
          </a:p>
        </p:txBody>
      </p:sp>
      <p:sp>
        <p:nvSpPr>
          <p:cNvPr id="12" name="TextBox 11"/>
          <p:cNvSpPr txBox="1"/>
          <p:nvPr/>
        </p:nvSpPr>
        <p:spPr>
          <a:xfrm>
            <a:off x="4023360" y="3017520"/>
            <a:ext cx="7498079" cy="640080"/>
          </a:xfrm>
          <a:prstGeom prst="rect">
            <a:avLst/>
          </a:prstGeom>
          <a:noFill/>
        </p:spPr>
        <p:txBody>
          <a:bodyPr wrap="square" lIns="45720" rIns="45720" tIns="18288" bIns="18288" anchor="ctr">
            <a:spAutoFit/>
          </a:bodyPr>
          <a:lstStyle/>
          <a:p>
            <a:pPr algn="l">
              <a:lnSpc>
                <a:spcPct val="125000"/>
              </a:lnSpc>
            </a:pPr>
            <a:r>
              <a:rPr sz="1200" b="0" i="0">
                <a:solidFill>
                  <a:srgbClr val="21295C"/>
                </a:solidFill>
                <a:latin typeface="Calibri"/>
              </a:rPr>
              <a:t>Milliseconds per training step on the F746ZG, broken down: forward, backward, FQT update, RigL refresh.</a:t>
            </a:r>
          </a:p>
        </p:txBody>
      </p:sp>
      <p:sp>
        <p:nvSpPr>
          <p:cNvPr id="13" name="Rectangle 12"/>
          <p:cNvSpPr/>
          <p:nvPr/>
        </p:nvSpPr>
        <p:spPr>
          <a:xfrm>
            <a:off x="457200" y="3785616"/>
            <a:ext cx="11247120" cy="768096"/>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858768"/>
            <a:ext cx="3200400" cy="640080"/>
          </a:xfrm>
          <a:prstGeom prst="rect">
            <a:avLst/>
          </a:prstGeom>
          <a:noFill/>
        </p:spPr>
        <p:txBody>
          <a:bodyPr wrap="square" lIns="45720" rIns="45720" tIns="18288" bIns="18288" anchor="ctr">
            <a:spAutoFit/>
          </a:bodyPr>
          <a:lstStyle/>
          <a:p>
            <a:pPr algn="l">
              <a:lnSpc>
                <a:spcPct val="115000"/>
              </a:lnSpc>
            </a:pPr>
            <a:r>
              <a:rPr sz="1500" b="1" i="0">
                <a:solidFill>
                  <a:srgbClr val="1E2761"/>
                </a:solidFill>
                <a:latin typeface="Calibri"/>
              </a:rPr>
              <a:t>Peak SRAM use</a:t>
            </a:r>
          </a:p>
        </p:txBody>
      </p:sp>
      <p:sp>
        <p:nvSpPr>
          <p:cNvPr id="15" name="TextBox 14"/>
          <p:cNvSpPr txBox="1"/>
          <p:nvPr/>
        </p:nvSpPr>
        <p:spPr>
          <a:xfrm>
            <a:off x="4023360" y="3858768"/>
            <a:ext cx="7498079" cy="640080"/>
          </a:xfrm>
          <a:prstGeom prst="rect">
            <a:avLst/>
          </a:prstGeom>
          <a:noFill/>
        </p:spPr>
        <p:txBody>
          <a:bodyPr wrap="square" lIns="45720" rIns="45720" tIns="18288" bIns="18288" anchor="ctr">
            <a:spAutoFit/>
          </a:bodyPr>
          <a:lstStyle/>
          <a:p>
            <a:pPr algn="l">
              <a:lnSpc>
                <a:spcPct val="125000"/>
              </a:lnSpc>
            </a:pPr>
            <a:r>
              <a:rPr sz="1200" b="0" i="0">
                <a:solidFill>
                  <a:srgbClr val="21295C"/>
                </a:solidFill>
                <a:latin typeface="Calibri"/>
              </a:rPr>
              <a:t>Snapshot at the backward / mask-update step. Must stay within the 320 KB budget; report headroom.</a:t>
            </a:r>
          </a:p>
        </p:txBody>
      </p:sp>
      <p:sp>
        <p:nvSpPr>
          <p:cNvPr id="16" name="Rectangle 15"/>
          <p:cNvSpPr/>
          <p:nvPr/>
        </p:nvSpPr>
        <p:spPr>
          <a:xfrm>
            <a:off x="457200" y="4626864"/>
            <a:ext cx="11247120" cy="768096"/>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700016"/>
            <a:ext cx="3200400" cy="640080"/>
          </a:xfrm>
          <a:prstGeom prst="rect">
            <a:avLst/>
          </a:prstGeom>
          <a:noFill/>
        </p:spPr>
        <p:txBody>
          <a:bodyPr wrap="square" lIns="45720" rIns="45720" tIns="18288" bIns="18288" anchor="ctr">
            <a:spAutoFit/>
          </a:bodyPr>
          <a:lstStyle/>
          <a:p>
            <a:pPr algn="l">
              <a:lnSpc>
                <a:spcPct val="115000"/>
              </a:lnSpc>
            </a:pPr>
            <a:r>
              <a:rPr sz="1500" b="1" i="0">
                <a:solidFill>
                  <a:srgbClr val="1E2761"/>
                </a:solidFill>
                <a:latin typeface="Calibri"/>
              </a:rPr>
              <a:t>Energy per epoch</a:t>
            </a:r>
          </a:p>
        </p:txBody>
      </p:sp>
      <p:sp>
        <p:nvSpPr>
          <p:cNvPr id="18" name="TextBox 17"/>
          <p:cNvSpPr txBox="1"/>
          <p:nvPr/>
        </p:nvSpPr>
        <p:spPr>
          <a:xfrm>
            <a:off x="4023360" y="4700016"/>
            <a:ext cx="7498079" cy="640080"/>
          </a:xfrm>
          <a:prstGeom prst="rect">
            <a:avLst/>
          </a:prstGeom>
          <a:noFill/>
        </p:spPr>
        <p:txBody>
          <a:bodyPr wrap="square" lIns="45720" rIns="45720" tIns="18288" bIns="18288" anchor="ctr">
            <a:spAutoFit/>
          </a:bodyPr>
          <a:lstStyle/>
          <a:p>
            <a:pPr algn="l">
              <a:lnSpc>
                <a:spcPct val="125000"/>
              </a:lnSpc>
            </a:pPr>
            <a:r>
              <a:rPr sz="1200" b="0" i="0">
                <a:solidFill>
                  <a:srgbClr val="21295C"/>
                </a:solidFill>
                <a:latin typeface="Calibri"/>
              </a:rPr>
              <a:t>Millijoules from the external INA-219 sampling the 3.3V rail. The number a real edge deployment cares about.</a:t>
            </a:r>
          </a:p>
        </p:txBody>
      </p:sp>
      <p:sp>
        <p:nvSpPr>
          <p:cNvPr id="19" name="Rectangle 18"/>
          <p:cNvSpPr/>
          <p:nvPr/>
        </p:nvSpPr>
        <p:spPr>
          <a:xfrm>
            <a:off x="457200" y="5468112"/>
            <a:ext cx="11247120" cy="768096"/>
          </a:xfrm>
          <a:prstGeom prst="rect">
            <a:avLst/>
          </a:prstGeom>
          <a:solidFill>
            <a:srgbClr val="F5F6FA"/>
          </a:solidFill>
          <a:ln w="9525">
            <a:solidFill>
              <a:srgbClr val="D3D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41264"/>
            <a:ext cx="3200400" cy="640080"/>
          </a:xfrm>
          <a:prstGeom prst="rect">
            <a:avLst/>
          </a:prstGeom>
          <a:noFill/>
        </p:spPr>
        <p:txBody>
          <a:bodyPr wrap="square" lIns="45720" rIns="45720" tIns="18288" bIns="18288" anchor="ctr">
            <a:spAutoFit/>
          </a:bodyPr>
          <a:lstStyle/>
          <a:p>
            <a:pPr algn="l">
              <a:lnSpc>
                <a:spcPct val="115000"/>
              </a:lnSpc>
            </a:pPr>
            <a:r>
              <a:rPr sz="1500" b="1" i="0">
                <a:solidFill>
                  <a:srgbClr val="1E2761"/>
                </a:solidFill>
                <a:latin typeface="Calibri"/>
              </a:rPr>
              <a:t>Sparse weight memory</a:t>
            </a:r>
          </a:p>
        </p:txBody>
      </p:sp>
      <p:sp>
        <p:nvSpPr>
          <p:cNvPr id="21" name="TextBox 20"/>
          <p:cNvSpPr txBox="1"/>
          <p:nvPr/>
        </p:nvSpPr>
        <p:spPr>
          <a:xfrm>
            <a:off x="4023360" y="5541264"/>
            <a:ext cx="7498079" cy="640080"/>
          </a:xfrm>
          <a:prstGeom prst="rect">
            <a:avLst/>
          </a:prstGeom>
          <a:noFill/>
        </p:spPr>
        <p:txBody>
          <a:bodyPr wrap="square" lIns="45720" rIns="45720" tIns="18288" bIns="18288" anchor="ctr">
            <a:spAutoFit/>
          </a:bodyPr>
          <a:lstStyle/>
          <a:p>
            <a:pPr algn="l">
              <a:lnSpc>
                <a:spcPct val="125000"/>
              </a:lnSpc>
            </a:pPr>
            <a:r>
              <a:rPr sz="1200" b="0" i="0">
                <a:solidFill>
                  <a:srgbClr val="21295C"/>
                </a:solidFill>
                <a:latin typeface="Calibri"/>
              </a:rPr>
              <a:t>KB of int8 weights + bitmap on disk after training. Demonstrates the model fits in 1 MB Flash.</a:t>
            </a:r>
          </a:p>
        </p:txBody>
      </p:sp>
      <p:sp>
        <p:nvSpPr>
          <p:cNvPr id="22" name="TextBox 21"/>
          <p:cNvSpPr txBox="1"/>
          <p:nvPr/>
        </p:nvSpPr>
        <p:spPr>
          <a:xfrm>
            <a:off x="457200" y="6446520"/>
            <a:ext cx="7315200" cy="274320"/>
          </a:xfrm>
          <a:prstGeom prst="rect">
            <a:avLst/>
          </a:prstGeom>
          <a:noFill/>
        </p:spPr>
        <p:txBody>
          <a:bodyPr wrap="square" lIns="45720" rIns="45720" tIns="18288" bIns="18288" anchor="t">
            <a:spAutoFit/>
          </a:bodyPr>
          <a:lstStyle/>
          <a:p>
            <a:pPr algn="l">
              <a:lnSpc>
                <a:spcPct val="115000"/>
              </a:lnSpc>
            </a:pPr>
            <a:r>
              <a:rPr sz="1000" b="0" i="0">
                <a:solidFill>
                  <a:srgbClr val="555B6C"/>
                </a:solidFill>
                <a:latin typeface="Calibri"/>
              </a:rPr>
              <a:t>Master's Thesis · FQT + RigL · Pure-C revision · May 2026</a:t>
            </a:r>
          </a:p>
        </p:txBody>
      </p:sp>
      <p:sp>
        <p:nvSpPr>
          <p:cNvPr id="23" name="TextBox 22"/>
          <p:cNvSpPr txBox="1"/>
          <p:nvPr/>
        </p:nvSpPr>
        <p:spPr>
          <a:xfrm>
            <a:off x="10515600" y="6446520"/>
            <a:ext cx="1188720" cy="274320"/>
          </a:xfrm>
          <a:prstGeom prst="rect">
            <a:avLst/>
          </a:prstGeom>
          <a:noFill/>
        </p:spPr>
        <p:txBody>
          <a:bodyPr wrap="square" lIns="45720" rIns="45720" tIns="18288" bIns="18288" anchor="t">
            <a:spAutoFit/>
          </a:bodyPr>
          <a:lstStyle/>
          <a:p>
            <a:pPr algn="r">
              <a:lnSpc>
                <a:spcPct val="115000"/>
              </a:lnSpc>
            </a:pPr>
            <a:r>
              <a:rPr sz="1000" b="0" i="0">
                <a:solidFill>
                  <a:srgbClr val="555B6C"/>
                </a:solidFill>
                <a:latin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