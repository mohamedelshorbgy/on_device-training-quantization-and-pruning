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920240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MASTER'S THESIS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OnDevice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 Framework for Inference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On-Device Training on MCUs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462272"/>
            <a:ext cx="3200400" cy="274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Atef  · 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1463040"/>
            <a:ext cx="1554480" cy="777240"/>
          </a:xfrm>
          <a:prstGeom prst="rect">
            <a:avLst/>
          </a:prstGeom>
          <a:solidFill>
            <a:srgbClr val="11284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4813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865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2468880"/>
            <a:ext cx="1554480" cy="777240"/>
          </a:xfrm>
          <a:prstGeom prst="rect">
            <a:avLst/>
          </a:prstGeom>
          <a:solidFill>
            <a:srgbClr val="11284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24871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C99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28712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0" y="3474720"/>
            <a:ext cx="1554480" cy="777240"/>
          </a:xfrm>
          <a:prstGeom prst="rect">
            <a:avLst/>
          </a:prstGeom>
          <a:solidFill>
            <a:srgbClr val="11284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3493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3877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This Codebase?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OnDeviceTraining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a pure-C, CMake-based framework that brings </a:t>
            </a:r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neural network training (forward + backpropagation)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to resource-constrained microcontrollers — not just inference.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5740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2148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code runs on MCU and PC host for debugging and reference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205740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2148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Realism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tight RAM/Flash — static memory, no heap bloat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3840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quantization, and optimizers added without breaking baseline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338328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65192" y="3840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abstractions to plug in custom training algorithms (FQT, RigL)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94960" y="960120"/>
            <a:ext cx="3337560" cy="868680"/>
          </a:xfrm>
          <a:prstGeom prst="rect">
            <a:avLst/>
          </a:prstGeom>
          <a:solidFill>
            <a:srgbClr val="112847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987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24358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/ mixed-precision
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training (RigL)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01168" cy="5120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96926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API  (InferenceApi · TrainingLoopApi · SgdApi · TensorApi)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490472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90472"/>
            <a:ext cx="201168" cy="5120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4533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 (CalculateGradsSequential · TrainingEpochDefault · TrainingBatch)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066544"/>
            <a:ext cx="201168" cy="5120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121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LAYERS  (Linear · ReLU · Softmax · Conv1d · QuantizationLayer)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42616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42616"/>
            <a:ext cx="201168" cy="5120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6974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+ OPTIMIZER  (CrossEntropy · MSE · SGD / SGD-Momentum)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18688"/>
            <a:ext cx="201168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2735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(DataLoader · NPYLoader · CSVHelper)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794760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94760"/>
            <a:ext cx="201168" cy="5120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4962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+ QUANTIZATION  (Tensor · DTypes · Quantization · TensorConversion)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370832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370832"/>
            <a:ext cx="201168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42569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PRIMITIVES  (Matmul · Add · Mul · Div · Log · Rounding · Distributions)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layers call into lower ones. UserAPI is the integration point for experiments.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Core: Tensor &amp; Quantization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4023360" cy="3200400"/>
          </a:xfrm>
          <a:prstGeom prst="rect">
            <a:avLst/>
          </a:prstGeom>
          <a:solidFill>
            <a:srgbClr val="172B4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tensor_t  (core data primitive)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813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uint8_t* 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byte storage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482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shape_t*  shape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 size + order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151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quantization_t*  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2549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config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45536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sparsity_t*  sparsity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924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mask (RigL hook)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4023360" cy="685800"/>
          </a:xfrm>
          <a:prstGeom prst="rect">
            <a:avLst/>
          </a:prstGeom>
          <a:solidFill>
            <a:srgbClr val="112847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79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parameter_t  =  tensor_t* param  +  tensor_t* grad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023360" cy="3977640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Modes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46304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996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7190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FP32 — training baseline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10312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1396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SYM_INT32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3591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fixed-point, configurable max bits (FQT-style)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74320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7797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(N-bit)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9992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N-bit integer with scale factor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38328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4198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ASYM (N-bit)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6393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with scale + zero-point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402336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0599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2793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32-bit integer (accumulator type)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Core: Neural Network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182880" cy="1325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Linear.c / Linear.h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Fully-connected layer. Forward: Y = XWt + b. Backward: computes dL/dW, dL/db, dL/dX. Supports float and quantized paths.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182880" cy="13258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261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Relu.c / Relu.h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activation. Forward: max(0,x). Backward: gradient mask where x &gt; 0. Very low memory footprint.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77440"/>
            <a:ext cx="182880" cy="1325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Softmax.c / Softmax.h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29260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exponential output for classification. Backward fused with CrossEntropy for numerical stability.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182880" cy="13258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Conv1d.c + Conv1dTransposed.c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convolution for audio/time-series features (e.g. MFCC-based speaker embeddings). Transposed version for up-sampling.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858768"/>
            <a:ext cx="8321040" cy="1005840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58768"/>
            <a:ext cx="18288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1879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QuantizationLayer.c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In-graph quantization layer: inserts fake quantize-dequantize ops so integer-aware gradients flow during backprop (FQT foundation).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Core: Forward &amp; Backward Pass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CalculateGradsSequential.c  —  the core training engine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1380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Layer Outputs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activation tensors for each layer (correct shape + quantization config).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5331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12464" y="1380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77393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layers 0 to N calling forward(). Each reads from the previous activation.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6187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5331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47104" y="1380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0" y="177393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CrossEntropy or MSE on final output vs. label. Returns scalar loss.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3639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3163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Grad Tensor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55701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dL/d_output tensor with same shape as model output.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04495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13639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12464" y="3163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91840" y="355701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layers N to 0 calling backward(). Each propagates dL/d_input and updates dL/dW, dL/db.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04495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3639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47104" y="3163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Return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26480" y="355701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intermediate activations. Return trainingStats (loss + output copy).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Optimizer, Loss &amp; Data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886968"/>
            <a:ext cx="4023360" cy="2468880"/>
          </a:xfrm>
          <a:prstGeom prst="rect">
            <a:avLst/>
          </a:prstGeom>
          <a:solidFill>
            <a:srgbClr val="172B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 (src/optimizer/)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53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SGD: theta = theta - lr * grad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68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SGD-Momentum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633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beta*v + grad,   theta = theta - lr * 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86968"/>
            <a:ext cx="4023360" cy="2468880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 (src/loss_functions/)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3898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453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classification. Backward fused with Softmax for stability.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3042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68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633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for regression. Backward: 2*(y_hat - y) / 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74720"/>
            <a:ext cx="8321040" cy="1417320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(src/data_loader/ + src/csv/)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2560320" cy="82296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142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dataset into batches; supports shuffle, split, callback hooks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950208"/>
            <a:ext cx="2560320" cy="82296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0142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NPYLoader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2793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NumPy .npy files in C — bridge between Python preprocessing and C runtime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950208"/>
            <a:ext cx="2560320" cy="82296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0142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CSVHelper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42793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per-epoch training stats (loss, accuracy, F1) to CSV for Python/Excel analysis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API &amp; Model Serialization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6D6A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src/userApi/  —  experiments call these functions, not the internals directly.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819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TensorApi.c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Allocate, free, copy, and init tensors with distributions (Xavier, zeros). Wraps internal storage management.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LinearApi / ReluApi / SoftmaxApi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76479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layer constructors binding parameters, quantization, and forward/backward hooks.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SgdApi / OptimizerApi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16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optimizer instances bound to a model. Exposes step() and zero_grad() via function pointer table.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816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InferenceApi.c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99923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Single-function inference + loss calculation. Used during evaluation loops.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TrainingLoopApi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training_loop/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2336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trainingRun() top-level loop. Calls epoch/batch helpers, collects loss/accuracy/F1, fires epoch callbacks.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StorageApi + Serialize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507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StorageApi.c / serial/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42336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Serialize/deserialize model weights to binary files — saves trained models to flash on MCU.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 to Your Thesis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896112"/>
            <a:ext cx="8321040" cy="658368"/>
          </a:xfrm>
          <a:prstGeom prst="rect">
            <a:avLst/>
          </a:prstGeom>
          <a:solidFill>
            <a:srgbClr val="11284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144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Goal: FQT + RigL Sparse Training on STM32 Nucleo-F746ZG for LibriSpeech Speaker Identification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73352"/>
            <a:ext cx="2606040" cy="3246120"/>
          </a:xfrm>
          <a:prstGeom prst="rect">
            <a:avLst/>
          </a:prstGeom>
          <a:solidFill>
            <a:srgbClr val="172B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73352"/>
            <a:ext cx="26060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8105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(Fake Quantization Training)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23682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entry point: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2569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QuantizationLayer + Quantization.c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990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3191256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QuantizationLayer and SYM_INT32/ASYM qtypes implement fake-quantize-dequantize in-graph. Weights and activations are quantized on the forward pass, but gradients flow through — the core FQT mechanism described by Deutel.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673352"/>
            <a:ext cx="2606040" cy="3246120"/>
          </a:xfrm>
          <a:prstGeom prst="rect">
            <a:avLst/>
          </a:prstGeom>
          <a:solidFill>
            <a:srgbClr val="172B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673352"/>
            <a:ext cx="260604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8105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(Dynamic Sparse Training)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3682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entry point: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2569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sparsity_t in Tensor.h + CalculateGradsSequential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2990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3191256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tensor already carries a sparsity_t field. The backprop engine propagates sparsity through layers. Your contribution: add a periodic RigL mask-update step — prune low-magnitude weights, regrow top-gradient weights.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1673352"/>
            <a:ext cx="2606040" cy="3246120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673352"/>
            <a:ext cx="260604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48" y="18105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 on STM32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9048" y="23682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entry point: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99048" y="2569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 + TrainingLoopApi + Serialize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99048" y="2990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9048" y="3191256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supports MFCC-based audio feature extraction. TrainingLoopApi drives on-device adaptation. Serialize stores the model to flash. The no-heap static memory design targets STM32 RAM constraints directly.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Reading Sequence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bottom of the stack and work up — each file only uses what came before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2070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src/common/include/Common.h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12070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Macros: PRINT_DEBUG, PRINT_ERROR, reserveMemory. Every file depends on this.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563624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09344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581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src/tensor/include/Quantization.h + Quantization.c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15819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for precision: FLOAT32, SYM_INT32, ASYM. Read qtypes enum and configs.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1938528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98424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19568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src/tensor/include/Tensor.h + Tensor.c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195681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primitive: tensor_t, shape_t, sparsity_t, parameter_t. Understand these deeply.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313432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359152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3317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src/arithmetic/include/*.h + *.c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23317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Matmul, Add, Mul, Div, Log, Rounding — the math kernels layers call.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2688336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734056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27066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src/layer/include/Layer.h + Linear.h/c + Relu.h/c + Softmax.h/c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27066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type enum, function pointers, three main trainable layers.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063240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10896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" y="3081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src/loss_functions/  +  src/optimizer/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3081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CrossEntropy, MSE (forward + backward); SGD optimizer step/zero.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438144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483864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34564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src/data_loader/DataLoader.h/c + NPYLoader.h/c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26280" y="34564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enters the system — batches, samples, .npy file loading.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3813048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385876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" y="38313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src/serial/  +  src/userApi/tensor/ + layer/ + optimizer/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6280" y="383133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save/load (Serialize.c) and high-level API constructors.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4187952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4233672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9808" y="4206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src/userApi/training_loop/calculate_grads/CalculateGradsSequential.c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26280" y="42062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backprop engine — forward pass, loss, backward loop in one function.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" y="4562856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" y="4608576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" y="45811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TrainingLoopApi.c  →  experiments/MnistExperiment.c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26280" y="45811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training run. MnistExperiment.c is the best first experiment to read.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5486400" cy="54864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OnDeviceTraining is a complete pure-C training framework (not inference-only) built for MCUs and PC hosts.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7-layer stack — arithmetic primitives up to a full training loop with loss, accuracy, F1, and confusion matrix.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7802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link: QuantizationLayer + SYM_INT32 tensors implement fake-quantization-aware training — the direct C base for your FQT experiments.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9981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link: sparsity_t in tensor_t is the structural hook for sparse masks. The backprop engine already propagates sparsity — your contribution adds the mask-update step.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2160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 link: Conv1d for audio features, Serialize for flash storage, TrainingLoopApi for on-device adaptation on STM32.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sequence: Common -&gt; Tensor -&gt; Arithmetic -&gt; Layers -&gt; Loss/Optim -&gt; DataLoader -&gt; UserAPI -&gt; MnistExperiment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32004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Atef  ·  Master's Thesis 2026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lementation Flowchart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3"/>
          <p:cNvSpPr/>
          <p:nvPr/>
        </p:nvSpPr>
        <p:spPr>
          <a:xfrm>
            <a:off x="300000" y="150000"/>
            <a:ext cx="8544000" cy="38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Implementation Flowchart</a:t>
            </a:r>
          </a:p>
        </p:txBody>
      </p:sp>
      <p:sp>
        <p:nvSpPr>
          <p:cNvPr id="4" name="s4"/>
          <p:cNvSpPr/>
          <p:nvPr/>
        </p:nvSpPr>
        <p:spPr>
          <a:xfrm>
            <a:off x="300000" y="540000"/>
            <a:ext cx="8544000" cy="19050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5" name="t5"/>
          <p:cNvSpPr/>
          <p:nvPr/>
        </p:nvSpPr>
        <p:spPr>
          <a:xfrm>
            <a:off x="300000" y="550000"/>
            <a:ext cx="8544000" cy="12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</a:rPr>
              <a:t>Pure-C milestones: hardware setup  -&gt;  STM32 deployment  |  key C files to implement</a:t>
            </a:r>
          </a:p>
        </p:txBody>
      </p:sp>
      <p:sp>
        <p:nvSpPr>
          <p:cNvPr id="6" name="t6"/>
          <p:cNvSpPr/>
          <p:nvPr/>
        </p:nvSpPr>
        <p:spPr>
          <a:xfrm>
            <a:off x="300000" y="730000"/>
            <a:ext cx="3900000" cy="1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</a:rPr>
              <a:t>STEPS 1-5  .  FOUNDATION</a:t>
            </a:r>
          </a:p>
        </p:txBody>
      </p:sp>
      <p:sp>
        <p:nvSpPr>
          <p:cNvPr id="7" name="t7"/>
          <p:cNvSpPr/>
          <p:nvPr/>
        </p:nvSpPr>
        <p:spPr>
          <a:xfrm>
            <a:off x="4944000" y="730000"/>
            <a:ext cx="3900000" cy="1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</a:rPr>
              <a:t>STEPS 6-10  .  TRAINING &amp; DEPLOYMENT</a:t>
            </a:r>
          </a:p>
        </p:txBody>
      </p:sp>
      <p:sp>
        <p:nvSpPr>
          <p:cNvPr id="8" name="s8"/>
          <p:cNvSpPr/>
          <p:nvPr/>
        </p:nvSpPr>
        <p:spPr>
          <a:xfrm>
            <a:off x="4562475" y="890000"/>
            <a:ext cx="19050" cy="4160000"/>
          </a:xfrm>
          <a:prstGeom prst="rect">
            <a:avLst/>
          </a:prstGeom>
          <a:solidFill>
            <a:srgbClr val="64748B">
              <a:alpha val="20000"/>
            </a:srgbClr>
          </a:solidFill>
          <a:ln/>
        </p:spPr>
      </p:sp>
      <p:sp>
        <p:nvSpPr>
          <p:cNvPr id="9" name="s9"/>
          <p:cNvSpPr/>
          <p:nvPr/>
        </p:nvSpPr>
        <p:spPr>
          <a:xfrm>
            <a:off x="300000" y="91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10"/>
          <p:cNvSpPr/>
          <p:nvPr/>
        </p:nvSpPr>
        <p:spPr>
          <a:xfrm>
            <a:off x="300000" y="910000"/>
            <a:ext cx="28000" cy="760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11"/>
          <p:cNvSpPr/>
          <p:nvPr/>
        </p:nvSpPr>
        <p:spPr>
          <a:xfrm>
            <a:off x="378000" y="95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onsolas" pitchFamily="34" charset="0"/>
              </a:rPr>
              <a:t>1</a:t>
            </a:r>
          </a:p>
        </p:txBody>
      </p:sp>
      <p:sp>
        <p:nvSpPr>
          <p:cNvPr id="12" name="t12"/>
          <p:cNvSpPr/>
          <p:nvPr/>
        </p:nvSpPr>
        <p:spPr>
          <a:xfrm>
            <a:off x="718000" y="95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STM32 Entry Point</a:t>
            </a:r>
          </a:p>
        </p:txBody>
      </p:sp>
      <p:sp>
        <p:nvSpPr>
          <p:cNvPr id="13" name="t13"/>
          <p:cNvSpPr/>
          <p:nvPr/>
        </p:nvSpPr>
        <p:spPr>
          <a:xfrm>
            <a:off x="378000" y="119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main.c</a:t>
            </a:r>
          </a:p>
        </p:txBody>
      </p:sp>
      <p:sp>
        <p:nvSpPr>
          <p:cNvPr id="14" name="t14"/>
          <p:cNvSpPr/>
          <p:nvPr/>
        </p:nvSpPr>
        <p:spPr>
          <a:xfrm>
            <a:off x="378000" y="139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hardware_init()  .  HAL clock  .  SRAM heap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static memory pool  .  UART debug port</a:t>
            </a:r>
          </a:p>
        </p:txBody>
      </p:sp>
      <p:sp>
        <p:nvSpPr>
          <p:cNvPr id="15" name="s15"/>
          <p:cNvSpPr/>
          <p:nvPr/>
        </p:nvSpPr>
        <p:spPr>
          <a:xfrm>
            <a:off x="2225000" y="1670000"/>
            <a:ext cx="50000" cy="44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r16"/>
          <p:cNvSpPr/>
          <p:nvPr/>
        </p:nvSpPr>
        <p:spPr>
          <a:xfrm>
            <a:off x="2185000" y="1714000"/>
            <a:ext cx="130000" cy="36000"/>
          </a:xfrm>
          <a:prstGeom prst="triangle">
            <a:avLst/>
          </a:prstGeom>
          <a:solidFill>
            <a:srgbClr val="0EA5E9"/>
          </a:solidFill>
          <a:ln/>
        </p:spPr>
      </p:sp>
      <p:sp>
        <p:nvSpPr>
          <p:cNvPr id="17" name="s17"/>
          <p:cNvSpPr/>
          <p:nvPr/>
        </p:nvSpPr>
        <p:spPr>
          <a:xfrm>
            <a:off x="300000" y="175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18"/>
          <p:cNvSpPr/>
          <p:nvPr/>
        </p:nvSpPr>
        <p:spPr>
          <a:xfrm>
            <a:off x="300000" y="1750000"/>
            <a:ext cx="28000" cy="760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19"/>
          <p:cNvSpPr/>
          <p:nvPr/>
        </p:nvSpPr>
        <p:spPr>
          <a:xfrm>
            <a:off x="378000" y="179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onsolas" pitchFamily="34" charset="0"/>
              </a:rPr>
              <a:t>2</a:t>
            </a:r>
          </a:p>
        </p:txBody>
      </p:sp>
      <p:sp>
        <p:nvSpPr>
          <p:cNvPr id="20" name="t20"/>
          <p:cNvSpPr/>
          <p:nvPr/>
        </p:nvSpPr>
        <p:spPr>
          <a:xfrm>
            <a:off x="718000" y="179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Tensor Allocation</a:t>
            </a:r>
          </a:p>
        </p:txBody>
      </p:sp>
      <p:sp>
        <p:nvSpPr>
          <p:cNvPr id="21" name="t21"/>
          <p:cNvSpPr/>
          <p:nvPr/>
        </p:nvSpPr>
        <p:spPr>
          <a:xfrm>
            <a:off x="378000" y="203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TensorApi.c</a:t>
            </a:r>
          </a:p>
        </p:txBody>
      </p:sp>
      <p:sp>
        <p:nvSpPr>
          <p:cNvPr id="22" name="t22"/>
          <p:cNvSpPr/>
          <p:nvPr/>
        </p:nvSpPr>
        <p:spPr>
          <a:xfrm>
            <a:off x="378000" y="223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tensorInitFloat()  .  parameterInit()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INT8 / FP32 quantization_t config</a:t>
            </a:r>
          </a:p>
        </p:txBody>
      </p:sp>
      <p:sp>
        <p:nvSpPr>
          <p:cNvPr id="23" name="s23"/>
          <p:cNvSpPr/>
          <p:nvPr/>
        </p:nvSpPr>
        <p:spPr>
          <a:xfrm>
            <a:off x="2225000" y="2510000"/>
            <a:ext cx="50000" cy="44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r24"/>
          <p:cNvSpPr/>
          <p:nvPr/>
        </p:nvSpPr>
        <p:spPr>
          <a:xfrm>
            <a:off x="2185000" y="2554000"/>
            <a:ext cx="130000" cy="36000"/>
          </a:xfrm>
          <a:prstGeom prst="triangle">
            <a:avLst/>
          </a:prstGeom>
          <a:solidFill>
            <a:srgbClr val="0EA5E9"/>
          </a:solidFill>
          <a:ln/>
        </p:spPr>
      </p:sp>
      <p:sp>
        <p:nvSpPr>
          <p:cNvPr id="25" name="s25"/>
          <p:cNvSpPr/>
          <p:nvPr/>
        </p:nvSpPr>
        <p:spPr>
          <a:xfrm>
            <a:off x="300000" y="259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F59E0B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26"/>
          <p:cNvSpPr/>
          <p:nvPr/>
        </p:nvSpPr>
        <p:spPr>
          <a:xfrm>
            <a:off x="300000" y="2590000"/>
            <a:ext cx="28000" cy="76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27"/>
          <p:cNvSpPr/>
          <p:nvPr/>
        </p:nvSpPr>
        <p:spPr>
          <a:xfrm>
            <a:off x="378000" y="263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</a:rPr>
              <a:t>3</a:t>
            </a:r>
          </a:p>
        </p:txBody>
      </p:sp>
      <p:sp>
        <p:nvSpPr>
          <p:cNvPr id="28" name="t28"/>
          <p:cNvSpPr/>
          <p:nvPr/>
        </p:nvSpPr>
        <p:spPr>
          <a:xfrm>
            <a:off x="718000" y="263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Model Layer Stack</a:t>
            </a:r>
          </a:p>
        </p:txBody>
      </p:sp>
      <p:sp>
        <p:nvSpPr>
          <p:cNvPr id="29" name="t29"/>
          <p:cNvSpPr/>
          <p:nvPr/>
        </p:nvSpPr>
        <p:spPr>
          <a:xfrm>
            <a:off x="378000" y="287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LinearApi.c + Conv1d.c</a:t>
            </a:r>
          </a:p>
        </p:txBody>
      </p:sp>
      <p:sp>
        <p:nvSpPr>
          <p:cNvPr id="30" name="t30"/>
          <p:cNvSpPr/>
          <p:nvPr/>
        </p:nvSpPr>
        <p:spPr>
          <a:xfrm>
            <a:off x="378000" y="307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Conv1d -&gt; ReLU -&gt; Linear -&gt; Softmax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Speaker-ID network for MFCC features</a:t>
            </a:r>
          </a:p>
        </p:txBody>
      </p:sp>
      <p:sp>
        <p:nvSpPr>
          <p:cNvPr id="31" name="s31"/>
          <p:cNvSpPr/>
          <p:nvPr/>
        </p:nvSpPr>
        <p:spPr>
          <a:xfrm>
            <a:off x="2225000" y="3350000"/>
            <a:ext cx="50000" cy="4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r32"/>
          <p:cNvSpPr/>
          <p:nvPr/>
        </p:nvSpPr>
        <p:spPr>
          <a:xfrm>
            <a:off x="2185000" y="3394000"/>
            <a:ext cx="130000" cy="36000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33" name="s33"/>
          <p:cNvSpPr/>
          <p:nvPr/>
        </p:nvSpPr>
        <p:spPr>
          <a:xfrm>
            <a:off x="300000" y="343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F59E0B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34"/>
          <p:cNvSpPr/>
          <p:nvPr/>
        </p:nvSpPr>
        <p:spPr>
          <a:xfrm>
            <a:off x="300000" y="3430000"/>
            <a:ext cx="28000" cy="76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35"/>
          <p:cNvSpPr/>
          <p:nvPr/>
        </p:nvSpPr>
        <p:spPr>
          <a:xfrm>
            <a:off x="378000" y="347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</a:rPr>
              <a:t>4</a:t>
            </a:r>
          </a:p>
        </p:txBody>
      </p:sp>
      <p:sp>
        <p:nvSpPr>
          <p:cNvPr id="36" name="t36"/>
          <p:cNvSpPr/>
          <p:nvPr/>
        </p:nvSpPr>
        <p:spPr>
          <a:xfrm>
            <a:off x="718000" y="347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FQT - Fake Quantize Nodes</a:t>
            </a:r>
          </a:p>
        </p:txBody>
      </p:sp>
      <p:sp>
        <p:nvSpPr>
          <p:cNvPr id="37" name="t37"/>
          <p:cNvSpPr/>
          <p:nvPr/>
        </p:nvSpPr>
        <p:spPr>
          <a:xfrm>
            <a:off x="378000" y="371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QuantizationLayer.c</a:t>
            </a:r>
          </a:p>
        </p:txBody>
      </p:sp>
      <p:sp>
        <p:nvSpPr>
          <p:cNvPr id="38" name="t38"/>
          <p:cNvSpPr/>
          <p:nvPr/>
        </p:nvSpPr>
        <p:spPr>
          <a:xfrm>
            <a:off x="378000" y="391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quantizeLayer() insert per layer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SYM_INT32 forward  .  float grad flow</a:t>
            </a:r>
          </a:p>
        </p:txBody>
      </p:sp>
      <p:sp>
        <p:nvSpPr>
          <p:cNvPr id="39" name="s39"/>
          <p:cNvSpPr/>
          <p:nvPr/>
        </p:nvSpPr>
        <p:spPr>
          <a:xfrm>
            <a:off x="2225000" y="4190000"/>
            <a:ext cx="50000" cy="4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r40"/>
          <p:cNvSpPr/>
          <p:nvPr/>
        </p:nvSpPr>
        <p:spPr>
          <a:xfrm>
            <a:off x="2185000" y="4234000"/>
            <a:ext cx="130000" cy="36000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1" name="s41"/>
          <p:cNvSpPr/>
          <p:nvPr/>
        </p:nvSpPr>
        <p:spPr>
          <a:xfrm>
            <a:off x="300000" y="427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10B981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42"/>
          <p:cNvSpPr/>
          <p:nvPr/>
        </p:nvSpPr>
        <p:spPr>
          <a:xfrm>
            <a:off x="300000" y="4270000"/>
            <a:ext cx="28000" cy="76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43"/>
          <p:cNvSpPr/>
          <p:nvPr/>
        </p:nvSpPr>
        <p:spPr>
          <a:xfrm>
            <a:off x="378000" y="431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</a:rPr>
              <a:t>5</a:t>
            </a:r>
          </a:p>
        </p:txBody>
      </p:sp>
      <p:sp>
        <p:nvSpPr>
          <p:cNvPr id="44" name="t44"/>
          <p:cNvSpPr/>
          <p:nvPr/>
        </p:nvSpPr>
        <p:spPr>
          <a:xfrm>
            <a:off x="718000" y="431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LibriSpeech Data Pipeline</a:t>
            </a:r>
          </a:p>
        </p:txBody>
      </p:sp>
      <p:sp>
        <p:nvSpPr>
          <p:cNvPr id="45" name="t45"/>
          <p:cNvSpPr/>
          <p:nvPr/>
        </p:nvSpPr>
        <p:spPr>
          <a:xfrm>
            <a:off x="378000" y="455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NPYLoader.c + DataLoader.c</a:t>
            </a:r>
          </a:p>
        </p:txBody>
      </p:sp>
      <p:sp>
        <p:nvSpPr>
          <p:cNvPr id="46" name="t46"/>
          <p:cNvSpPr/>
          <p:nvPr/>
        </p:nvSpPr>
        <p:spPr>
          <a:xfrm>
            <a:off x="378000" y="475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loadNPY()  .  getBatch()  .  shuffle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40-speaker MFCC feature batches</a:t>
            </a:r>
          </a:p>
        </p:txBody>
      </p:sp>
      <p:sp>
        <p:nvSpPr>
          <p:cNvPr id="47" name="s47"/>
          <p:cNvSpPr/>
          <p:nvPr/>
        </p:nvSpPr>
        <p:spPr>
          <a:xfrm>
            <a:off x="4944000" y="91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F97316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48"/>
          <p:cNvSpPr/>
          <p:nvPr/>
        </p:nvSpPr>
        <p:spPr>
          <a:xfrm>
            <a:off x="4944000" y="910000"/>
            <a:ext cx="28000" cy="760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9" name="t49"/>
          <p:cNvSpPr/>
          <p:nvPr/>
        </p:nvSpPr>
        <p:spPr>
          <a:xfrm>
            <a:off x="5022000" y="95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</a:rPr>
              <a:t>6</a:t>
            </a:r>
          </a:p>
        </p:txBody>
      </p:sp>
      <p:sp>
        <p:nvSpPr>
          <p:cNvPr id="50" name="t50"/>
          <p:cNvSpPr/>
          <p:nvPr/>
        </p:nvSpPr>
        <p:spPr>
          <a:xfrm>
            <a:off x="5362000" y="95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FQT Forward + Backward Pass</a:t>
            </a:r>
          </a:p>
        </p:txBody>
      </p:sp>
      <p:sp>
        <p:nvSpPr>
          <p:cNvPr id="51" name="t51"/>
          <p:cNvSpPr/>
          <p:nvPr/>
        </p:nvSpPr>
        <p:spPr>
          <a:xfrm>
            <a:off x="5022000" y="119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CalculateGradsSequential.c</a:t>
            </a:r>
          </a:p>
        </p:txBody>
      </p:sp>
      <p:sp>
        <p:nvSpPr>
          <p:cNvPr id="52" name="t52"/>
          <p:cNvSpPr/>
          <p:nvPr/>
        </p:nvSpPr>
        <p:spPr>
          <a:xfrm>
            <a:off x="5022000" y="139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forwardPass()  .  computeLoss()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backwardPass()  .  gradient accumulate</a:t>
            </a:r>
          </a:p>
        </p:txBody>
      </p:sp>
      <p:sp>
        <p:nvSpPr>
          <p:cNvPr id="53" name="s53"/>
          <p:cNvSpPr/>
          <p:nvPr/>
        </p:nvSpPr>
        <p:spPr>
          <a:xfrm>
            <a:off x="6869000" y="1670000"/>
            <a:ext cx="50000" cy="44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4" name="tr54"/>
          <p:cNvSpPr/>
          <p:nvPr/>
        </p:nvSpPr>
        <p:spPr>
          <a:xfrm>
            <a:off x="6829000" y="1714000"/>
            <a:ext cx="130000" cy="36000"/>
          </a:xfrm>
          <a:prstGeom prst="triangle">
            <a:avLst/>
          </a:prstGeom>
          <a:solidFill>
            <a:srgbClr val="F97316"/>
          </a:solidFill>
          <a:ln/>
        </p:spPr>
      </p:sp>
      <p:sp>
        <p:nvSpPr>
          <p:cNvPr id="55" name="s55"/>
          <p:cNvSpPr/>
          <p:nvPr/>
        </p:nvSpPr>
        <p:spPr>
          <a:xfrm>
            <a:off x="4944000" y="175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A855F7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s56"/>
          <p:cNvSpPr/>
          <p:nvPr/>
        </p:nvSpPr>
        <p:spPr>
          <a:xfrm>
            <a:off x="4944000" y="1750000"/>
            <a:ext cx="28000" cy="760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7" name="t57"/>
          <p:cNvSpPr/>
          <p:nvPr/>
        </p:nvSpPr>
        <p:spPr>
          <a:xfrm>
            <a:off x="5022000" y="179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onsolas" pitchFamily="34" charset="0"/>
              </a:rPr>
              <a:t>7</a:t>
            </a:r>
          </a:p>
        </p:txBody>
      </p:sp>
      <p:sp>
        <p:nvSpPr>
          <p:cNvPr id="58" name="t58"/>
          <p:cNvSpPr/>
          <p:nvPr/>
        </p:nvSpPr>
        <p:spPr>
          <a:xfrm>
            <a:off x="5362000" y="179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Dynamic Sparse Topology</a:t>
            </a:r>
          </a:p>
        </p:txBody>
      </p:sp>
      <p:sp>
        <p:nvSpPr>
          <p:cNvPr id="59" name="t59"/>
          <p:cNvSpPr/>
          <p:nvPr/>
        </p:nvSpPr>
        <p:spPr>
          <a:xfrm>
            <a:off x="5022000" y="203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E879F9"/>
                </a:solidFill>
                <a:latin typeface="Consolas" pitchFamily="34" charset="0"/>
              </a:rPr>
              <a:t>RigLMask.c   [NEW]</a:t>
            </a:r>
          </a:p>
        </p:txBody>
      </p:sp>
      <p:sp>
        <p:nvSpPr>
          <p:cNvPr id="60" name="t60"/>
          <p:cNvSpPr/>
          <p:nvPr/>
        </p:nvSpPr>
        <p:spPr>
          <a:xfrm>
            <a:off x="5022000" y="223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pruneByMagnitude()  .  regrowByGrad()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periodic mask update (every K steps)</a:t>
            </a:r>
          </a:p>
        </p:txBody>
      </p:sp>
      <p:sp>
        <p:nvSpPr>
          <p:cNvPr id="61" name="s61"/>
          <p:cNvSpPr/>
          <p:nvPr/>
        </p:nvSpPr>
        <p:spPr>
          <a:xfrm>
            <a:off x="6869000" y="2510000"/>
            <a:ext cx="50000" cy="44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2" name="tr62"/>
          <p:cNvSpPr/>
          <p:nvPr/>
        </p:nvSpPr>
        <p:spPr>
          <a:xfrm>
            <a:off x="6829000" y="2554000"/>
            <a:ext cx="130000" cy="36000"/>
          </a:xfrm>
          <a:prstGeom prst="triangle">
            <a:avLst/>
          </a:prstGeom>
          <a:solidFill>
            <a:srgbClr val="A855F7"/>
          </a:solidFill>
          <a:ln/>
        </p:spPr>
      </p:sp>
      <p:sp>
        <p:nvSpPr>
          <p:cNvPr id="63" name="s63"/>
          <p:cNvSpPr/>
          <p:nvPr/>
        </p:nvSpPr>
        <p:spPr>
          <a:xfrm>
            <a:off x="4944000" y="259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F97316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4" name="s64"/>
          <p:cNvSpPr/>
          <p:nvPr/>
        </p:nvSpPr>
        <p:spPr>
          <a:xfrm>
            <a:off x="4944000" y="2590000"/>
            <a:ext cx="28000" cy="760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5" name="t65"/>
          <p:cNvSpPr/>
          <p:nvPr/>
        </p:nvSpPr>
        <p:spPr>
          <a:xfrm>
            <a:off x="5022000" y="263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</a:rPr>
              <a:t>8</a:t>
            </a:r>
          </a:p>
        </p:txBody>
      </p:sp>
      <p:sp>
        <p:nvSpPr>
          <p:cNvPr id="66" name="t66"/>
          <p:cNvSpPr/>
          <p:nvPr/>
        </p:nvSpPr>
        <p:spPr>
          <a:xfrm>
            <a:off x="5362000" y="263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SGD Optimizer Step</a:t>
            </a:r>
          </a:p>
        </p:txBody>
      </p:sp>
      <p:sp>
        <p:nvSpPr>
          <p:cNvPr id="67" name="t67"/>
          <p:cNvSpPr/>
          <p:nvPr/>
        </p:nvSpPr>
        <p:spPr>
          <a:xfrm>
            <a:off x="5022000" y="287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SgdApi.c + OptimizerApi.c</a:t>
            </a:r>
          </a:p>
        </p:txBody>
      </p:sp>
      <p:sp>
        <p:nvSpPr>
          <p:cNvPr id="68" name="t68"/>
          <p:cNvSpPr/>
          <p:nvPr/>
        </p:nvSpPr>
        <p:spPr>
          <a:xfrm>
            <a:off x="5022000" y="307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sgdStep()  .  zeroGrad()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weight update on non-masked params</a:t>
            </a:r>
          </a:p>
        </p:txBody>
      </p:sp>
      <p:sp>
        <p:nvSpPr>
          <p:cNvPr id="69" name="s69"/>
          <p:cNvSpPr/>
          <p:nvPr/>
        </p:nvSpPr>
        <p:spPr>
          <a:xfrm>
            <a:off x="6869000" y="3350000"/>
            <a:ext cx="50000" cy="44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0" name="tr70"/>
          <p:cNvSpPr/>
          <p:nvPr/>
        </p:nvSpPr>
        <p:spPr>
          <a:xfrm>
            <a:off x="6829000" y="3394000"/>
            <a:ext cx="130000" cy="36000"/>
          </a:xfrm>
          <a:prstGeom prst="triangle">
            <a:avLst/>
          </a:prstGeom>
          <a:solidFill>
            <a:srgbClr val="F97316"/>
          </a:solidFill>
          <a:ln/>
        </p:spPr>
      </p:sp>
      <p:sp>
        <p:nvSpPr>
          <p:cNvPr id="71" name="s71"/>
          <p:cNvSpPr/>
          <p:nvPr/>
        </p:nvSpPr>
        <p:spPr>
          <a:xfrm>
            <a:off x="4944000" y="343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10B981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2" name="s72"/>
          <p:cNvSpPr/>
          <p:nvPr/>
        </p:nvSpPr>
        <p:spPr>
          <a:xfrm>
            <a:off x="4944000" y="3430000"/>
            <a:ext cx="28000" cy="76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3" name="t73"/>
          <p:cNvSpPr/>
          <p:nvPr/>
        </p:nvSpPr>
        <p:spPr>
          <a:xfrm>
            <a:off x="5022000" y="347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</a:rPr>
              <a:t>9</a:t>
            </a:r>
          </a:p>
        </p:txBody>
      </p:sp>
      <p:sp>
        <p:nvSpPr>
          <p:cNvPr id="74" name="t74"/>
          <p:cNvSpPr/>
          <p:nvPr/>
        </p:nvSpPr>
        <p:spPr>
          <a:xfrm>
            <a:off x="5362000" y="347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Epoch Loop + Metrics</a:t>
            </a:r>
          </a:p>
        </p:txBody>
      </p:sp>
      <p:sp>
        <p:nvSpPr>
          <p:cNvPr id="75" name="t75"/>
          <p:cNvSpPr/>
          <p:nvPr/>
        </p:nvSpPr>
        <p:spPr>
          <a:xfrm>
            <a:off x="5022000" y="371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TrainingLoopApi.c</a:t>
            </a:r>
          </a:p>
        </p:txBody>
      </p:sp>
      <p:sp>
        <p:nvSpPr>
          <p:cNvPr id="76" name="t76"/>
          <p:cNvSpPr/>
          <p:nvPr/>
        </p:nvSpPr>
        <p:spPr>
          <a:xfrm>
            <a:off x="5022000" y="391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trainingRun()  .  accuracy  .  F1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CSV log per epoch via CSVHelper.c</a:t>
            </a:r>
          </a:p>
        </p:txBody>
      </p:sp>
      <p:sp>
        <p:nvSpPr>
          <p:cNvPr id="77" name="s77"/>
          <p:cNvSpPr/>
          <p:nvPr/>
        </p:nvSpPr>
        <p:spPr>
          <a:xfrm>
            <a:off x="6869000" y="4190000"/>
            <a:ext cx="50000" cy="4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8" name="tr78"/>
          <p:cNvSpPr/>
          <p:nvPr/>
        </p:nvSpPr>
        <p:spPr>
          <a:xfrm>
            <a:off x="6829000" y="4234000"/>
            <a:ext cx="130000" cy="3600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79" name="s79"/>
          <p:cNvSpPr/>
          <p:nvPr/>
        </p:nvSpPr>
        <p:spPr>
          <a:xfrm>
            <a:off x="4944000" y="4270000"/>
            <a:ext cx="3900000" cy="760000"/>
          </a:xfrm>
          <a:prstGeom prst="rect">
            <a:avLst/>
          </a:prstGeom>
          <a:solidFill>
            <a:srgbClr val="172B45"/>
          </a:solidFill>
          <a:ln w="6350">
            <a:solidFill>
              <a:srgbClr val="10B981"/>
            </a:solidFill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0" name="s80"/>
          <p:cNvSpPr/>
          <p:nvPr/>
        </p:nvSpPr>
        <p:spPr>
          <a:xfrm>
            <a:off x="4944000" y="4270000"/>
            <a:ext cx="28000" cy="76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1" name="t81"/>
          <p:cNvSpPr/>
          <p:nvPr/>
        </p:nvSpPr>
        <p:spPr>
          <a:xfrm>
            <a:off x="5022000" y="4310000"/>
            <a:ext cx="320000" cy="230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</a:rPr>
              <a:t>10</a:t>
            </a:r>
          </a:p>
        </p:txBody>
      </p:sp>
      <p:sp>
        <p:nvSpPr>
          <p:cNvPr id="82" name="t82"/>
          <p:cNvSpPr/>
          <p:nvPr/>
        </p:nvSpPr>
        <p:spPr>
          <a:xfrm>
            <a:off x="5362000" y="4310000"/>
            <a:ext cx="3452000" cy="2300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870" i="1" dirty="0">
                <a:solidFill>
                  <a:srgbClr val="94A3B8"/>
                </a:solidFill>
                <a:latin typeface="Calibri" pitchFamily="34" charset="0"/>
              </a:rPr>
              <a:t>Flash Model to STM32</a:t>
            </a:r>
          </a:p>
        </p:txBody>
      </p:sp>
      <p:sp>
        <p:nvSpPr>
          <p:cNvPr id="83" name="t83"/>
          <p:cNvSpPr/>
          <p:nvPr/>
        </p:nvSpPr>
        <p:spPr>
          <a:xfrm>
            <a:off x="5022000" y="4550000"/>
            <a:ext cx="3792000" cy="195000"/>
          </a:xfrm>
          <a:prstGeom prst="rect">
            <a:avLst/>
          </a:prstGeom>
          <a:noFill/>
          <a:ln/>
        </p:spPr>
        <p:txBody>
          <a:bodyPr wrap="none" rtlCol="0" anchor="t" lIns="0" tIns="0" rIns="0" bIns="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</a:rPr>
              <a:t>Serialize.c + StorageApi.c</a:t>
            </a:r>
          </a:p>
        </p:txBody>
      </p:sp>
      <p:sp>
        <p:nvSpPr>
          <p:cNvPr id="84" name="t84"/>
          <p:cNvSpPr/>
          <p:nvPr/>
        </p:nvSpPr>
        <p:spPr>
          <a:xfrm>
            <a:off x="5022000" y="4750000"/>
            <a:ext cx="3792000" cy="260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serializeModel()  .  writeToFlash()</a:t>
            </a:r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</a:rPr>
              <a:t>reload and verify on next boot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OnDeviceTraining Framework</dc:title>
  <dc:subject>PptxGenJS Presentation</dc:subject>
  <dc:creator>PptxGenJS</dc:creator>
  <cp:lastModifiedBy>PptxGenJS</cp:lastModifiedBy>
  <cp:revision>1</cp:revision>
  <dcterms:created xsi:type="dcterms:W3CDTF">2026-05-27T11:15:40Z</dcterms:created>
  <dcterms:modified xsi:type="dcterms:W3CDTF">2026-05-27T11:15:40Z</dcterms:modified>
</cp:coreProperties>
</file>