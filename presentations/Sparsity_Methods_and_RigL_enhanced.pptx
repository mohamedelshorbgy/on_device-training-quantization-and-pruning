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6" r:id="rId10"/>
    <p:sldId id="267" r:id="rId11"/>
    <p:sldId id="270" r:id="rId12"/>
    <p:sldId id="271" r:id="rId13"/>
    <p:sldId id="274" r:id="rId14"/>
    <p:sldId id="27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BF1DBE-E8FA-46DB-A5E1-19A8B7FA3DCE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35764-5470-4F92-B251-5F084FDA7B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188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51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057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91840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8288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2286000" cy="73152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5000"/>
              </a:lnSpc>
            </a:pPr>
            <a:r>
              <a:rPr sz="900" b="0" i="1">
                <a:solidFill>
                  <a:srgbClr val="FBF5E8"/>
                </a:solidFill>
                <a:latin typeface="Calibri"/>
              </a:rPr>
              <a:t>Offen im Denken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91840" y="0"/>
            <a:ext cx="91440" cy="685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11880" y="1874519"/>
            <a:ext cx="548640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MASTER THESIS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286000"/>
            <a:ext cx="5486400" cy="10972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E3A5F"/>
                </a:solidFill>
                <a:latin typeface="Calibri"/>
              </a:rPr>
              <a:t>Sparsity in Deep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017520"/>
            <a:ext cx="548640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222222"/>
                </a:solidFill>
                <a:latin typeface="Calibri"/>
              </a:rPr>
              <a:t>A Survey of Methods — and Why We Chose RigL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11880" y="3703320"/>
            <a:ext cx="2286000" cy="20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80" y="3886200"/>
            <a:ext cx="5486400" cy="99104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1" i="0" dirty="0">
                <a:solidFill>
                  <a:srgbClr val="1E3A5F"/>
                </a:solidFill>
                <a:latin typeface="Calibri"/>
              </a:rPr>
              <a:t>Mohamed </a:t>
            </a:r>
            <a:r>
              <a:rPr sz="1600" b="1" i="0" dirty="0" err="1">
                <a:solidFill>
                  <a:srgbClr val="1E3A5F"/>
                </a:solidFill>
                <a:latin typeface="Calibri"/>
              </a:rPr>
              <a:t>Elshorbagy</a:t>
            </a:r>
            <a:endParaRPr sz="1600" b="1" i="0" dirty="0">
              <a:solidFill>
                <a:srgbClr val="1E3A5F"/>
              </a:solidFill>
              <a:latin typeface="Calibri"/>
            </a:endParaRPr>
          </a:p>
          <a:p>
            <a:pPr algn="l">
              <a:lnSpc>
                <a:spcPct val="140000"/>
              </a:lnSpc>
            </a:pPr>
            <a:r>
              <a:rPr sz="1200" b="0" i="0" dirty="0">
                <a:solidFill>
                  <a:srgbClr val="222222"/>
                </a:solidFill>
                <a:latin typeface="Calibri"/>
              </a:rPr>
              <a:t>Master Thesis · </a:t>
            </a:r>
            <a:r>
              <a:rPr sz="1200" b="0" i="0" dirty="0" err="1">
                <a:solidFill>
                  <a:srgbClr val="222222"/>
                </a:solidFill>
                <a:latin typeface="Calibri"/>
              </a:rPr>
              <a:t>Universität</a:t>
            </a:r>
            <a:r>
              <a:rPr sz="1200" b="0" i="0" dirty="0">
                <a:solidFill>
                  <a:srgbClr val="222222"/>
                </a:solidFill>
                <a:latin typeface="Calibri"/>
              </a:rPr>
              <a:t> Duisburg-Essen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11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11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6A6A6A"/>
                </a:solidFill>
                <a:latin typeface="Calibri"/>
              </a:rPr>
              <a:t>May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6126480"/>
            <a:ext cx="54864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Combining Fully Quantized Training &amp; Dynamic Sparsity for On-Device Speaker ID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Context · Why this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>
                <a:solidFill>
                  <a:srgbClr val="6A6A6A"/>
                </a:solidFill>
                <a:latin typeface="Calibri"/>
              </a:rPr>
              <a:t>2 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Thesis Context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4160520" cy="1874519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4160520" cy="457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1965960"/>
            <a:ext cx="38313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3A5F"/>
                </a:solidFill>
                <a:latin typeface="Calibri"/>
              </a:rPr>
              <a:t>RESEARCH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286000"/>
            <a:ext cx="3831336" cy="73751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 dirty="0">
                <a:solidFill>
                  <a:srgbClr val="222222"/>
                </a:solidFill>
                <a:latin typeface="Calibri"/>
              </a:rPr>
              <a:t>Combine Fully Quantized Training (</a:t>
            </a:r>
            <a:r>
              <a:rPr sz="1150" b="0" i="0" dirty="0" err="1">
                <a:solidFill>
                  <a:srgbClr val="222222"/>
                </a:solidFill>
                <a:latin typeface="Calibri"/>
              </a:rPr>
              <a:t>Deutel</a:t>
            </a:r>
            <a:r>
              <a:rPr sz="1150" b="0" i="0" dirty="0">
                <a:solidFill>
                  <a:srgbClr val="222222"/>
                </a:solidFill>
                <a:latin typeface="Calibri"/>
              </a:rPr>
              <a:t> et al., 2024) with</a:t>
            </a:r>
          </a:p>
          <a:p>
            <a:pPr algn="l">
              <a:lnSpc>
                <a:spcPct val="125000"/>
              </a:lnSpc>
            </a:pPr>
            <a:r>
              <a:rPr sz="1150" b="0" i="0" dirty="0" err="1">
                <a:solidFill>
                  <a:srgbClr val="222222"/>
                </a:solidFill>
                <a:latin typeface="Calibri"/>
              </a:rPr>
              <a:t>RigL</a:t>
            </a:r>
            <a:r>
              <a:rPr sz="1150" b="0" i="0" dirty="0">
                <a:solidFill>
                  <a:srgbClr val="222222"/>
                </a:solidFill>
                <a:latin typeface="Calibri"/>
              </a:rPr>
              <a:t> dynamic sparse training (</a:t>
            </a:r>
            <a:r>
              <a:rPr sz="1150" b="0" i="0" dirty="0" err="1">
                <a:solidFill>
                  <a:srgbClr val="222222"/>
                </a:solidFill>
                <a:latin typeface="Calibri"/>
              </a:rPr>
              <a:t>Evci</a:t>
            </a:r>
            <a:r>
              <a:rPr sz="1150" b="0" i="0" dirty="0">
                <a:solidFill>
                  <a:srgbClr val="222222"/>
                </a:solidFill>
                <a:latin typeface="Calibri"/>
              </a:rPr>
              <a:t> et al., 2020) so a model</a:t>
            </a:r>
          </a:p>
          <a:p>
            <a:pPr algn="l">
              <a:lnSpc>
                <a:spcPct val="125000"/>
              </a:lnSpc>
            </a:pPr>
            <a:r>
              <a:rPr sz="1150" b="0" i="0" dirty="0">
                <a:solidFill>
                  <a:srgbClr val="222222"/>
                </a:solidFill>
                <a:latin typeface="Calibri"/>
              </a:rPr>
              <a:t>can train </a:t>
            </a:r>
            <a:r>
              <a:rPr sz="1150" b="0" i="0" dirty="0" smtClean="0">
                <a:solidFill>
                  <a:srgbClr val="222222"/>
                </a:solidFill>
                <a:latin typeface="Calibri"/>
              </a:rPr>
              <a:t>on-device</a:t>
            </a:r>
            <a:r>
              <a:rPr lang="en-US" sz="1150" b="0" i="0" dirty="0" smtClean="0">
                <a:solidFill>
                  <a:srgbClr val="222222"/>
                </a:solidFill>
                <a:latin typeface="Calibri"/>
              </a:rPr>
              <a:t>.</a:t>
            </a:r>
            <a:endParaRPr sz="115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4617720" y="3840480"/>
            <a:ext cx="4160520" cy="1874519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617720" y="3840480"/>
            <a:ext cx="4160520" cy="45720"/>
          </a:xfrm>
          <a:prstGeom prst="rect">
            <a:avLst/>
          </a:prstGeom>
          <a:solidFill>
            <a:srgbClr val="14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782312" y="3977640"/>
            <a:ext cx="3831336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42A46"/>
                </a:solidFill>
                <a:latin typeface="Calibri"/>
              </a:rPr>
              <a:t>CONTRIBUTION OF THIS SURVEY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4297680"/>
            <a:ext cx="3831336" cy="1371599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 i="0">
                <a:solidFill>
                  <a:srgbClr val="222222"/>
                </a:solidFill>
                <a:latin typeface="Calibri"/>
              </a:rPr>
              <a:t>Map the sparsity landscape, then justify</a:t>
            </a:r>
          </a:p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RigL as the dynamic-sparse-training method</a:t>
            </a:r>
          </a:p>
          <a:p>
            <a:pPr algn="l">
              <a:lnSpc>
                <a:spcPct val="125000"/>
              </a:lnSpc>
            </a:pPr>
            <a:r>
              <a:rPr sz="1100" b="0" i="1">
                <a:solidFill>
                  <a:srgbClr val="6A6A6A"/>
                </a:solidFill>
                <a:latin typeface="Calibri"/>
              </a:rPr>
              <a:t>that survives the FQT + MCU constraints — fixed parameter count, magnitude+gradient signals only, single tunable knob.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>
                <a:solidFill>
                  <a:srgbClr val="6A6A6A"/>
                </a:solidFill>
                <a:latin typeface="Calibri"/>
              </a:rPr>
              <a:t>3 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Agenda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" y="1828800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" y="1828800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874520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The Sparsification 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157984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A6A6A"/>
                </a:solidFill>
                <a:latin typeface="Calibri"/>
              </a:rPr>
              <a:t>WHAT, WHEN, and HOW to sparsify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505456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2505456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II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551176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Methods Surveyed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2834640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A6A6A"/>
                </a:solidFill>
                <a:latin typeface="Calibri"/>
              </a:rPr>
              <a:t>After-training · During-training · Sparse training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3182112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65760" y="3182112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III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227832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Selection Criteria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511296"/>
            <a:ext cx="7406640" cy="2404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 dirty="0">
                <a:solidFill>
                  <a:srgbClr val="6A6A6A"/>
                </a:solidFill>
                <a:latin typeface="Calibri"/>
              </a:rPr>
              <a:t>Magnitude · First-order 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858768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14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858768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IV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3904488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Dynamic Sparse Training: RigL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187952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A6A6A"/>
                </a:solidFill>
                <a:latin typeface="Calibri"/>
              </a:rPr>
              <a:t>Algorithm, ERK initialisation, drop/grow schedule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4535424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5760" y="4535424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4581144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Why We Chose RigL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25880" y="4864608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A6A6A"/>
                </a:solidFill>
                <a:latin typeface="Calibri"/>
              </a:rPr>
              <a:t>Five reasons grounded in the survey + thesis goal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5212080"/>
            <a:ext cx="777240" cy="548640"/>
          </a:xfrm>
          <a:prstGeom prst="roundRect">
            <a:avLst>
              <a:gd name="adj" fmla="val 30000"/>
            </a:avLst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5212080"/>
            <a:ext cx="777240" cy="54864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VI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25880" y="5257800"/>
            <a:ext cx="740664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Next Steps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5541264"/>
            <a:ext cx="74066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6A6A6A"/>
                </a:solidFill>
                <a:latin typeface="Calibri"/>
              </a:rPr>
              <a:t>Concrete plan toward on-device FQT + RigL prototype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 ·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>
                <a:solidFill>
                  <a:srgbClr val="6A6A6A"/>
                </a:solidFill>
                <a:latin typeface="Calibri"/>
              </a:rPr>
              <a:t>4 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Three Axes of Sparsification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Every sparsity method can be located on these three orthogonal axes.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274320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82880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WHAT?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42316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What gets removed?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88920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• Weights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90088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unstructured pruning of individual 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355848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• Filters / channels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557016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structured pruning — whole convolutional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22776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• Activations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23944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ephemeral; only the forward pass is sparse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4489704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• Gradients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690872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ephemeral; only the backward pass is sparse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200400" y="182880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200400" y="1828800"/>
            <a:ext cx="2743200" cy="50292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200400" y="182880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WHEN?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37560" y="242316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When does sparsification happen?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2788920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C96B2E"/>
                </a:solidFill>
                <a:latin typeface="Calibri"/>
              </a:rPr>
              <a:t>• After training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2990088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prune a fully-trained dense model, then fine-tune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37560" y="3355848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C96B2E"/>
                </a:solidFill>
                <a:latin typeface="Calibri"/>
              </a:rPr>
              <a:t>• During training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557016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gradually sparsify while training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37560" y="3922776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C96B2E"/>
                </a:solidFill>
                <a:latin typeface="Calibri"/>
              </a:rPr>
              <a:t>• Sparse training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0" y="4123944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start sparse, stay sparse — on a fixed parameter budget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1828800"/>
            <a:ext cx="2743200" cy="42976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035040" y="1828800"/>
            <a:ext cx="2743200" cy="502920"/>
          </a:xfrm>
          <a:prstGeom prst="rect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1828800"/>
            <a:ext cx="27432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HOW?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2423160"/>
            <a:ext cx="246888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How are elements selected?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2788920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F6B4A"/>
                </a:solidFill>
                <a:latin typeface="Calibri"/>
              </a:rPr>
              <a:t>• Magnitude |w|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990088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drop the smallest weights (zero-cost signal)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3355848"/>
            <a:ext cx="246888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2F6B4A"/>
                </a:solidFill>
                <a:latin typeface="Calibri"/>
              </a:rPr>
              <a:t>• First-order |∂L/∂w · w|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557016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22222"/>
                </a:solidFill>
                <a:latin typeface="Calibri"/>
              </a:rPr>
              <a:t>cheap sensitivity score from one backward pass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097025"/>
            <a:ext cx="2468880" cy="24045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 dirty="0" smtClean="0">
                <a:solidFill>
                  <a:srgbClr val="2F6B4A"/>
                </a:solidFill>
                <a:latin typeface="Calibri"/>
              </a:rPr>
              <a:t>• </a:t>
            </a:r>
            <a:r>
              <a:rPr sz="1150" b="1" i="0" dirty="0">
                <a:solidFill>
                  <a:srgbClr val="2F6B4A"/>
                </a:solidFill>
                <a:latin typeface="Calibri"/>
              </a:rPr>
              <a:t>L0 </a:t>
            </a:r>
            <a:r>
              <a:rPr sz="1150" b="1" i="0" dirty="0" smtClean="0">
                <a:solidFill>
                  <a:srgbClr val="2F6B4A"/>
                </a:solidFill>
                <a:latin typeface="Calibri"/>
              </a:rPr>
              <a:t> </a:t>
            </a:r>
            <a:r>
              <a:rPr sz="1150" b="1" i="0" dirty="0">
                <a:solidFill>
                  <a:srgbClr val="2F6B4A"/>
                </a:solidFill>
                <a:latin typeface="Calibri"/>
              </a:rPr>
              <a:t>regularization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402295"/>
            <a:ext cx="237744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 dirty="0" err="1">
                <a:solidFill>
                  <a:srgbClr val="222222"/>
                </a:solidFill>
                <a:latin typeface="Calibri"/>
              </a:rPr>
              <a:t>penalise</a:t>
            </a:r>
            <a:r>
              <a:rPr sz="1000" b="0" i="1" dirty="0">
                <a:solidFill>
                  <a:srgbClr val="222222"/>
                </a:solidFill>
                <a:latin typeface="Calibri"/>
              </a:rPr>
              <a:t> non-zero count during training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 · Taxonomy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868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>
                <a:solidFill>
                  <a:srgbClr val="6A6A6A"/>
                </a:solidFill>
                <a:latin typeface="Calibri"/>
              </a:rPr>
              <a:t>5 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WHAT — Model vs. Ephemeral Sparsity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Two fundamentally different scopes — only one shrinks the stored model.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4160520" cy="42976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1828800"/>
            <a:ext cx="41605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1828800"/>
            <a:ext cx="4160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MODEL SPARSITY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42316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Permanently changes the stored model.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743200"/>
            <a:ext cx="3886200" cy="156350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1E3A5F"/>
                </a:solidFill>
                <a:latin typeface="Calibri"/>
              </a:rPr>
              <a:t>Unstructured (weights)</a:t>
            </a:r>
          </a:p>
          <a:p>
            <a:pPr lvl="1" algn="l">
              <a:lnSpc>
                <a:spcPct val="120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Drop individual entries of W. Must store both value and </a:t>
            </a:r>
            <a:r>
              <a:rPr sz="1050" b="0" i="0" dirty="0" smtClean="0">
                <a:solidFill>
                  <a:srgbClr val="222222"/>
                </a:solidFill>
                <a:latin typeface="Calibri"/>
              </a:rPr>
              <a:t>address</a:t>
            </a:r>
            <a:r>
              <a:rPr lang="en-US" sz="1050" b="0" i="0" dirty="0" smtClean="0">
                <a:solidFill>
                  <a:srgbClr val="222222"/>
                </a:solidFill>
                <a:latin typeface="Calibri"/>
              </a:rPr>
              <a:t>.</a:t>
            </a:r>
            <a:endParaRPr sz="1050" b="0" i="0" dirty="0">
              <a:solidFill>
                <a:srgbClr val="222222"/>
              </a:solidFill>
              <a:latin typeface="Calibri"/>
            </a:endParaRPr>
          </a:p>
          <a:p>
            <a:pPr lvl="1" algn="l">
              <a:lnSpc>
                <a:spcPct val="120000"/>
              </a:lnSpc>
              <a:spcAft>
                <a:spcPts val="600"/>
              </a:spcAft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1E3A5F"/>
                </a:solidFill>
                <a:latin typeface="Calibri"/>
              </a:rPr>
              <a:t>Structured (filters / channels)</a:t>
            </a:r>
          </a:p>
          <a:p>
            <a:pPr lvl="1" algn="l">
              <a:lnSpc>
                <a:spcPct val="120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Drop entire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conv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 filters or rows of weight matrices.</a:t>
            </a:r>
          </a:p>
          <a:p>
            <a:pPr lvl="1" algn="l">
              <a:lnSpc>
                <a:spcPct val="120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17720" y="1828800"/>
            <a:ext cx="4160520" cy="42976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17720" y="1828800"/>
            <a:ext cx="4160520" cy="50292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17720" y="1828800"/>
            <a:ext cx="41605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EPHEMERAL SPARSITY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42316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Sparse intermediates — model stays dense.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2743200"/>
            <a:ext cx="3886200" cy="156350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C96B2E"/>
                </a:solidFill>
                <a:latin typeface="Calibri"/>
              </a:rPr>
              <a:t>Activations</a:t>
            </a:r>
          </a:p>
          <a:p>
            <a:pPr lvl="1" algn="l">
              <a:lnSpc>
                <a:spcPct val="120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ReLU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 and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Softmax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 already produce many zeros at runtime.</a:t>
            </a:r>
          </a:p>
          <a:p>
            <a:pPr lvl="1" algn="l">
              <a:lnSpc>
                <a:spcPct val="120000"/>
              </a:lnSpc>
              <a:spcAft>
                <a:spcPts val="600"/>
              </a:spcAft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</a:t>
            </a:r>
          </a:p>
          <a:p>
            <a:pPr algn="l">
              <a:lnSpc>
                <a:spcPct val="120000"/>
              </a:lnSpc>
            </a:pPr>
            <a:r>
              <a:rPr sz="1200" b="1" i="0" dirty="0">
                <a:solidFill>
                  <a:srgbClr val="C96B2E"/>
                </a:solidFill>
                <a:latin typeface="Calibri"/>
              </a:rPr>
              <a:t>Gradients — MBGS </a:t>
            </a:r>
          </a:p>
          <a:p>
            <a:pPr lvl="1" algn="l">
              <a:lnSpc>
                <a:spcPct val="120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MBGS (Magnitude-Based Gradient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Sparsification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): keep top-k |∂L/∂w|; drop the rest</a:t>
            </a:r>
            <a:r>
              <a:rPr sz="1050" b="0" i="0" dirty="0" smtClean="0">
                <a:solidFill>
                  <a:srgbClr val="222222"/>
                </a:solidFill>
                <a:latin typeface="Calibri"/>
              </a:rPr>
              <a:t>.</a:t>
            </a:r>
            <a:endParaRPr sz="1050" b="0" i="0" dirty="0">
              <a:solidFill>
                <a:srgbClr val="222222"/>
              </a:solidFill>
              <a:latin typeface="Calibri"/>
            </a:endParaRPr>
          </a:p>
          <a:p>
            <a:pPr lvl="1" algn="l">
              <a:lnSpc>
                <a:spcPct val="120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</a:t>
            </a:r>
            <a:r>
              <a:rPr sz="1050" b="0" i="1" dirty="0" smtClean="0">
                <a:solidFill>
                  <a:srgbClr val="6A6A6A"/>
                </a:solidFill>
                <a:latin typeface="Calibri"/>
              </a:rPr>
              <a:t> </a:t>
            </a:r>
            <a:endParaRPr sz="1050" b="0" i="1" dirty="0">
              <a:solidFill>
                <a:srgbClr val="6A6A6A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II ·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dirty="0">
                <a:solidFill>
                  <a:srgbClr val="6A6A6A"/>
                </a:solidFill>
                <a:latin typeface="Calibri"/>
              </a:rPr>
              <a:t>6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Method 1 — After-Training Pruning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The classical baseline: train dense, prune, fine-tune.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8412480" cy="169164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874519"/>
            <a:ext cx="8229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3A5F"/>
                </a:solidFill>
                <a:latin typeface="Calibri"/>
              </a:rPr>
              <a:t>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" y="2395728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Train dense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Train a fully-dense model to convergence on the full task.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898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06140" y="2395728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0614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Prune by magnitude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Zero out per-layer the weights below a magnitude threshold (target sparsity 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72200" y="2395728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Fine-tune survivors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Re-train remaining weights briefly to recover accuracy lost to pruning.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6B4A"/>
                </a:solidFill>
                <a:latin typeface="Calibri"/>
              </a:rPr>
              <a:t>STRENGTHS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69080"/>
            <a:ext cx="3886200" cy="697114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Simple to implement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</a:t>
            </a:r>
            <a:r>
              <a:rPr sz="1080" b="0" i="0" dirty="0" smtClean="0">
                <a:solidFill>
                  <a:srgbClr val="222222"/>
                </a:solidFill>
                <a:latin typeface="Calibri"/>
              </a:rPr>
              <a:t>applicable 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to any architecture</a:t>
            </a:r>
          </a:p>
          <a:p>
            <a:pPr algn="l">
              <a:lnSpc>
                <a:spcPct val="125000"/>
              </a:lnSpc>
            </a:pPr>
            <a:endParaRPr sz="108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1772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LIMITATIONS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069080"/>
            <a:ext cx="3886200" cy="68557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 dirty="0">
                <a:solidFill>
                  <a:srgbClr val="C96B2E"/>
                </a:solidFill>
                <a:latin typeface="Calibri"/>
              </a:rPr>
              <a:t>• Requires a full dense training run first</a:t>
            </a:r>
          </a:p>
          <a:p>
            <a:pPr lvl="1" algn="l">
              <a:lnSpc>
                <a:spcPct val="125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→ defeats the memory savings on the MCU — we'd need to train dense off-device </a:t>
            </a:r>
            <a:r>
              <a:rPr sz="1050" b="0" i="1" dirty="0" smtClean="0">
                <a:solidFill>
                  <a:srgbClr val="6A6A6A"/>
                </a:solidFill>
                <a:latin typeface="Calibri"/>
              </a:rPr>
              <a:t>first</a:t>
            </a:r>
            <a:endParaRPr sz="1050" b="0" i="1" dirty="0">
              <a:solidFill>
                <a:srgbClr val="6A6A6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II ·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dirty="0">
                <a:solidFill>
                  <a:srgbClr val="6A6A6A"/>
                </a:solidFill>
                <a:latin typeface="Calibri"/>
              </a:rPr>
              <a:t>7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Method 2 — During-Training Pruning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Gradually prune as training progresses (e.g. Zhu &amp; Gupta, GMP).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8412480" cy="169164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874519"/>
            <a:ext cx="8229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" y="2395728"/>
            <a:ext cx="292608" cy="292608"/>
          </a:xfrm>
          <a:prstGeom prst="ellipse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Warm-up dense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Train dense for the first phase so directions in weight space stabilise.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898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06140" y="2395728"/>
            <a:ext cx="292608" cy="292608"/>
          </a:xfrm>
          <a:prstGeom prst="ellipse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0614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Gradual sparsify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Increase target sparsity along a polynomial schedule until the final ratio is reached.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72200" y="2395728"/>
            <a:ext cx="292608" cy="292608"/>
          </a:xfrm>
          <a:prstGeom prst="ellipse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Fine-tune at target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Continue training at the final sparsity to converge under the pruned topology.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6B4A"/>
                </a:solidFill>
                <a:latin typeface="Calibri"/>
              </a:rPr>
              <a:t>STRENGTHS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69080"/>
            <a:ext cx="3886200" cy="489365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 i="0" dirty="0" smtClean="0">
                <a:solidFill>
                  <a:srgbClr val="222222"/>
                </a:solidFill>
                <a:latin typeface="Calibri"/>
              </a:rPr>
              <a:t>• 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Smooth, well-behaved schedule — fewer sharp accuracy drops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No separate fine-tune phase </a:t>
            </a:r>
            <a:r>
              <a:rPr sz="1080" b="0" i="0" dirty="0" smtClean="0">
                <a:solidFill>
                  <a:srgbClr val="222222"/>
                </a:solidFill>
                <a:latin typeface="Calibri"/>
              </a:rPr>
              <a:t>needed</a:t>
            </a:r>
            <a:r>
              <a:rPr lang="en-US" sz="1080" b="0" i="0" dirty="0" smtClean="0">
                <a:solidFill>
                  <a:srgbClr val="222222"/>
                </a:solidFill>
                <a:latin typeface="Calibri"/>
              </a:rPr>
              <a:t>. It is a gradual </a:t>
            </a:r>
            <a:r>
              <a:rPr lang="en-US" sz="1080" b="0" i="0" dirty="0" err="1" smtClean="0">
                <a:solidFill>
                  <a:srgbClr val="222222"/>
                </a:solidFill>
                <a:latin typeface="Calibri"/>
              </a:rPr>
              <a:t>sparsity</a:t>
            </a:r>
            <a:endParaRPr sz="108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1772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LIMITATIONS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069080"/>
            <a:ext cx="3886200" cy="691343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 dirty="0">
                <a:solidFill>
                  <a:srgbClr val="C96B2E"/>
                </a:solidFill>
                <a:latin typeface="Calibri"/>
              </a:rPr>
              <a:t>• Still needs to hold the dense model at the start of training</a:t>
            </a:r>
          </a:p>
          <a:p>
            <a:pPr lvl="1" algn="l">
              <a:lnSpc>
                <a:spcPct val="125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→ same MCU-memory blocker as after-training </a:t>
            </a:r>
            <a:r>
              <a:rPr sz="1050" b="0" i="1" dirty="0" smtClean="0">
                <a:solidFill>
                  <a:srgbClr val="6A6A6A"/>
                </a:solidFill>
                <a:latin typeface="Calibri"/>
              </a:rPr>
              <a:t>pruning</a:t>
            </a:r>
            <a:endParaRPr sz="1080" b="0" i="0" dirty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Convergence can be less efficient than dense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II · Methods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8684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dirty="0">
                <a:solidFill>
                  <a:srgbClr val="6A6A6A"/>
                </a:solidFill>
                <a:latin typeface="Calibri"/>
              </a:rPr>
              <a:t>8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/ 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Method 3 — Sparse 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Start sparse and stay sparse. Fixed parameter budget the whole way.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8412480" cy="169164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874519"/>
            <a:ext cx="822960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6B4A"/>
                </a:solidFill>
                <a:latin typeface="Calibri"/>
              </a:rPr>
              <a:t>PROCESS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0080" y="2395728"/>
            <a:ext cx="292608" cy="292608"/>
          </a:xfrm>
          <a:prstGeom prst="ellipse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Initialise sparse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743200"/>
            <a:ext cx="2331720" cy="41331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 dirty="0">
                <a:solidFill>
                  <a:srgbClr val="222222"/>
                </a:solidFill>
                <a:latin typeface="Calibri"/>
              </a:rPr>
              <a:t>Pick a </a:t>
            </a:r>
            <a:r>
              <a:rPr sz="1019" b="0" i="0" dirty="0" err="1">
                <a:solidFill>
                  <a:srgbClr val="222222"/>
                </a:solidFill>
                <a:latin typeface="Calibri"/>
              </a:rPr>
              <a:t>sparsity</a:t>
            </a:r>
            <a:r>
              <a:rPr sz="1019" b="0" i="0" dirty="0">
                <a:solidFill>
                  <a:srgbClr val="222222"/>
                </a:solidFill>
                <a:latin typeface="Calibri"/>
              </a:rPr>
              <a:t> ratio S; allocate per-layer densities </a:t>
            </a:r>
            <a:r>
              <a:rPr sz="1019" b="0" i="0" dirty="0" smtClean="0">
                <a:solidFill>
                  <a:srgbClr val="222222"/>
                </a:solidFill>
                <a:latin typeface="Calibri"/>
              </a:rPr>
              <a:t>(ERK</a:t>
            </a:r>
            <a:r>
              <a:rPr sz="1019" b="0" i="0" dirty="0">
                <a:solidFill>
                  <a:srgbClr val="222222"/>
                </a:solidFill>
                <a:latin typeface="Calibri"/>
              </a:rPr>
              <a:t>, …).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6898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406140" y="2395728"/>
            <a:ext cx="292608" cy="292608"/>
          </a:xfrm>
          <a:prstGeom prst="ellipse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0614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7190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Train under mask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5186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Forward and backward run only over active connections — gradients computed only where needed.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35040" y="228600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172200" y="2395728"/>
            <a:ext cx="292608" cy="292608"/>
          </a:xfrm>
          <a:prstGeom prst="ellipse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72200" y="2395728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395728"/>
            <a:ext cx="2057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1E3A5F"/>
                </a:solidFill>
                <a:latin typeface="Calibri"/>
              </a:rPr>
              <a:t>Update topology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743200"/>
            <a:ext cx="2331720" cy="6858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Optionally drop weak connections and grow new ones every ΔT steps (dynamic variant).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6B4A"/>
                </a:solidFill>
                <a:latin typeface="Calibri"/>
              </a:rPr>
              <a:t>STRENGTHS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4069080"/>
            <a:ext cx="3886200" cy="111261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1" i="0" dirty="0">
                <a:solidFill>
                  <a:srgbClr val="2F6B4A"/>
                </a:solidFill>
                <a:latin typeface="Calibri"/>
              </a:rPr>
              <a:t>• Constant parameter count → fits MCU SRAM 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No dense-warm-up requirement at all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Can train very high-dimensional models that wouldn't fit dense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Naturally combines with quantization (FQT) — no dense backward needed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17720" y="3657600"/>
            <a:ext cx="4160520" cy="242316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54880" y="374904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LIMITATIONS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54880" y="4069080"/>
            <a:ext cx="3886200" cy="70096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 i="0" dirty="0" smtClean="0">
                <a:solidFill>
                  <a:srgbClr val="C96B2E"/>
                </a:solidFill>
                <a:latin typeface="Calibri"/>
              </a:rPr>
              <a:t>• </a:t>
            </a:r>
            <a:r>
              <a:rPr sz="1080" b="0" i="0" dirty="0">
                <a:solidFill>
                  <a:srgbClr val="C96B2E"/>
                </a:solidFill>
                <a:latin typeface="Calibri"/>
              </a:rPr>
              <a:t>Dynamic variants need a regrowth </a:t>
            </a:r>
            <a:r>
              <a:rPr sz="1080" b="0" i="0" dirty="0" smtClean="0">
                <a:solidFill>
                  <a:srgbClr val="C96B2E"/>
                </a:solidFill>
                <a:latin typeface="Calibri"/>
              </a:rPr>
              <a:t>signal</a:t>
            </a:r>
            <a:endParaRPr sz="1080" b="0" i="0" dirty="0">
              <a:solidFill>
                <a:srgbClr val="C96B2E"/>
              </a:solidFill>
              <a:latin typeface="Calibri"/>
            </a:endParaRPr>
          </a:p>
          <a:p>
            <a:pPr>
              <a:lnSpc>
                <a:spcPct val="125000"/>
              </a:lnSpc>
            </a:pPr>
            <a:r>
              <a:rPr sz="1080" b="0" i="0" dirty="0">
                <a:solidFill>
                  <a:srgbClr val="C96B2E"/>
                </a:solidFill>
                <a:latin typeface="Calibri"/>
              </a:rPr>
              <a:t>• </a:t>
            </a:r>
            <a:r>
              <a:rPr lang="en-US" sz="1100" dirty="0" smtClean="0">
                <a:solidFill>
                  <a:srgbClr val="C96B2E"/>
                </a:solidFill>
              </a:rPr>
              <a:t>mask </a:t>
            </a:r>
            <a:r>
              <a:rPr lang="en-US" sz="1100" dirty="0">
                <a:solidFill>
                  <a:srgbClr val="C96B2E"/>
                </a:solidFill>
              </a:rPr>
              <a:t>updates require space in </a:t>
            </a:r>
            <a:r>
              <a:rPr lang="en-US" sz="1100" dirty="0" smtClean="0">
                <a:solidFill>
                  <a:srgbClr val="C96B2E"/>
                </a:solidFill>
              </a:rPr>
              <a:t>SRAM</a:t>
            </a:r>
            <a:endParaRPr sz="1080" b="0" i="0" dirty="0">
              <a:solidFill>
                <a:srgbClr val="C96B2E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C96B2E"/>
                </a:solidFill>
                <a:latin typeface="Calibri"/>
              </a:rPr>
              <a:t>• Sensitive to initial topology (mitigated by ERK in </a:t>
            </a:r>
            <a:r>
              <a:rPr sz="1080" b="0" i="0" dirty="0" err="1">
                <a:solidFill>
                  <a:srgbClr val="C96B2E"/>
                </a:solidFill>
                <a:latin typeface="Calibri"/>
              </a:rPr>
              <a:t>RigL</a:t>
            </a:r>
            <a:r>
              <a:rPr sz="1080" b="0" i="0" dirty="0">
                <a:solidFill>
                  <a:srgbClr val="C96B2E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III · Selection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dirty="0">
                <a:solidFill>
                  <a:srgbClr val="6A6A6A"/>
                </a:solidFill>
                <a:latin typeface="Calibri"/>
              </a:rPr>
              <a:t>9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Magnitude Pruning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Score weights by absolute value, drop the smallest.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8412480" cy="86868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920240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176272"/>
            <a:ext cx="8229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1E3A5F"/>
                </a:solidFill>
                <a:latin typeface="Calibri"/>
              </a:rPr>
              <a:t>Keep weight  w  if  |w| ≥ θ_layer    ·    drop the bottom-S % per layer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2834640"/>
            <a:ext cx="4160520" cy="324612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92608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3A5F"/>
                </a:solidFill>
                <a:latin typeface="Calibri"/>
              </a:rPr>
              <a:t>WHY IT IS THE PRACTICAL DEFAULT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246120"/>
            <a:ext cx="3886200" cy="1320361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Zero </a:t>
            </a:r>
            <a:r>
              <a:rPr sz="1080" b="0" i="0" dirty="0" err="1">
                <a:solidFill>
                  <a:srgbClr val="222222"/>
                </a:solidFill>
                <a:latin typeface="Calibri"/>
              </a:rPr>
              <a:t>hyperparameters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 beyond the </a:t>
            </a:r>
            <a:r>
              <a:rPr sz="1080" b="0" i="0" dirty="0" err="1">
                <a:solidFill>
                  <a:srgbClr val="222222"/>
                </a:solidFill>
                <a:latin typeface="Calibri"/>
              </a:rPr>
              <a:t>sparsity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 ratio S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Reads magnitudes that already exist — no extra forward / backward pass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Works for both unstructured and structured </a:t>
            </a:r>
            <a:r>
              <a:rPr sz="1080" b="0" i="0" dirty="0" smtClean="0">
                <a:solidFill>
                  <a:srgbClr val="222222"/>
                </a:solidFill>
                <a:latin typeface="Calibri"/>
              </a:rPr>
              <a:t>pruning</a:t>
            </a:r>
            <a:endParaRPr lang="en-US" sz="1080" b="0" i="0" dirty="0" smtClean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endParaRPr sz="1080" b="0" i="0" dirty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080" b="1" i="0" dirty="0">
                <a:solidFill>
                  <a:srgbClr val="C96B2E"/>
                </a:solidFill>
                <a:latin typeface="Calibri"/>
              </a:rPr>
              <a:t>• </a:t>
            </a:r>
            <a:r>
              <a:rPr sz="1080" b="1" i="0" dirty="0" err="1">
                <a:solidFill>
                  <a:srgbClr val="C96B2E"/>
                </a:solidFill>
                <a:latin typeface="Calibri"/>
              </a:rPr>
              <a:t>RigL</a:t>
            </a:r>
            <a:r>
              <a:rPr sz="1080" b="1" i="0" dirty="0">
                <a:solidFill>
                  <a:srgbClr val="C96B2E"/>
                </a:solidFill>
                <a:latin typeface="Calibri"/>
              </a:rPr>
              <a:t> uses magnitude as its DROP criterion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17720" y="2834640"/>
            <a:ext cx="4160520" cy="324612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292608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MODERN VARIANTS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246120"/>
            <a:ext cx="3886200" cy="278892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 dirty="0" err="1">
                <a:solidFill>
                  <a:srgbClr val="1E3A5F"/>
                </a:solidFill>
                <a:latin typeface="Calibri"/>
              </a:rPr>
              <a:t>Kusupati</a:t>
            </a:r>
            <a:r>
              <a:rPr sz="1150" b="1" i="0" dirty="0">
                <a:solidFill>
                  <a:srgbClr val="1E3A5F"/>
                </a:solidFill>
                <a:latin typeface="Calibri"/>
              </a:rPr>
              <a:t> et al., 2020 (STR)</a:t>
            </a:r>
          </a:p>
          <a:p>
            <a:pPr lvl="1" algn="l">
              <a:lnSpc>
                <a:spcPct val="125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Soft-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thresholded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 weights:  w' =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sgn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(w) ·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ReLU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(|w| − </a:t>
            </a:r>
            <a:r>
              <a:rPr sz="1050" b="0" i="0" dirty="0" err="1">
                <a:solidFill>
                  <a:srgbClr val="222222"/>
                </a:solidFill>
                <a:latin typeface="Calibri"/>
              </a:rPr>
              <a:t>λ_layer</a:t>
            </a:r>
            <a:r>
              <a:rPr sz="1050" b="0" i="0" dirty="0">
                <a:solidFill>
                  <a:srgbClr val="222222"/>
                </a:solidFill>
                <a:latin typeface="Calibri"/>
              </a:rPr>
              <a:t>)</a:t>
            </a:r>
          </a:p>
          <a:p>
            <a:pPr lvl="1" algn="l">
              <a:lnSpc>
                <a:spcPct val="125000"/>
              </a:lnSpc>
              <a:spcAft>
                <a:spcPts val="400"/>
              </a:spcAft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</a:t>
            </a:r>
            <a:r>
              <a:rPr sz="1050" b="0" i="1" dirty="0" err="1">
                <a:solidFill>
                  <a:srgbClr val="6A6A6A"/>
                </a:solidFill>
                <a:latin typeface="Calibri"/>
              </a:rPr>
              <a:t>λ_layer</a:t>
            </a:r>
            <a:r>
              <a:rPr sz="1050" b="0" i="1" dirty="0">
                <a:solidFill>
                  <a:srgbClr val="6A6A6A"/>
                </a:solidFill>
                <a:latin typeface="Calibri"/>
              </a:rPr>
              <a:t> is learned per layer → adaptive thresholds</a:t>
            </a:r>
          </a:p>
          <a:p>
            <a:pPr algn="l">
              <a:lnSpc>
                <a:spcPct val="125000"/>
              </a:lnSpc>
            </a:pPr>
            <a:r>
              <a:rPr sz="1150" b="1" i="0" dirty="0" err="1">
                <a:solidFill>
                  <a:srgbClr val="1E3A5F"/>
                </a:solidFill>
                <a:latin typeface="Calibri"/>
              </a:rPr>
              <a:t>Bellec</a:t>
            </a:r>
            <a:r>
              <a:rPr sz="1150" b="1" i="0" dirty="0">
                <a:solidFill>
                  <a:srgbClr val="1E3A5F"/>
                </a:solidFill>
                <a:latin typeface="Calibri"/>
              </a:rPr>
              <a:t> et al., 2018 (DEEP-R)</a:t>
            </a:r>
          </a:p>
          <a:p>
            <a:pPr lvl="1" algn="l">
              <a:lnSpc>
                <a:spcPct val="125000"/>
              </a:lnSpc>
            </a:pPr>
            <a:r>
              <a:rPr sz="1050" b="0" i="0" dirty="0">
                <a:solidFill>
                  <a:srgbClr val="222222"/>
                </a:solidFill>
                <a:latin typeface="Calibri"/>
              </a:rPr>
              <a:t>    If an SGD step would flip the sign of w, snap it to zero</a:t>
            </a:r>
          </a:p>
          <a:p>
            <a:pPr lvl="1" algn="l">
              <a:lnSpc>
                <a:spcPct val="125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    Implicit </a:t>
            </a:r>
            <a:r>
              <a:rPr sz="1050" b="0" i="1" dirty="0" err="1">
                <a:solidFill>
                  <a:srgbClr val="6A6A6A"/>
                </a:solidFill>
                <a:latin typeface="Calibri"/>
              </a:rPr>
              <a:t>sparsification</a:t>
            </a:r>
            <a:r>
              <a:rPr sz="1050" b="0" i="1" dirty="0">
                <a:solidFill>
                  <a:srgbClr val="6A6A6A"/>
                </a:solidFill>
                <a:latin typeface="Calibri"/>
              </a:rPr>
              <a:t> — no extra schedule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III · Selection Criteria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 dirty="0" smtClean="0">
                <a:solidFill>
                  <a:srgbClr val="6A6A6A"/>
                </a:solidFill>
                <a:latin typeface="Calibri"/>
              </a:rPr>
              <a:t>10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First-Order Sensitivity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Use a Taylor expansion of the loss to score each weight.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828800"/>
            <a:ext cx="8412480" cy="100584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901952"/>
            <a:ext cx="8229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TAYLOR EXPANSION OF Δℒ AROUND CURRENT  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12848"/>
            <a:ext cx="822960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1E3A5F"/>
                </a:solidFill>
                <a:latin typeface="Calibri"/>
              </a:rPr>
              <a:t>Δℒ  =  ℒ(w + Δw) − ℒ(w)   ≈   ∇_w ℒ · Δw  +  ½ Δw ᵀ H Δw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606040"/>
            <a:ext cx="82296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Saliency score: drop the weight whose removal causes the smallest predicted Δℒ.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017520"/>
            <a:ext cx="4160520" cy="306324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10896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3A5F"/>
                </a:solidFill>
                <a:latin typeface="Calibri"/>
              </a:rPr>
              <a:t>SNIP (Lee et al., 2019)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3886200" cy="1206869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 dirty="0">
                <a:solidFill>
                  <a:srgbClr val="1E3A5F"/>
                </a:solidFill>
                <a:latin typeface="Calibri"/>
              </a:rPr>
              <a:t>Score:   </a:t>
            </a:r>
            <a:r>
              <a:rPr sz="1200" b="1" i="0" dirty="0" err="1">
                <a:solidFill>
                  <a:srgbClr val="1E3A5F"/>
                </a:solidFill>
                <a:latin typeface="Calibri"/>
              </a:rPr>
              <a:t>I_w</a:t>
            </a:r>
            <a:r>
              <a:rPr sz="1200" b="1" i="0" dirty="0">
                <a:solidFill>
                  <a:srgbClr val="1E3A5F"/>
                </a:solidFill>
                <a:latin typeface="Calibri"/>
              </a:rPr>
              <a:t> = |∂ℒ/∂w · w|</a:t>
            </a: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1.  Sample a single mini-batch at </a:t>
            </a:r>
            <a:r>
              <a:rPr sz="1080" b="0" i="0" dirty="0" err="1">
                <a:solidFill>
                  <a:srgbClr val="222222"/>
                </a:solidFill>
                <a:latin typeface="Calibri"/>
              </a:rPr>
              <a:t>initialisation</a:t>
            </a:r>
            <a:endParaRPr sz="1080" b="0" i="0" dirty="0">
              <a:solidFill>
                <a:srgbClr val="222222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2.  Compute one backward pass to obtain ∂ℒ/∂w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• 3.  Keep the top-k weights by </a:t>
            </a:r>
            <a:r>
              <a:rPr sz="1080" b="0" i="0" dirty="0" err="1">
                <a:solidFill>
                  <a:srgbClr val="222222"/>
                </a:solidFill>
                <a:latin typeface="Calibri"/>
              </a:rPr>
              <a:t>I_w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 across the whole network</a:t>
            </a:r>
          </a:p>
          <a:p>
            <a:pPr algn="l">
              <a:lnSpc>
                <a:spcPct val="125000"/>
              </a:lnSpc>
            </a:pPr>
            <a:endParaRPr sz="1050" b="0" i="1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17720" y="3017520"/>
            <a:ext cx="4160520" cy="306324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4880" y="3108960"/>
            <a:ext cx="38862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STRENGTHS &amp; LIMITATIONS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3429000"/>
            <a:ext cx="3886200" cy="1780552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F6B4A"/>
                </a:solidFill>
                <a:latin typeface="Calibri"/>
              </a:rPr>
              <a:t>• + One extra backward </a:t>
            </a:r>
            <a:r>
              <a:rPr sz="1080" b="0" i="0" dirty="0" smtClean="0">
                <a:solidFill>
                  <a:srgbClr val="2F6B4A"/>
                </a:solidFill>
                <a:latin typeface="Calibri"/>
              </a:rPr>
              <a:t>pas</a:t>
            </a:r>
            <a:r>
              <a:rPr lang="en-US" sz="1080" b="0" i="0" dirty="0" smtClean="0">
                <a:solidFill>
                  <a:srgbClr val="2F6B4A"/>
                </a:solidFill>
                <a:latin typeface="Calibri"/>
              </a:rPr>
              <a:t>s</a:t>
            </a:r>
            <a:endParaRPr sz="1080" b="0" i="0" dirty="0">
              <a:solidFill>
                <a:srgbClr val="2F6B4A"/>
              </a:solidFill>
              <a:latin typeface="Calibri"/>
            </a:endParaRPr>
          </a:p>
          <a:p>
            <a:pPr algn="l">
              <a:lnSpc>
                <a:spcPct val="125000"/>
              </a:lnSpc>
            </a:pPr>
            <a:r>
              <a:rPr sz="1080" b="0" i="0" dirty="0">
                <a:solidFill>
                  <a:srgbClr val="2F6B4A"/>
                </a:solidFill>
                <a:latin typeface="Calibri"/>
              </a:rPr>
              <a:t>• + Captures sensitivity that pure magnitude misses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080" b="0" i="0" dirty="0">
                <a:solidFill>
                  <a:srgbClr val="C96B2E"/>
                </a:solidFill>
                <a:latin typeface="Calibri"/>
              </a:rPr>
              <a:t>• − Ignores curvature → underestimates correlated weight removals</a:t>
            </a:r>
          </a:p>
          <a:p>
            <a:pPr algn="l">
              <a:lnSpc>
                <a:spcPct val="125000"/>
              </a:lnSpc>
            </a:pPr>
            <a:r>
              <a:rPr sz="1080" b="1" i="0" dirty="0" err="1">
                <a:solidFill>
                  <a:srgbClr val="C96B2E"/>
                </a:solidFill>
                <a:latin typeface="Calibri"/>
              </a:rPr>
              <a:t>RigL</a:t>
            </a:r>
            <a:r>
              <a:rPr sz="1080" b="1" i="0" dirty="0">
                <a:solidFill>
                  <a:srgbClr val="C96B2E"/>
                </a:solidFill>
                <a:latin typeface="Calibri"/>
              </a:rPr>
              <a:t> uses first-order signal for the GROW step</a:t>
            </a:r>
          </a:p>
          <a:p>
            <a:pPr algn="l">
              <a:lnSpc>
                <a:spcPct val="125000"/>
              </a:lnSpc>
            </a:pPr>
            <a:r>
              <a:rPr sz="1050" b="0" i="1" dirty="0">
                <a:solidFill>
                  <a:srgbClr val="6A6A6A"/>
                </a:solidFill>
                <a:latin typeface="Calibri"/>
              </a:rPr>
              <a:t>Activate currently-zero weights with the largest |∂ℒ/∂w| — the gradient pushes the network to add capacity exactly where it would learn fastest.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IV · Dynamic Sparse Training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E3A5F"/>
                </a:solidFill>
                <a:latin typeface="Calibri"/>
              </a:rPr>
              <a:t>RigL — How It Works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A single algorithm with three cheap operations: drop, grow, reset.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783080"/>
            <a:ext cx="8412480" cy="109728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828800"/>
            <a:ext cx="818387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INITIALISATION — ERDŐS–RÉNYI–KERNEL (ERK)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121408"/>
            <a:ext cx="8183879" cy="38404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1E3A5F"/>
                </a:solidFill>
                <a:latin typeface="Calibri"/>
              </a:rPr>
              <a:t>density_ℓ  ∝  (n_in + n_out + k_h · k_w) ⁄ (n_in · n_out · k_h · k_w)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542032"/>
            <a:ext cx="818387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6A6A6A"/>
                </a:solidFill>
                <a:latin typeface="Calibri"/>
              </a:rPr>
              <a:t>Smaller layers get more density; large middle layers get less. Total parameter count = (1 − S) · |W|.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2971800"/>
            <a:ext cx="8412480" cy="2240280"/>
          </a:xfrm>
          <a:prstGeom prst="roundRect">
            <a:avLst>
              <a:gd name="adj" fmla="val 10000"/>
            </a:avLst>
          </a:prstGeom>
          <a:solidFill>
            <a:srgbClr val="F5EBD7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3017520"/>
            <a:ext cx="818387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C96B2E"/>
                </a:solidFill>
                <a:latin typeface="Calibri"/>
              </a:rPr>
              <a:t>UPDATE STEP  —  every  ΔT  iterations,  while  t &lt; T_end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33756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67512" y="3456432"/>
            <a:ext cx="292608" cy="292608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" y="3456432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" y="3456432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E3A5F"/>
                </a:solidFill>
                <a:latin typeface="Calibri"/>
              </a:rPr>
              <a:t>DROP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22191"/>
            <a:ext cx="2331720" cy="12801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Zero the |W|·f_t smallest-magnitude active weights.</a:t>
            </a:r>
          </a:p>
          <a:p>
            <a:pPr algn="l">
              <a:lnSpc>
                <a:spcPct val="120000"/>
              </a:lnSpc>
            </a:pPr>
            <a:r>
              <a:rPr sz="1019" b="0" i="1">
                <a:solidFill>
                  <a:srgbClr val="6A6A6A"/>
                </a:solidFill>
                <a:latin typeface="Calibri"/>
              </a:rPr>
              <a:t>f_t follows a cosine-decayed fraction (e.g. 0.30 → 0).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68980" y="333756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433572" y="3456432"/>
            <a:ext cx="292608" cy="292608"/>
          </a:xfrm>
          <a:prstGeom prst="ellipse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433572" y="3456432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9332" y="3456432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C96B2E"/>
                </a:solidFill>
                <a:latin typeface="Calibri"/>
              </a:rPr>
              <a:t>GROW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51860" y="3822191"/>
            <a:ext cx="2331720" cy="12801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Activate the same number of currently-zero weights with the largest |∂ℒ/∂w|.</a:t>
            </a:r>
          </a:p>
          <a:p>
            <a:pPr algn="l">
              <a:lnSpc>
                <a:spcPct val="120000"/>
              </a:lnSpc>
            </a:pPr>
            <a:r>
              <a:rPr sz="1019" b="0" i="1">
                <a:solidFill>
                  <a:srgbClr val="6A6A6A"/>
                </a:solidFill>
                <a:latin typeface="Calibri"/>
              </a:rPr>
              <a:t>Computed layer-by-layer; dense gradient discarded after use.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3337560"/>
            <a:ext cx="2697480" cy="1783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8B8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99632" y="3456432"/>
            <a:ext cx="292608" cy="292608"/>
          </a:xfrm>
          <a:prstGeom prst="ellipse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199632" y="3456432"/>
            <a:ext cx="292608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65392" y="3456432"/>
            <a:ext cx="210312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F6B4A"/>
                </a:solidFill>
                <a:latin typeface="Calibri"/>
              </a:rPr>
              <a:t>RESET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822191"/>
            <a:ext cx="2331720" cy="12801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Newly active weights start at zero; momentum / Adam state reset to zero.</a:t>
            </a:r>
          </a:p>
          <a:p>
            <a:pPr algn="l">
              <a:lnSpc>
                <a:spcPct val="120000"/>
              </a:lnSpc>
            </a:pPr>
            <a:r>
              <a:rPr sz="1019" b="0" i="1">
                <a:solidFill>
                  <a:srgbClr val="6A6A6A"/>
                </a:solidFill>
                <a:latin typeface="Calibri"/>
              </a:rPr>
              <a:t>Avoids stale optimiser state pulling them in arbitrary directions.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349240"/>
            <a:ext cx="8412480" cy="777240"/>
          </a:xfrm>
          <a:prstGeom prst="roundRect">
            <a:avLst>
              <a:gd name="adj" fmla="val 10000"/>
            </a:avLst>
          </a:prstGeom>
          <a:solidFill>
            <a:srgbClr val="FBF5E8"/>
          </a:solidFill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413248"/>
            <a:ext cx="8183879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CRITICAL PROPERTY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669280"/>
            <a:ext cx="8183879" cy="4572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222222"/>
                </a:solidFill>
                <a:latin typeface="Calibri"/>
              </a:rPr>
              <a:t>Total active-parameter count is constant throughout training.  After step T_end the mask is frozen and training continues to convergence.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Part V · Why RigL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2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777240"/>
            <a:ext cx="8412480" cy="53245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 dirty="0">
                <a:solidFill>
                  <a:srgbClr val="1E3A5F"/>
                </a:solidFill>
                <a:latin typeface="Calibri"/>
              </a:rPr>
              <a:t>Why We Chose </a:t>
            </a:r>
            <a:r>
              <a:rPr sz="2800" b="1" i="0" dirty="0" err="1">
                <a:solidFill>
                  <a:srgbClr val="1E3A5F"/>
                </a:solidFill>
                <a:latin typeface="Calibri"/>
              </a:rPr>
              <a:t>RigL</a:t>
            </a:r>
            <a:r>
              <a:rPr sz="2800" b="1" i="0" dirty="0">
                <a:solidFill>
                  <a:srgbClr val="1E3A5F"/>
                </a:solidFill>
                <a:latin typeface="Calibri"/>
              </a:rPr>
              <a:t> — </a:t>
            </a:r>
            <a:r>
              <a:rPr lang="en-US" sz="2800" b="1" dirty="0" smtClean="0">
                <a:solidFill>
                  <a:srgbClr val="1E3A5F"/>
                </a:solidFill>
                <a:latin typeface="Calibri"/>
              </a:rPr>
              <a:t>Four</a:t>
            </a:r>
            <a:r>
              <a:rPr sz="2800" b="1" i="0" dirty="0" smtClean="0">
                <a:solidFill>
                  <a:srgbClr val="1E3A5F"/>
                </a:solidFill>
                <a:latin typeface="Calibri"/>
              </a:rPr>
              <a:t> </a:t>
            </a:r>
            <a:r>
              <a:rPr sz="2800" b="1" i="0" dirty="0">
                <a:solidFill>
                  <a:srgbClr val="1E3A5F"/>
                </a:solidFill>
                <a:latin typeface="Calibri"/>
              </a:rPr>
              <a:t>Reasons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280160"/>
            <a:ext cx="502920" cy="28000"/>
          </a:xfrm>
          <a:prstGeom prst="rect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37160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6A6A6A"/>
                </a:solidFill>
                <a:latin typeface="Calibri"/>
              </a:rPr>
              <a:t>Each reason is grounded in the survey above and the FQT+MCU constraints.</a:t>
            </a:r>
          </a:p>
        </p:txBody>
      </p:sp>
      <p:sp>
        <p:nvSpPr>
          <p:cNvPr id="14" name="Oval 13"/>
          <p:cNvSpPr/>
          <p:nvPr/>
        </p:nvSpPr>
        <p:spPr>
          <a:xfrm>
            <a:off x="365760" y="1874519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" y="1874519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1856231"/>
            <a:ext cx="7772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E3A5F"/>
                </a:solidFill>
                <a:latin typeface="Calibri"/>
              </a:rPr>
              <a:t>Fixed memory budget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148839"/>
            <a:ext cx="7772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222222"/>
                </a:solidFill>
                <a:latin typeface="Calibri"/>
              </a:rPr>
              <a:t>Active-parameter count is constant — fits the F746ZG SRAM ceiling (320 KB). No phase of training requires the dense weight matrix to be present.</a:t>
            </a:r>
          </a:p>
        </p:txBody>
      </p:sp>
      <p:sp>
        <p:nvSpPr>
          <p:cNvPr id="18" name="Oval 17"/>
          <p:cNvSpPr/>
          <p:nvPr/>
        </p:nvSpPr>
        <p:spPr>
          <a:xfrm>
            <a:off x="365760" y="2715767"/>
            <a:ext cx="502920" cy="502920"/>
          </a:xfrm>
          <a:prstGeom prst="ellipse">
            <a:avLst/>
          </a:prstGeom>
          <a:solidFill>
            <a:srgbClr val="C96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65760" y="2715767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2697479"/>
            <a:ext cx="7772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96B2E"/>
                </a:solidFill>
                <a:latin typeface="Calibri"/>
              </a:rPr>
              <a:t>Best accuracy in its 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2990087"/>
            <a:ext cx="7772400" cy="23634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Survey reports </a:t>
            </a:r>
            <a:r>
              <a:rPr sz="1080" b="0" i="0" dirty="0" err="1">
                <a:solidFill>
                  <a:srgbClr val="222222"/>
                </a:solidFill>
                <a:latin typeface="Calibri"/>
              </a:rPr>
              <a:t>RigL</a:t>
            </a:r>
            <a:r>
              <a:rPr sz="1080" b="0" i="0" dirty="0">
                <a:solidFill>
                  <a:srgbClr val="222222"/>
                </a:solidFill>
                <a:latin typeface="Calibri"/>
              </a:rPr>
              <a:t> with ERK matches dense ResNet-50 at 80 % </a:t>
            </a:r>
            <a:r>
              <a:rPr sz="1080" b="0" i="0" dirty="0" err="1" smtClean="0">
                <a:solidFill>
                  <a:srgbClr val="222222"/>
                </a:solidFill>
                <a:latin typeface="Calibri"/>
              </a:rPr>
              <a:t>sparsity</a:t>
            </a:r>
            <a:r>
              <a:rPr lang="en-US" sz="1080" dirty="0">
                <a:solidFill>
                  <a:srgbClr val="222222"/>
                </a:solidFill>
                <a:latin typeface="Calibri"/>
              </a:rPr>
              <a:t>.</a:t>
            </a:r>
            <a:endParaRPr sz="108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365760" y="3557015"/>
            <a:ext cx="502920" cy="502920"/>
          </a:xfrm>
          <a:prstGeom prst="ellipse">
            <a:avLst/>
          </a:prstGeom>
          <a:solidFill>
            <a:srgbClr val="2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5760" y="3557015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3538727"/>
            <a:ext cx="7772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F6B4A"/>
                </a:solidFill>
                <a:latin typeface="Calibri"/>
              </a:rPr>
              <a:t>Compatible with FQT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3831335"/>
            <a:ext cx="7772400" cy="43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 dirty="0">
                <a:solidFill>
                  <a:srgbClr val="222222"/>
                </a:solidFill>
                <a:latin typeface="Calibri"/>
              </a:rPr>
              <a:t>Drop and grow only need magnitudes and gradients we already compute. No second-order </a:t>
            </a:r>
            <a:r>
              <a:rPr sz="1080" b="0" i="0" dirty="0" smtClean="0">
                <a:solidFill>
                  <a:srgbClr val="222222"/>
                </a:solidFill>
                <a:latin typeface="Calibri"/>
              </a:rPr>
              <a:t>matrices</a:t>
            </a:r>
            <a:r>
              <a:rPr lang="en-US" sz="1080" dirty="0">
                <a:solidFill>
                  <a:srgbClr val="222222"/>
                </a:solidFill>
                <a:latin typeface="Calibri"/>
              </a:rPr>
              <a:t> </a:t>
            </a:r>
            <a:r>
              <a:rPr lang="en-US" sz="1080" dirty="0" smtClean="0">
                <a:solidFill>
                  <a:srgbClr val="222222"/>
                </a:solidFill>
                <a:latin typeface="Calibri"/>
              </a:rPr>
              <a:t>or regularization which increase the </a:t>
            </a:r>
            <a:r>
              <a:rPr lang="en-US" sz="1080" dirty="0" err="1" smtClean="0">
                <a:solidFill>
                  <a:srgbClr val="222222"/>
                </a:solidFill>
                <a:latin typeface="Calibri"/>
              </a:rPr>
              <a:t>hyperparameter</a:t>
            </a:r>
            <a:endParaRPr sz="1080" b="0" i="0" dirty="0">
              <a:solidFill>
                <a:srgbClr val="222222"/>
              </a:solidFill>
              <a:latin typeface="Calibri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365760" y="4398263"/>
            <a:ext cx="502920" cy="502920"/>
          </a:xfrm>
          <a:prstGeom prst="ellipse">
            <a:avLst/>
          </a:prstGeom>
          <a:solidFill>
            <a:srgbClr val="142A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65760" y="4398263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379975"/>
            <a:ext cx="7772400" cy="2926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42A46"/>
                </a:solidFill>
                <a:latin typeface="Calibri"/>
              </a:rPr>
              <a:t>Single tunable knob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672583"/>
            <a:ext cx="7772400" cy="5029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80" b="0" i="0">
                <a:solidFill>
                  <a:srgbClr val="222222"/>
                </a:solidFill>
                <a:latin typeface="Calibri"/>
              </a:rPr>
              <a:t>Choose target sparsity S — everything else (drop fraction f_t, ERK distribution, ΔT) is well-validated by Evci et al. across vision and language models.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F4E9C9"/>
          </a:solidFill>
          <a:ln w="12700">
            <a:solidFill>
              <a:srgbClr val="F4E9C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45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</a:t>
            </a:r>
            <a:r>
              <a:rPr lang="en-US" sz="1800" b="1" dirty="0" smtClean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VI- Next To DO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178040" y="45720"/>
            <a:ext cx="18745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1B3F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69480" y="109728"/>
            <a:ext cx="502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818120" y="73152"/>
            <a:ext cx="120700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UNIVERSITÄT</a:t>
            </a:r>
            <a:endParaRPr lang="en-US" sz="800" dirty="0"/>
          </a:p>
          <a:p>
            <a:pPr marL="0" indent="0">
              <a:buNone/>
            </a:pPr>
            <a:r>
              <a:rPr lang="en-US" sz="700" b="1" dirty="0">
                <a:solidFill>
                  <a:srgbClr val="1B3F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DUISBURG · ESSEN</a:t>
            </a:r>
            <a:endParaRPr lang="en-US" sz="800" dirty="0"/>
          </a:p>
          <a:p>
            <a:pPr marL="0" indent="0">
              <a:buNone/>
            </a:pPr>
            <a:r>
              <a:rPr lang="en-US" sz="700" i="1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 im Denken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6492240"/>
            <a:ext cx="8412480" cy="0"/>
          </a:xfrm>
          <a:prstGeom prst="line">
            <a:avLst/>
          </a:prstGeom>
          <a:noFill/>
          <a:ln w="9525">
            <a:solidFill>
              <a:srgbClr val="C9C2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6537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www.uni-due.de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886200" y="6537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 smtClean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03.05.2026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 smtClean="0">
                <a:solidFill>
                  <a:srgbClr val="5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6916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18562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188720" y="178308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Focusing on: 1-On-device training of FQT </a:t>
            </a:r>
          </a:p>
          <a:p>
            <a:r>
              <a:rPr lang="en-US" sz="1400" dirty="0" smtClean="0"/>
              <a:t>                        </a:t>
            </a: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2-RigL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11480" y="26060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7706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7706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188720" y="26974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the algorithms and the procedure of </a:t>
            </a: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35204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36850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685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88720" y="36118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get familiar with code on the </a:t>
            </a:r>
            <a:r>
              <a:rPr lang="en-US" sz="1400" b="1" dirty="0" err="1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88720" y="39044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11480" y="4434840"/>
            <a:ext cx="8321040" cy="868680"/>
          </a:xfrm>
          <a:prstGeom prst="rect">
            <a:avLst/>
          </a:prstGeom>
          <a:solidFill>
            <a:srgbClr val="FBF6E5"/>
          </a:solidFill>
          <a:ln w="6350">
            <a:solidFill>
              <a:srgbClr val="C9C2A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599432"/>
            <a:ext cx="548640" cy="548640"/>
          </a:xfrm>
          <a:prstGeom prst="ellipse">
            <a:avLst/>
          </a:prstGeom>
          <a:solidFill>
            <a:srgbClr val="1B3F8B"/>
          </a:solidFill>
          <a:ln w="12700">
            <a:solidFill>
              <a:srgbClr val="1B3F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5994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88720" y="452628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C97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Implementations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88720" y="481888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" y="55138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97149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Q &amp; 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502920"/>
            <a:ext cx="548640" cy="20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498079" y="182880"/>
            <a:ext cx="502920" cy="502920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UDE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28431" y="164592"/>
            <a:ext cx="960120" cy="594360"/>
          </a:xfrm>
          <a:prstGeom prst="rect">
            <a:avLst/>
          </a:prstGeom>
          <a:noFill/>
        </p:spPr>
        <p:txBody>
          <a:bodyPr wrap="square" lIns="45720" tIns="36576" rIns="45720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UNIVERSITÄT</a:t>
            </a:r>
          </a:p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1E3A5F"/>
                </a:solidFill>
                <a:latin typeface="Calibri"/>
              </a:rPr>
              <a:t>DUISBURG · ESSEN</a:t>
            </a:r>
          </a:p>
          <a:p>
            <a:pPr algn="l">
              <a:lnSpc>
                <a:spcPct val="100000"/>
              </a:lnSpc>
            </a:pPr>
            <a:r>
              <a:rPr sz="550" b="0" i="1">
                <a:solidFill>
                  <a:srgbClr val="6A6A6A"/>
                </a:solidFill>
                <a:latin typeface="Calibri"/>
              </a:rPr>
              <a:t>Offen im Denken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92240"/>
            <a:ext cx="1828800" cy="228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6A6A6A"/>
                </a:solidFill>
                <a:latin typeface="Calibri"/>
              </a:rPr>
              <a:t>www.uni-due.de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6492240"/>
            <a:ext cx="128016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0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3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.05.2026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0" y="6492240"/>
            <a:ext cx="1005840" cy="196208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 </a:t>
            </a:r>
            <a:r>
              <a:rPr sz="900" b="0" i="0" dirty="0">
                <a:solidFill>
                  <a:srgbClr val="6A6A6A"/>
                </a:solidFill>
                <a:latin typeface="Calibri"/>
              </a:rPr>
              <a:t>/ </a:t>
            </a:r>
            <a:r>
              <a:rPr sz="900" b="0" i="0" dirty="0" smtClean="0">
                <a:solidFill>
                  <a:srgbClr val="6A6A6A"/>
                </a:solidFill>
                <a:latin typeface="Calibri"/>
              </a:rPr>
              <a:t>1</a:t>
            </a:r>
            <a:r>
              <a:rPr lang="en-US" sz="900" b="0" i="0" dirty="0" smtClean="0">
                <a:solidFill>
                  <a:srgbClr val="6A6A6A"/>
                </a:solidFill>
                <a:latin typeface="Calibri"/>
              </a:rPr>
              <a:t>4</a:t>
            </a:r>
            <a:endParaRPr sz="900" b="0" i="0" dirty="0">
              <a:solidFill>
                <a:srgbClr val="6A6A6A"/>
              </a:solidFill>
              <a:latin typeface="Calibr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65760" y="6446520"/>
            <a:ext cx="8412480" cy="6000"/>
          </a:xfrm>
          <a:prstGeom prst="rect">
            <a:avLst/>
          </a:prstGeom>
          <a:solidFill>
            <a:srgbClr val="C8B8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65760" y="914400"/>
            <a:ext cx="8412480" cy="2377440"/>
          </a:xfrm>
          <a:prstGeom prst="roundRect">
            <a:avLst>
              <a:gd name="adj" fmla="val 10000"/>
            </a:avLst>
          </a:prstGeom>
          <a:solidFill>
            <a:srgbClr val="1E3A5F"/>
          </a:solidFill>
          <a:ln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371600"/>
            <a:ext cx="8412480" cy="5486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11680"/>
            <a:ext cx="8412480" cy="36576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FBF5E8"/>
                </a:solidFill>
                <a:latin typeface="Calibri"/>
              </a:rPr>
              <a:t>Questions, criticism, and pointers welcome.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606040"/>
            <a:ext cx="8412480" cy="231602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 dirty="0">
                <a:solidFill>
                  <a:srgbClr val="FBF5E8"/>
                </a:solidFill>
                <a:latin typeface="Calibri"/>
              </a:rPr>
              <a:t>Mohamed </a:t>
            </a:r>
            <a:r>
              <a:rPr sz="1100" b="0" i="0" dirty="0" err="1">
                <a:solidFill>
                  <a:srgbClr val="FBF5E8"/>
                </a:solidFill>
                <a:latin typeface="Calibri"/>
              </a:rPr>
              <a:t>Elshorbagy</a:t>
            </a:r>
            <a:r>
              <a:rPr sz="1100" b="0" i="0" dirty="0">
                <a:solidFill>
                  <a:srgbClr val="FBF5E8"/>
                </a:solidFill>
                <a:latin typeface="Calibri"/>
              </a:rPr>
              <a:t>  ·  </a:t>
            </a:r>
            <a:r>
              <a:rPr sz="1100" b="0" i="0" dirty="0" err="1">
                <a:solidFill>
                  <a:srgbClr val="FBF5E8"/>
                </a:solidFill>
                <a:latin typeface="Calibri"/>
              </a:rPr>
              <a:t>Universität</a:t>
            </a:r>
            <a:r>
              <a:rPr sz="1100" b="0" i="0" dirty="0">
                <a:solidFill>
                  <a:srgbClr val="FBF5E8"/>
                </a:solidFill>
                <a:latin typeface="Calibri"/>
              </a:rPr>
              <a:t> Duisburg-Essen  ·  </a:t>
            </a:r>
            <a:r>
              <a:rPr sz="1100" b="0" i="0" dirty="0" smtClean="0">
                <a:solidFill>
                  <a:srgbClr val="FBF5E8"/>
                </a:solidFill>
                <a:latin typeface="Calibri"/>
              </a:rPr>
              <a:t>0</a:t>
            </a:r>
            <a:r>
              <a:rPr lang="en-US" sz="1100" b="0" i="0" dirty="0" smtClean="0">
                <a:solidFill>
                  <a:srgbClr val="FBF5E8"/>
                </a:solidFill>
                <a:latin typeface="Calibri"/>
              </a:rPr>
              <a:t>3</a:t>
            </a:r>
            <a:r>
              <a:rPr sz="1100" b="0" i="0" dirty="0" smtClean="0">
                <a:solidFill>
                  <a:srgbClr val="FBF5E8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FBF5E8"/>
                </a:solidFill>
                <a:latin typeface="Calibri"/>
              </a:rPr>
              <a:t>May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611880"/>
            <a:ext cx="8412480" cy="32004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E3A5F"/>
                </a:solidFill>
                <a:latin typeface="Calibri"/>
              </a:rPr>
              <a:t>KEY REFERENCES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931920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E3A5F"/>
                </a:solidFill>
                <a:latin typeface="Calibri"/>
              </a:rPr>
              <a:t>Deutel et al., 2024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931920"/>
            <a:ext cx="6035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On-Device Training of Fully Quantized DNNs on Cortex-M Microcontrollers — basis of our FQT stack.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261104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E3A5F"/>
                </a:solidFill>
                <a:latin typeface="Calibri"/>
              </a:rPr>
              <a:t>Evci et al., 2020 (RigL)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4261104"/>
            <a:ext cx="6035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Rigging the Lottery: Making All Tickets Winners — drop/grow algorithm and ERK initialisation.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590288"/>
            <a:ext cx="219456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E3A5F"/>
                </a:solidFill>
                <a:latin typeface="Calibri"/>
              </a:rPr>
              <a:t>Hoefler et al., 2021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4590288"/>
            <a:ext cx="6035040" cy="274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19" b="0" i="0">
                <a:solidFill>
                  <a:srgbClr val="222222"/>
                </a:solidFill>
                <a:latin typeface="Calibri"/>
              </a:rPr>
              <a:t>Sparsity in Deep Learning — survey from which the WHAT/WHEN/HOW taxonomy is drawn.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1807</Words>
  <Application>Microsoft Office PowerPoint</Application>
  <PresentationFormat>On-screen Show (4:3)</PresentationFormat>
  <Paragraphs>334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Mohamed Atef</cp:lastModifiedBy>
  <cp:revision>10</cp:revision>
  <dcterms:created xsi:type="dcterms:W3CDTF">2013-01-27T09:14:16Z</dcterms:created>
  <dcterms:modified xsi:type="dcterms:W3CDTF">2026-05-07T11:17:49Z</dcterms:modified>
  <cp:category/>
</cp:coreProperties>
</file>