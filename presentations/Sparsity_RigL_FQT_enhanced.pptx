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91440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5989320"/>
            <a:ext cx="914400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417320"/>
            <a:ext cx="246888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0" cy="18288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0080" cy="1828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1691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1691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DUISBURG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1691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ESSEN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417320"/>
            <a:ext cx="49377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C97B2D"/>
                </a:solidFill>
                <a:latin typeface="Calibri"/>
              </a:rPr>
              <a:t>On-Device Training for Edge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965960"/>
            <a:ext cx="493776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1F2933"/>
                </a:solidFill>
                <a:latin typeface="Calibri"/>
              </a:rPr>
              <a:t>Combining Sparsity (RigL) and</a:t>
            </a:r>
          </a:p>
          <a:p>
            <a:pPr algn="l"/>
            <a:r>
              <a:rPr sz="2800" b="1" i="0">
                <a:solidFill>
                  <a:srgbClr val="1F2933"/>
                </a:solidFill>
                <a:latin typeface="Calibri"/>
              </a:rPr>
              <a:t>Fully Quantized Training (FQT)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3337560"/>
            <a:ext cx="64008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3520440"/>
            <a:ext cx="4937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C6975"/>
                </a:solidFill>
                <a:latin typeface="Calibri"/>
              </a:rPr>
              <a:t>A literature-driven design for low-power microcontroller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80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Master Thesis Review · Mohamed Elshorbagy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Target hardware: STM32 Nucleo-F746ZG · Application: LibriSpeech speaker identification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126480"/>
            <a:ext cx="1920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100" b="1" i="1">
                <a:solidFill>
                  <a:srgbClr val="C97B2D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54864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Agenda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178308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01168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Why on-device training matters, and what makes it hard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2350008"/>
            <a:ext cx="365760" cy="36576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350008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28600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Background — Compression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51460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Quantization and sparsity in modern deep learning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2852928"/>
            <a:ext cx="365760" cy="36576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52928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78892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Sparse Training with RigL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01752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Drop-and-grow dynamic sparse training (Evci et al., 2020)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3355848"/>
            <a:ext cx="365760" cy="36576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355848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29184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Fully Quantized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52044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Forward + backward pass quantization (Deutel et al., 2024)</a:t>
            </a:r>
          </a:p>
        </p:txBody>
      </p:sp>
      <p:sp>
        <p:nvSpPr>
          <p:cNvPr id="33" name="Oval 32"/>
          <p:cNvSpPr/>
          <p:nvPr/>
        </p:nvSpPr>
        <p:spPr>
          <a:xfrm>
            <a:off x="4754880" y="1847088"/>
            <a:ext cx="365760" cy="36576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1847088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178308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Combining FQT and RigL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01168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Memory and compute synergy on the same training loop</a:t>
            </a:r>
          </a:p>
        </p:txBody>
      </p:sp>
      <p:sp>
        <p:nvSpPr>
          <p:cNvPr id="37" name="Oval 36"/>
          <p:cNvSpPr/>
          <p:nvPr/>
        </p:nvSpPr>
        <p:spPr>
          <a:xfrm>
            <a:off x="4754880" y="2350008"/>
            <a:ext cx="365760" cy="36576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2350008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228600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Hardware &amp; Application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251460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STM32 Nucleo-F746ZG running LibriSpeech speaker ID</a:t>
            </a:r>
          </a:p>
        </p:txBody>
      </p:sp>
      <p:sp>
        <p:nvSpPr>
          <p:cNvPr id="41" name="Oval 40"/>
          <p:cNvSpPr/>
          <p:nvPr/>
        </p:nvSpPr>
        <p:spPr>
          <a:xfrm>
            <a:off x="4754880" y="2852928"/>
            <a:ext cx="365760" cy="36576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2852928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278892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Experimental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301752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Three phases — baselines → GPU integration → MCU port</a:t>
            </a:r>
          </a:p>
        </p:txBody>
      </p:sp>
      <p:sp>
        <p:nvSpPr>
          <p:cNvPr id="45" name="Oval 44"/>
          <p:cNvSpPr/>
          <p:nvPr/>
        </p:nvSpPr>
        <p:spPr>
          <a:xfrm>
            <a:off x="4754880" y="3355848"/>
            <a:ext cx="365760" cy="36576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3355848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329184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52044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Where the contribution sits and 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Why On-Device Training?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3977639" cy="20116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075688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Privacy &amp; Data Locality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97480"/>
            <a:ext cx="361188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Raw audio, biometrics, and health data never leave the device. Avoids regulatory exposure tied to cloud upload (GDPR, HIPAA).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828800"/>
            <a:ext cx="3977639" cy="20116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37760" y="2057400"/>
            <a:ext cx="502920" cy="50292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205740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075688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Personalization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697480"/>
            <a:ext cx="361188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A model adapted to the user's voice, accent, or environment outperforms a generic one — and can keep adapting without re-deploying firmware.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3977639" cy="20116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297680"/>
            <a:ext cx="502920" cy="50292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9768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15968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Connectivity Independence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937760"/>
            <a:ext cx="361188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Useful for IoT nodes with intermittent or zero network access. Adaptation continues even when the cloud is unreachable.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4069080"/>
            <a:ext cx="3977639" cy="20116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37760" y="4297680"/>
            <a:ext cx="502920" cy="50292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297680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4315968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Energy &amp; Bandwidth Savings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937760"/>
            <a:ext cx="361188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Avoids transmitting large feature streams over wireless links — the radio is often the largest single energy consumer on an MCU.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The Two Resource Bottlenecks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3977639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28800"/>
            <a:ext cx="3977639" cy="4114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82880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828800"/>
            <a:ext cx="3977639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1828800"/>
            <a:ext cx="3977639" cy="41148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82880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Compute &amp; Energy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240280"/>
            <a:ext cx="3977639" cy="379476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Activations dominate during training, not weights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Backprop must store every layer's input until the gradient pass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Optimizer states (Adam m, v) double or triple weight footprint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MCU SRAM is typically 256–1024 KB total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STM32 F746ZG: 320 KB SRAM, 1 MB flash — every byte is fought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240280"/>
            <a:ext cx="3977639" cy="379476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Backprop ≈ 2× the FLOPs of inference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Forward + activation gradient + weight gradient passes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Floating-point MAC is 5–10× more energy than int8 MAC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Cortex-M7 @ 216 MHz ≈ 432 MFLOPS theoretical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No GPU, no DSP — every saved operation is energy saved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The Compression Landscape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3977639" cy="2011680"/>
          </a:xfrm>
          <a:prstGeom prst="rect">
            <a:avLst/>
          </a:prstGeom>
          <a:solidFill>
            <a:srgbClr val="FBF6E5"/>
          </a:solidFill>
          <a:ln w="19050">
            <a:solidFill>
              <a:srgbClr val="C97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01168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Quantization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331720"/>
            <a:ext cx="3611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C97B2D"/>
                </a:solidFill>
                <a:latin typeface="Calibri"/>
              </a:rPr>
              <a:t>Reduce numeric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651760"/>
            <a:ext cx="36118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FP32 → int8 / int4 / fixed-point. Linear in compute and memory savings (4× from FP32 → int8). Universally applicable.</a:t>
            </a:r>
          </a:p>
        </p:txBody>
      </p:sp>
      <p:sp>
        <p:nvSpPr>
          <p:cNvPr id="21" name="Oval 20"/>
          <p:cNvSpPr/>
          <p:nvPr/>
        </p:nvSpPr>
        <p:spPr>
          <a:xfrm>
            <a:off x="4069080" y="1993392"/>
            <a:ext cx="274320" cy="274320"/>
          </a:xfrm>
          <a:prstGeom prst="ellipse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1993392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1828800"/>
            <a:ext cx="3977639" cy="2011680"/>
          </a:xfrm>
          <a:prstGeom prst="rect">
            <a:avLst/>
          </a:prstGeom>
          <a:solidFill>
            <a:srgbClr val="FBF6E5"/>
          </a:solidFill>
          <a:ln w="19050">
            <a:solidFill>
              <a:srgbClr val="C97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201168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B3F8B"/>
                </a:solidFill>
                <a:latin typeface="Calibri"/>
              </a:rPr>
              <a:t>Sparsity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331720"/>
            <a:ext cx="3611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C97B2D"/>
                </a:solidFill>
                <a:latin typeface="Calibri"/>
              </a:rPr>
              <a:t>Set most weights to zero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651760"/>
            <a:ext cx="36118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Unstructured (any weight) or structured (rows, blocks, channels). Compute saving needs sparse-aware kernels or hardware support.</a:t>
            </a:r>
          </a:p>
        </p:txBody>
      </p:sp>
      <p:sp>
        <p:nvSpPr>
          <p:cNvPr id="27" name="Oval 26"/>
          <p:cNvSpPr/>
          <p:nvPr/>
        </p:nvSpPr>
        <p:spPr>
          <a:xfrm>
            <a:off x="8321040" y="1993392"/>
            <a:ext cx="274320" cy="274320"/>
          </a:xfrm>
          <a:prstGeom prst="ellipse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69080"/>
            <a:ext cx="3977639" cy="2011680"/>
          </a:xfrm>
          <a:prstGeom prst="rect">
            <a:avLst/>
          </a:prstGeom>
          <a:solidFill>
            <a:srgbClr val="FBF6E5"/>
          </a:solidFill>
          <a:ln w="9525"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5196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Knowledge Distillation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572000"/>
            <a:ext cx="3611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5C6975"/>
                </a:solidFill>
                <a:latin typeface="Calibri"/>
              </a:rPr>
              <a:t>Train small student from large teacher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92040"/>
            <a:ext cx="36118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Reduces architecture cost — orthogonal to training-time savings. Doesn't help when training itself must run on the MCU.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4069080"/>
            <a:ext cx="3977639" cy="2011680"/>
          </a:xfrm>
          <a:prstGeom prst="rect">
            <a:avLst/>
          </a:prstGeom>
          <a:solidFill>
            <a:srgbClr val="FBF6E5"/>
          </a:solidFill>
          <a:ln w="9525"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25196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Low-Rank Factorization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572000"/>
            <a:ext cx="3611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5C6975"/>
                </a:solidFill>
                <a:latin typeface="Calibri"/>
              </a:rPr>
              <a:t>Decompose dense matrices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892040"/>
            <a:ext cx="361188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Common in transformers; less applicable to small MCU CNNs whose matrices aren't large enough to benefit.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26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1">
                <a:solidFill>
                  <a:srgbClr val="1B3F8B"/>
                </a:solidFill>
                <a:latin typeface="Calibri"/>
              </a:rPr>
              <a:t>This work focuses on Quantization + Sparsity applied during training, not after.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Quantization in One Slide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4434840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6596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The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331720"/>
            <a:ext cx="4114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F2933"/>
                </a:solidFill>
                <a:latin typeface="Calibri"/>
              </a:rPr>
              <a:t>Replace FP32 numbers with low-bit integers and a scale factor.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2608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26080"/>
            <a:ext cx="4114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 i="0">
                <a:solidFill>
                  <a:srgbClr val="1F2933"/>
                </a:solidFill>
                <a:latin typeface="Consolas"/>
              </a:rPr>
              <a:t>x_q = round(x / s) + z      (scale s, zero-point 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Benefits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77639"/>
            <a:ext cx="4389120" cy="201168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4× memory reduction (FP32 → int8); 8× for int4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Integer MAC is faster and far more energy-efficient on Cortex-M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CMSIS-NN provides tuned int8 kernels for MAC-heavy layers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1828800"/>
            <a:ext cx="3657600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1965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Three Regimes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377440"/>
            <a:ext cx="3291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0" y="2377440"/>
            <a:ext cx="640080" cy="868680"/>
          </a:xfrm>
          <a:prstGeom prst="rect">
            <a:avLst/>
          </a:prstGeom>
          <a:solidFill>
            <a:srgbClr val="C9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2377440"/>
            <a:ext cx="6400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PTQ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450592"/>
            <a:ext cx="24688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Post-Training Quantization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74320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Apply after training; may degrade accuracy.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3337560"/>
            <a:ext cx="3291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0" y="3337560"/>
            <a:ext cx="640080" cy="868680"/>
          </a:xfrm>
          <a:prstGeom prst="rect">
            <a:avLst/>
          </a:prstGeom>
          <a:solidFill>
            <a:srgbClr val="C9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3337560"/>
            <a:ext cx="6400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410712"/>
            <a:ext cx="24688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Quantization-Aware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70332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Simulate quantization in the forward pass.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4297680"/>
            <a:ext cx="32918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7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0" y="4297680"/>
            <a:ext cx="640080" cy="86868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4297680"/>
            <a:ext cx="6400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FQT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370832"/>
            <a:ext cx="24688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Fully Quantized Training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663440"/>
            <a:ext cx="24688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Calibri"/>
              </a:rPr>
              <a:t>Forward AND backward pass are quantized.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669280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50" b="1" i="1">
                <a:solidFill>
                  <a:srgbClr val="C97B2D"/>
                </a:solidFill>
                <a:latin typeface="Calibri"/>
              </a:rPr>
              <a:t>FQT is the only option when training itself runs on the MCU.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Sparsity in One Slide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28800"/>
            <a:ext cx="4937760" cy="420624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B3F8B"/>
                </a:solidFill>
                <a:latin typeface="Calibri"/>
              </a:rPr>
              <a:t>■  </a:t>
            </a:r>
            <a:r>
              <a:rPr sz="1150" b="1">
                <a:solidFill>
                  <a:srgbClr val="1B3F8B"/>
                </a:solidFill>
                <a:latin typeface="Calibri"/>
              </a:rPr>
              <a:t>Density d = fraction of non-zero weights; sparsity = 1 − d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A 90 % sparse layer keeps only 10 % of its weights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B3F8B"/>
                </a:solidFill>
                <a:latin typeface="Calibri"/>
              </a:rPr>
              <a:t>■  </a:t>
            </a:r>
            <a:r>
              <a:rPr sz="1150" b="1">
                <a:solidFill>
                  <a:srgbClr val="1B3F8B"/>
                </a:solidFill>
                <a:latin typeface="Calibri"/>
              </a:rPr>
              <a:t>Why it works — deep nets are heavily over-parameterized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Lottery-ticket subnetworks (Frankle &amp; Carbin 2019) reach dense accuracy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B3F8B"/>
                </a:solidFill>
                <a:latin typeface="Calibri"/>
              </a:rPr>
              <a:t>■  </a:t>
            </a:r>
            <a:r>
              <a:rPr sz="1150" b="1">
                <a:solidFill>
                  <a:srgbClr val="1B3F8B"/>
                </a:solidFill>
                <a:latin typeface="Calibri"/>
              </a:rPr>
              <a:t>Where the savings come from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Memory: store indices + values only (CSR / bitmask)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Compute: skip multiplications by zero — needs kernel support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B3F8B"/>
                </a:solidFill>
                <a:latin typeface="Calibri"/>
              </a:rPr>
              <a:t>■  </a:t>
            </a:r>
            <a:r>
              <a:rPr sz="1150" b="1">
                <a:solidFill>
                  <a:srgbClr val="1B3F8B"/>
                </a:solidFill>
                <a:latin typeface="Calibri"/>
              </a:rPr>
              <a:t>Pruning vs. sparse training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Pruning: train dense, then remove weights — high training cost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Sparse training: model is sparse from the start — lower training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46445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3610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0775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7940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55105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32270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9435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0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46445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23610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0775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7940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55105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32270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9435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0" y="236601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46445" y="236601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23610" y="236601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0775" y="236601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77940" y="236601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55105" y="236601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32270" y="236601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09435" y="236601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0" y="254317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46445" y="254317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23610" y="254317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00775" y="254317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77940" y="254317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55105" y="254317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2270" y="254317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09435" y="254317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0" y="272034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46445" y="272034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23610" y="272034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00775" y="272034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77940" y="272034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55105" y="272034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732270" y="272034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09435" y="272034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0" y="289750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846445" y="289750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23610" y="289750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00775" y="289750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77940" y="289750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55105" y="289750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32270" y="289750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09435" y="289750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69280" y="307467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46445" y="307467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23610" y="307467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00775" y="307467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377940" y="307467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5105" y="307467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32270" y="307467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909435" y="307467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669280" y="325183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846445" y="325183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023610" y="325183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0775" y="325183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77940" y="325183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55105" y="325183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2270" y="325183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09435" y="325183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0" y="3474720"/>
            <a:ext cx="14173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B3F8B"/>
                </a:solidFill>
                <a:latin typeface="Calibri"/>
              </a:rPr>
              <a:t>Dense (d = 1.0)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5200" y="201168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92365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69530" y="201168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6695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023860" y="201168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201025" y="201168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78190" y="201168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555355" y="201168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315200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492365" y="218884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69530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846695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23860" y="218884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01025" y="218884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78190" y="218884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55355" y="218884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315200" y="236601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492365" y="236601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669530" y="236601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46695" y="236601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023860" y="236601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201025" y="236601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378190" y="236601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555355" y="236601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315200" y="254317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492365" y="254317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669530" y="254317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846695" y="254317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023860" y="254317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201025" y="254317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378190" y="254317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555355" y="254317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315200" y="272034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492365" y="272034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669530" y="272034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846695" y="272034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023860" y="272034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201025" y="272034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378190" y="272034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555355" y="272034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315200" y="289750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492365" y="289750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669530" y="289750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846695" y="289750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023860" y="289750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201025" y="289750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78190" y="289750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555355" y="289750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315200" y="307467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492365" y="307467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669530" y="307467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846695" y="307467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023860" y="307467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201025" y="307467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378190" y="3074670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555355" y="3074670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315200" y="3251835"/>
            <a:ext cx="150590" cy="150590"/>
          </a:xfrm>
          <a:prstGeom prst="rect">
            <a:avLst/>
          </a:prstGeom>
          <a:solidFill>
            <a:srgbClr val="1B3F8B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492365" y="325183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669530" y="325183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846695" y="325183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023860" y="325183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201025" y="325183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378190" y="325183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555355" y="3251835"/>
            <a:ext cx="150590" cy="15059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315200" y="3474720"/>
            <a:ext cx="14173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B3F8B"/>
                </a:solidFill>
                <a:latin typeface="Calibri"/>
              </a:rPr>
              <a:t>Sparse (d ≈ 0.18)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0" y="39319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1">
                <a:solidFill>
                  <a:srgbClr val="C97B2D"/>
                </a:solidFill>
                <a:latin typeface="Calibri"/>
              </a:rPr>
              <a:t>Same parameter count, ~5× fewer ops.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486400" y="4434840"/>
            <a:ext cx="3291840" cy="15544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623560" y="4526280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Key Tension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23560" y="4892040"/>
            <a:ext cx="310896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Unstructured sparsity gives the best accuracy / parameter trade-off — but block-structured sparsity is easier to accelerate on a Cortex-M.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Sparse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Static vs. Dynamic Sparse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3977639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28800"/>
            <a:ext cx="3977639" cy="4114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82880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Static Sparse 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828800"/>
            <a:ext cx="3977639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1828800"/>
            <a:ext cx="3977639" cy="41148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82880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Dynamic Sparse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240280"/>
            <a:ext cx="3977639" cy="379476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Choose mask once at initialization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Mask never changes during training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Examples: random pruning, magnitude pruning at init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Pros / Cons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+ Simplest implementation, no overhead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− Stuck with a possibly-bad mask the entire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240280"/>
            <a:ext cx="3977639" cy="379476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Mask updated periodically during training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Drop weights that hurt loss; grow new ones where loss might fall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Examples: SET (with growth), DSR, RigL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Pros / Cons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+ Discovers a better sparse subnetwork as training progresses</a:t>
            </a:r>
          </a:p>
          <a:p>
            <a:pPr algn="l" lvl="1">
              <a:spcAft>
                <a:spcPts val="200"/>
              </a:spcAft>
            </a:pPr>
            <a:r>
              <a:rPr sz="1100">
                <a:solidFill>
                  <a:srgbClr val="5C6975"/>
                </a:solidFill>
                <a:latin typeface="Calibri"/>
              </a:rPr>
              <a:t>○  </a:t>
            </a:r>
            <a:r>
              <a:rPr sz="1100">
                <a:solidFill>
                  <a:srgbClr val="1F2933"/>
                </a:solidFill>
                <a:latin typeface="Calibri"/>
              </a:rPr>
              <a:t>− Must store dense gradients on update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1">
                <a:solidFill>
                  <a:srgbClr val="1B3F8B"/>
                </a:solidFill>
                <a:latin typeface="Calibri"/>
              </a:rPr>
              <a:t>RigL is the dynamic-sparse-training method this thesis builds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RigL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Rigged Lottery (RigL) — Overview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874519"/>
            <a:ext cx="7863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Evci, Gale, Menick, Castro, Elsen — ICML 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5C6975"/>
                </a:solidFill>
                <a:latin typeface="Calibri"/>
              </a:rPr>
              <a:t>"Rigging the Lottery: Making All Tickets Winners"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Calibri"/>
              </a:rPr>
              <a:t>Goal:  train at fixed sparsity S from scratch, matching dense accuracy.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2743200" cy="219456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Knob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749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Sparsity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069080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1">
                <a:solidFill>
                  <a:srgbClr val="5C6975"/>
                </a:solidFill>
                <a:latin typeface="Calibri"/>
              </a:rPr>
              <a:t>How sparsity is allocated per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89120"/>
            <a:ext cx="246888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Erdős–Rényi-Kernel (ERK) — capacity scales with parameter pressure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291840"/>
            <a:ext cx="2743200" cy="219456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3291840"/>
            <a:ext cx="274320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29184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Knob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749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Update 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069080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1">
                <a:solidFill>
                  <a:srgbClr val="5C6975"/>
                </a:solidFill>
                <a:latin typeface="Calibri"/>
              </a:rPr>
              <a:t>When the mask is refreshed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89120"/>
            <a:ext cx="246888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Cosine-decayed update fraction; mask frozen after T_end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291840"/>
            <a:ext cx="2743200" cy="219456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291840"/>
            <a:ext cx="274320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29184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Knob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749040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B3F8B"/>
                </a:solidFill>
                <a:latin typeface="Calibri"/>
              </a:rPr>
              <a:t>Drop / Grow Criteria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069080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0" i="1">
                <a:solidFill>
                  <a:srgbClr val="5C6975"/>
                </a:solidFill>
                <a:latin typeface="Calibri"/>
              </a:rPr>
              <a:t>Which weights leave, which enter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389120"/>
            <a:ext cx="246888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Drop smallest |W|, grow largest |∂L/∂W| among dormant weights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1">
                <a:solidFill>
                  <a:srgbClr val="C97B2D"/>
                </a:solidFill>
                <a:latin typeface="Calibri"/>
              </a:rPr>
              <a:t>Crucially: total FLOPs stay roughly constant — no dense forward pass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RigL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Drop and Grow Mechanism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2743200" cy="411480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08760" y="2148840"/>
            <a:ext cx="640080" cy="640080"/>
          </a:xfrm>
          <a:prstGeom prst="ellipse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148840"/>
            <a:ext cx="6400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2743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B23B3B"/>
                </a:solidFill>
                <a:latin typeface="Calibri"/>
              </a:rPr>
              <a:t>Drop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23774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2933"/>
                </a:solidFill>
                <a:latin typeface="Calibri"/>
              </a:rPr>
              <a:t>Remove the |W| smallest-magnitude active weights.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237744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1">
                <a:solidFill>
                  <a:srgbClr val="5C6975"/>
                </a:solidFill>
                <a:latin typeface="Calibri"/>
              </a:rPr>
              <a:t>These contribute least to the forward pass and represent the lowest expected loss change if pruned.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1828800"/>
            <a:ext cx="2743200" cy="411480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89120" y="2148840"/>
            <a:ext cx="640080" cy="64008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148840"/>
            <a:ext cx="6400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926080"/>
            <a:ext cx="2743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F7A4D"/>
                </a:solidFill>
                <a:latin typeface="Calibri"/>
              </a:rP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429000"/>
            <a:ext cx="23774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2933"/>
                </a:solidFill>
                <a:latin typeface="Calibri"/>
              </a:rPr>
              <a:t>Activate the same number of currently-zero weights with the largest |∂L/∂W|.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434840"/>
            <a:ext cx="237744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1">
                <a:solidFill>
                  <a:srgbClr val="5C6975"/>
                </a:solidFill>
                <a:latin typeface="Calibri"/>
              </a:rPr>
              <a:t>These are the connections the gradient signal says want to exist.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828800"/>
            <a:ext cx="2743200" cy="411480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69480" y="2148840"/>
            <a:ext cx="640080" cy="640080"/>
          </a:xfrm>
          <a:prstGeom prst="ellipse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2148840"/>
            <a:ext cx="6400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926080"/>
            <a:ext cx="2743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1B3F8B"/>
                </a:solidFill>
                <a:latin typeface="Calibri"/>
              </a:rPr>
              <a:t>Reset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29000"/>
            <a:ext cx="23774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2933"/>
                </a:solidFill>
                <a:latin typeface="Calibri"/>
              </a:rPr>
              <a:t>Newly-grown weights start at zero.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434840"/>
            <a:ext cx="237744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1">
                <a:solidFill>
                  <a:srgbClr val="5C6975"/>
                </a:solidFill>
                <a:latin typeface="Calibri"/>
              </a:rPr>
              <a:t>Dropped weights' optimizer state is discarded; freshly-grown weights start with fresh momentum.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18688" y="2468880"/>
            <a:ext cx="100584" cy="0"/>
          </a:xfrm>
          <a:prstGeom prst="line">
            <a:avLst/>
          </a:prstGeom>
          <a:ln w="1905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9048" y="2468880"/>
            <a:ext cx="100584" cy="0"/>
          </a:xfrm>
          <a:prstGeom prst="line">
            <a:avLst/>
          </a:prstGeom>
          <a:ln w="1905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RigL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Update Schedule and Sparsity Distribution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4206240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6596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Update 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331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Update fraction f_t controls how many connections swap at step 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880360"/>
            <a:ext cx="34747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22960" y="4709160"/>
            <a:ext cx="3474720" cy="0"/>
          </a:xfrm>
          <a:prstGeom prst="line">
            <a:avLst/>
          </a:prstGeom>
          <a:ln w="9525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" y="2880360"/>
            <a:ext cx="0" cy="1828800"/>
          </a:xfrm>
          <a:prstGeom prst="line">
            <a:avLst/>
          </a:prstGeom>
          <a:ln w="9525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" y="2880360"/>
            <a:ext cx="57912" cy="1686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0872" y="2882046"/>
            <a:ext cx="57912" cy="5055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38784" y="2887101"/>
            <a:ext cx="57912" cy="8402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6696" y="2895503"/>
            <a:ext cx="57912" cy="11719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54608" y="2907222"/>
            <a:ext cx="57912" cy="14991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12520" y="2922213"/>
            <a:ext cx="57912" cy="18206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70432" y="2940419"/>
            <a:ext cx="57912" cy="21351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28344" y="2961770"/>
            <a:ext cx="57912" cy="24417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86256" y="2986187"/>
            <a:ext cx="57912" cy="27389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44168" y="3013576"/>
            <a:ext cx="57912" cy="30258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02080" y="3043834"/>
            <a:ext cx="57912" cy="33011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59992" y="3076845"/>
            <a:ext cx="57912" cy="3564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517904" y="3112485"/>
            <a:ext cx="57912" cy="38133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75816" y="3150618"/>
            <a:ext cx="57912" cy="40482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633728" y="3191100"/>
            <a:ext cx="57912" cy="42676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691640" y="3233776"/>
            <a:ext cx="57912" cy="4471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749552" y="3278486"/>
            <a:ext cx="57912" cy="46574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807464" y="3325060"/>
            <a:ext cx="57912" cy="4826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865376" y="3373320"/>
            <a:ext cx="57912" cy="49764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923288" y="3423084"/>
            <a:ext cx="57912" cy="51079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981200" y="3474163"/>
            <a:ext cx="57912" cy="52201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039112" y="3526364"/>
            <a:ext cx="57912" cy="53123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097024" y="3579487"/>
            <a:ext cx="57912" cy="53846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154936" y="3633333"/>
            <a:ext cx="57912" cy="54363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12848" y="3687696"/>
            <a:ext cx="57912" cy="54674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270760" y="3742370"/>
            <a:ext cx="57912" cy="54779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328672" y="3797149"/>
            <a:ext cx="57912" cy="54674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386584" y="3851823"/>
            <a:ext cx="57912" cy="54363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444496" y="3906186"/>
            <a:ext cx="57912" cy="53846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502408" y="3960032"/>
            <a:ext cx="57912" cy="53123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560320" y="4013155"/>
            <a:ext cx="57912" cy="52201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618232" y="4065356"/>
            <a:ext cx="57912" cy="51079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676144" y="4116435"/>
            <a:ext cx="57912" cy="49764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734056" y="4166199"/>
            <a:ext cx="57912" cy="4826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791968" y="4214459"/>
            <a:ext cx="57912" cy="46574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849880" y="4261033"/>
            <a:ext cx="57912" cy="4471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907792" y="4305743"/>
            <a:ext cx="57912" cy="42676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965704" y="4348419"/>
            <a:ext cx="57912" cy="40482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23616" y="4388901"/>
            <a:ext cx="57912" cy="38133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81528" y="4427034"/>
            <a:ext cx="57912" cy="3564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139440" y="4462674"/>
            <a:ext cx="57912" cy="33011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197352" y="4495685"/>
            <a:ext cx="57912" cy="30258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255264" y="4525943"/>
            <a:ext cx="57912" cy="27389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313176" y="4553332"/>
            <a:ext cx="57912" cy="24417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371088" y="4577749"/>
            <a:ext cx="57912" cy="21351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429000" y="4599100"/>
            <a:ext cx="57912" cy="18206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486912" y="4617306"/>
            <a:ext cx="57912" cy="14991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544824" y="4632297"/>
            <a:ext cx="57912" cy="11719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602736" y="4644016"/>
            <a:ext cx="57912" cy="8402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660648" y="4652418"/>
            <a:ext cx="57912" cy="5055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18560" y="4657473"/>
            <a:ext cx="57912" cy="1687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776472" y="4659160"/>
            <a:ext cx="57912" cy="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34384" y="4659160"/>
            <a:ext cx="57912" cy="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892296" y="4659160"/>
            <a:ext cx="57912" cy="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0208" y="4659160"/>
            <a:ext cx="57912" cy="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8120" y="4659160"/>
            <a:ext cx="57912" cy="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66032" y="4659160"/>
            <a:ext cx="57912" cy="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123944" y="4659160"/>
            <a:ext cx="57912" cy="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81856" y="4659160"/>
            <a:ext cx="57912" cy="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239768" y="4659160"/>
            <a:ext cx="57912" cy="0"/>
          </a:xfrm>
          <a:prstGeom prst="line">
            <a:avLst/>
          </a:prstGeom>
          <a:ln w="22225">
            <a:solidFill>
              <a:srgbClr val="1B3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776472" y="2880360"/>
            <a:ext cx="0" cy="1828800"/>
          </a:xfrm>
          <a:prstGeom prst="line">
            <a:avLst/>
          </a:prstGeom>
          <a:ln w="12700">
            <a:solidFill>
              <a:srgbClr val="C97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502152" y="2834640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1" i="0">
                <a:solidFill>
                  <a:srgbClr val="C97B2D"/>
                </a:solidFill>
                <a:latin typeface="Calibri"/>
              </a:rPr>
              <a:t>T_end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4727448"/>
            <a:ext cx="3474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800" b="0" i="1">
                <a:solidFill>
                  <a:srgbClr val="5C6975"/>
                </a:solidFill>
                <a:latin typeface="Calibri"/>
              </a:rPr>
              <a:t>training step 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2880360"/>
            <a:ext cx="365760" cy="1828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 i="1">
                <a:solidFill>
                  <a:srgbClr val="5C6975"/>
                </a:solidFill>
                <a:latin typeface="Calibri"/>
              </a:rPr>
              <a:t>f_t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484632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onsolas"/>
              </a:rPr>
              <a:t>f_t = (α/2) · (1 + cos(π·t / T_end))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5166360"/>
            <a:ext cx="384048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1F2933"/>
                </a:solidFill>
                <a:latin typeface="Calibri"/>
              </a:rPr>
              <a:t>Updates every ΔT steps (typically 100–1000). After T_end the mask is frozen and training continues to convergence.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46320" y="1828800"/>
            <a:ext cx="3840480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200" y="196596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Erdős–Rényi-Kernel (ERK)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0" y="2331720"/>
            <a:ext cx="3474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Per-layer density that adapts to layer geometry.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0" y="2788920"/>
            <a:ext cx="34747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0" y="2788920"/>
            <a:ext cx="34747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 i="0">
                <a:solidFill>
                  <a:srgbClr val="1F2933"/>
                </a:solidFill>
                <a:latin typeface="Consolas"/>
              </a:rPr>
              <a:t>d_l ∝ (n_in + n_out + k_h·k_w) / (n_in · n_out · k_h · k_w)</a:t>
            </a:r>
          </a:p>
        </p:txBody>
      </p:sp>
      <p:sp>
        <p:nvSpPr>
          <p:cNvPr id="94" name="Oval 93"/>
          <p:cNvSpPr/>
          <p:nvPr/>
        </p:nvSpPr>
        <p:spPr>
          <a:xfrm>
            <a:off x="5029200" y="3584448"/>
            <a:ext cx="320040" cy="320040"/>
          </a:xfrm>
          <a:prstGeom prst="ellipse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29200" y="3584448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40680" y="352044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Smaller layers  → more density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40680" y="3767328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early conv layers, classifier head</a:t>
            </a:r>
          </a:p>
        </p:txBody>
      </p:sp>
      <p:sp>
        <p:nvSpPr>
          <p:cNvPr id="98" name="Oval 97"/>
          <p:cNvSpPr/>
          <p:nvPr/>
        </p:nvSpPr>
        <p:spPr>
          <a:xfrm>
            <a:off x="5029200" y="4224528"/>
            <a:ext cx="320040" cy="320040"/>
          </a:xfrm>
          <a:prstGeom prst="ellipse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29200" y="4224528"/>
            <a:ext cx="3200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40680" y="416052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Larger layers  → less density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40680" y="4407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middle conv blocks with high parameter count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0" y="5074920"/>
            <a:ext cx="347472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1">
                <a:solidFill>
                  <a:srgbClr val="C97B2D"/>
                </a:solidFill>
                <a:latin typeface="Calibri"/>
              </a:rPr>
              <a:t>Result: same global sparsity, much better accuracy than uniform allocation.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RigL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7724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Why RigL Matters — Key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93392"/>
            <a:ext cx="27432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76.6 %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ResNet-50 top-1 accuracy at 80 % sparsity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4612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(matches dense baseline)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1828800"/>
            <a:ext cx="2743200" cy="18288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993392"/>
            <a:ext cx="27432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5×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926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FLOPs reduction at 80 % sparsity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24612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(vs. dense ResNet-50)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828800"/>
            <a:ext cx="2743200" cy="18288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993392"/>
            <a:ext cx="27432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Extra dense forward passes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4612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(sparsity preserved every step)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Outperforms iterative magnitude pruning at the same parameter budget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Beats static sparse training across all tested sparsities (50 % – 99 %)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Robust: works on CNNs (ResNet, MobileNet) and transformers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F8B"/>
                </a:solidFill>
                <a:latin typeface="Calibri"/>
              </a:rPr>
              <a:t>■  </a:t>
            </a:r>
            <a:r>
              <a:rPr sz="1200" b="1">
                <a:solidFill>
                  <a:srgbClr val="1B3F8B"/>
                </a:solidFill>
                <a:latin typeface="Calibri"/>
              </a:rPr>
              <a:t>Limitation: still trains at full activation precision — no quantization integrated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FQT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Fully Quantized Training — Motivation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What gets quantized?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B3F8B"/>
                </a:solidFill>
                <a:latin typeface="Calibri"/>
              </a:rPr>
              <a:t>Weights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B3F8B"/>
                </a:solidFill>
                <a:latin typeface="Calibri"/>
              </a:rPr>
              <a:t>Activations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B3F8B"/>
                </a:solidFill>
                <a:latin typeface="Calibri"/>
              </a:rPr>
              <a:t>Backward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B3F8B"/>
                </a:solidFill>
                <a:latin typeface="Calibri"/>
              </a:rPr>
              <a:t>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69748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PTQ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697480"/>
            <a:ext cx="960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50" b="0" i="1">
                <a:solidFill>
                  <a:srgbClr val="5C6975"/>
                </a:solidFill>
                <a:latin typeface="Calibri"/>
              </a:rPr>
              <a:t>Apply after 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720340"/>
            <a:ext cx="54864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27203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2720340"/>
            <a:ext cx="54864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27203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720340"/>
            <a:ext cx="5486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27203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5C6975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720340"/>
            <a:ext cx="5486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7203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5C6975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15468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1B3F8B"/>
                </a:solidFill>
                <a:latin typeface="Calibri"/>
              </a:rPr>
              <a:t>QAT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154680"/>
            <a:ext cx="960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50" b="0" i="1">
                <a:solidFill>
                  <a:srgbClr val="5C6975"/>
                </a:solidFill>
                <a:latin typeface="Calibri"/>
              </a:rPr>
              <a:t>Forward-pass simulation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3177540"/>
            <a:ext cx="54864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31775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177540"/>
            <a:ext cx="54864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31775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3177540"/>
            <a:ext cx="5486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0" y="31775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5C6975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3177540"/>
            <a:ext cx="5486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31775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5C6975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3611880"/>
            <a:ext cx="7955279" cy="411480"/>
          </a:xfrm>
          <a:prstGeom prst="rect">
            <a:avLst/>
          </a:prstGeom>
          <a:solidFill>
            <a:srgbClr val="F4E9C9"/>
          </a:solidFill>
          <a:ln w="19050">
            <a:solidFill>
              <a:srgbClr val="C97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61188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C97B2D"/>
                </a:solidFill>
                <a:latin typeface="Calibri"/>
              </a:rPr>
              <a:t>FQT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3611880"/>
            <a:ext cx="960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50" b="0" i="1">
                <a:solidFill>
                  <a:srgbClr val="5C6975"/>
                </a:solidFill>
                <a:latin typeface="Calibri"/>
              </a:rPr>
              <a:t>Forward + backward + state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3634740"/>
            <a:ext cx="54864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0" y="36347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0560" y="3634740"/>
            <a:ext cx="54864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36347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3634740"/>
            <a:ext cx="54864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0" y="36347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3634740"/>
            <a:ext cx="548640" cy="3657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3634740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B3F8B"/>
                </a:solidFill>
                <a:latin typeface="Calibri"/>
              </a:rPr>
              <a:t>Why FQT is essential here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617720"/>
            <a:ext cx="8229600" cy="164592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QAT only quantizes the forward pass — gradients stay FP32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Useless on an MCU that has no FP hardware budget for training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FQT quantizes weights, activations, AND gradients (typically int8)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Reference: Deutel et al. (2024), targeting Cortex-M with 256–512 KB SRAM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Outcome: training memory and FLOPs drop ~4×, with controlled accuracy loss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FQT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FQT — Forward Pass Quantization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28800"/>
            <a:ext cx="4937760" cy="429768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Per-tensor symmetric int8 (Q8.x fixed-point on Cortex-M)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x_q = clip(round(x / s_x), −128, 127);  s_x = max(|x|) / 127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Scales recomputed per mini-batch — captures activation distribution shift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Operator chain after quantization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y_int = (x_q − z_x) · (W_q − z_W)   in int32 accumulator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Re-quantize: y = clip(round(y_int · s_x · s_W / s_y), −128, 127)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Bias added in int32 before re-quantization to avoid early clipping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Activation memory savings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Storing int8 activations cuts intermediate buffers 4× vs. FP32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Critical: backprop still needs them — int8 means 4× more layers 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28800"/>
            <a:ext cx="3200400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965960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1B3F8B"/>
                </a:solidFill>
                <a:latin typeface="Calibri"/>
              </a:rPr>
              <a:t>Quantized GEMM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423160"/>
            <a:ext cx="2834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423160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1F2933"/>
                </a:solidFill>
                <a:latin typeface="Calibri"/>
              </a:rPr>
              <a:t>x  (FP32 activations)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86600.0" y="2880360"/>
            <a:ext cx="0.0" cy="137160"/>
          </a:xfrm>
          <a:prstGeom prst="line">
            <a:avLst/>
          </a:prstGeom>
          <a:ln w="1270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69280" y="3017520"/>
            <a:ext cx="283464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3017520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Quantize  → x_q (int8)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86600.0" y="3474720"/>
            <a:ext cx="0.0" cy="137160"/>
          </a:xfrm>
          <a:prstGeom prst="line">
            <a:avLst/>
          </a:prstGeom>
          <a:ln w="1270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69280" y="3611880"/>
            <a:ext cx="2834640" cy="45720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611880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MatMul (int8 × int8 → int32)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86600.0" y="4069080"/>
            <a:ext cx="0.0" cy="137160"/>
          </a:xfrm>
          <a:prstGeom prst="line">
            <a:avLst/>
          </a:prstGeom>
          <a:ln w="1270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669280" y="4206240"/>
            <a:ext cx="28346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4206240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1F2933"/>
                </a:solidFill>
                <a:latin typeface="Calibri"/>
              </a:rPr>
              <a:t>+ bias  (int32)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86600.0" y="4663440"/>
            <a:ext cx="0.0" cy="137160"/>
          </a:xfrm>
          <a:prstGeom prst="line">
            <a:avLst/>
          </a:prstGeom>
          <a:ln w="1270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669280" y="4800600"/>
            <a:ext cx="283464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800600"/>
            <a:ext cx="2834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Re-quantize → y (int8)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623560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1">
                <a:solidFill>
                  <a:srgbClr val="C97B2D"/>
                </a:solidFill>
                <a:latin typeface="Calibri"/>
              </a:rPr>
              <a:t>Same MAC pipeline, 4× less memory.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FQT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FQT — Backward Pass Quantization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2743200" cy="12801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2024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∂L/∂y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Incoming gradient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from the next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1828800"/>
            <a:ext cx="2743200" cy="12801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92024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∂L/∂x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46888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Input gradient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7432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to the previous layer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828800"/>
            <a:ext cx="2743200" cy="128016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92024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∂L/∂W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46888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Weight gradient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7432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to the optimizer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1">
                <a:solidFill>
                  <a:srgbClr val="C97B2D"/>
                </a:solidFill>
                <a:latin typeface="Calibri"/>
              </a:rPr>
              <a:t>All three must be quantized — but they don't behave like activations.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57600"/>
            <a:ext cx="3977639" cy="242316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657600"/>
            <a:ext cx="3977639" cy="4114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65760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Two New Challenges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69080"/>
            <a:ext cx="3977639" cy="201168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Wider dynamic range than activations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Need per-channel scales, not per-tensor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Quantization noise can bias the optimizer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Net effect compounds over thousands of steps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3657600"/>
            <a:ext cx="3977639" cy="242316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60" y="3657600"/>
            <a:ext cx="3977639" cy="41148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365760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Mitigations (Deutel)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069080"/>
            <a:ext cx="3977639" cy="201168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Stochastic rounding instead of round-to-nearest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Preserves gradient mean — see next slide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Per-channel int8 for gradients; per-tensor for activations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Higher bit-width (int16) for the gradient accumulator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FQT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Stochastic Rounding — The Key Trick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28800"/>
            <a:ext cx="4937760" cy="429768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Round-to-nearest is biased over many small updates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If |update| &lt; ½ · LSB, every step rounds to zero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Net effect: model stops learning — "swamping"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Stochastic rounding: round up with prob = fractional part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E[round_stoch(x)] = x  exactly — zero bias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Small updates accumulate correctly over time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Cost: one PRNG call per quantization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Why it matters here</a:t>
            </a:r>
          </a:p>
          <a:p>
            <a:pPr algn="l" lvl="1">
              <a:spcAft>
                <a:spcPts val="200"/>
              </a:spcAft>
            </a:pPr>
            <a:r>
              <a:rPr sz="1000">
                <a:solidFill>
                  <a:srgbClr val="5C6975"/>
                </a:solidFill>
                <a:latin typeface="Calibri"/>
              </a:rPr>
              <a:t>○  </a:t>
            </a:r>
            <a:r>
              <a:rPr sz="1000">
                <a:solidFill>
                  <a:srgbClr val="1F2933"/>
                </a:solidFill>
                <a:latin typeface="Calibri"/>
              </a:rPr>
              <a:t>FQT's int8 gradient accumulator would otherwise stall after warm-up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28800"/>
            <a:ext cx="3200400" cy="42976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0" y="1828800"/>
            <a:ext cx="3200400" cy="41148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377440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round_stoch(x) =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697480"/>
            <a:ext cx="26517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2715768"/>
            <a:ext cx="24688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onsolas"/>
              </a:rPr>
              <a:t>⌈x⌉  with prob.  x − ⌊x⌋</a:t>
            </a:r>
          </a:p>
          <a:p>
            <a:pPr algn="l"/>
            <a:r>
              <a:rPr sz="1050" b="0" i="0">
                <a:solidFill>
                  <a:srgbClr val="1F2933"/>
                </a:solidFill>
                <a:latin typeface="Consolas"/>
              </a:rPr>
              <a:t>⌊x⌋  with prob.  ⌈x⌉ − 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657600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Property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977640"/>
            <a:ext cx="2651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3977640"/>
            <a:ext cx="26517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onsolas"/>
              </a:rPr>
              <a:t>E[round_stoch(x)] = 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526280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Implementation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4846320"/>
            <a:ext cx="265176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4864608"/>
            <a:ext cx="24688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onsolas"/>
              </a:rPr>
              <a:t>draw u ∼ U(0,1)</a:t>
            </a:r>
          </a:p>
          <a:p>
            <a:pPr algn="l"/>
            <a:r>
              <a:rPr sz="1050" b="0" i="0">
                <a:solidFill>
                  <a:srgbClr val="1F2933"/>
                </a:solidFill>
                <a:latin typeface="Consolas"/>
              </a:rPr>
              <a:t>return ⌊x⌋ + (u &lt; frac(x))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Combining FQT and RigL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2651760" cy="146304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74519"/>
            <a:ext cx="2651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FQT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33172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 i="1">
                <a:solidFill>
                  <a:srgbClr val="F4E9C9"/>
                </a:solidFill>
                <a:latin typeface="Calibri"/>
              </a:rPr>
              <a:t>Reduces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9748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≈ 4× memory &amp; compute / 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828800"/>
            <a:ext cx="2651760" cy="146304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874519"/>
            <a:ext cx="2651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RigL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33172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 i="1">
                <a:solidFill>
                  <a:srgbClr val="F4E9C9"/>
                </a:solidFill>
                <a:latin typeface="Calibri"/>
              </a:rPr>
              <a:t>Reduces operation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69748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≈ 5× FLOPs at 80 % sparsity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1828800"/>
            <a:ext cx="27432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 i="0">
                <a:solidFill>
                  <a:srgbClr val="5C6975"/>
                </a:solidFill>
                <a:latin typeface="Calibri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1828800"/>
            <a:ext cx="27432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400" b="1" i="0">
                <a:solidFill>
                  <a:srgbClr val="5C6975"/>
                </a:solidFill>
                <a:latin typeface="Calibri"/>
              </a:rPr>
              <a:t>=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1828800"/>
            <a:ext cx="2377440" cy="1463040"/>
          </a:xfrm>
          <a:prstGeom prst="rect">
            <a:avLst/>
          </a:prstGeom>
          <a:solidFill>
            <a:srgbClr val="FBF6E5"/>
          </a:solidFill>
          <a:ln w="22225">
            <a:solidFill>
              <a:srgbClr val="C97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192024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000" b="1" i="0">
                <a:solidFill>
                  <a:srgbClr val="C97B2D"/>
                </a:solidFill>
                <a:latin typeface="Calibri"/>
              </a:rPr>
              <a:t>≈ 20×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42316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B3F8B"/>
                </a:solidFill>
                <a:latin typeface="Calibri"/>
              </a:rPr>
              <a:t>memory &amp; compute saving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278892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5C6975"/>
                </a:solidFill>
                <a:latin typeface="Calibri"/>
              </a:rPr>
              <a:t>(upper bound vs. FP32 dense)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0440"/>
            <a:ext cx="3977639" cy="26060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520440"/>
            <a:ext cx="3977639" cy="4114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52044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Why It's Non-Trivial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31920"/>
            <a:ext cx="3977639" cy="219456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Grow step needs ∂L/∂W for currently-zero weights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Quantized gradients must keep enough precision to rank weights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Mask updates change which scales / zero-points are needed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Re-derive per-channel scales on update steps only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Sparse + quantized GEMM kernel doesn't exist off-the-shelf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9160" y="3520440"/>
            <a:ext cx="3977639" cy="26060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9160" y="3520440"/>
            <a:ext cx="3977639" cy="41148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352044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Design Choices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3931920"/>
            <a:ext cx="3977639" cy="219456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Keep ∂L/∂W in int16 only on update steps; int8 otherwise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Custom sparse-GEMM writes directly to a quantized output buffer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Mask refresh aligned with mini-batch boundary — single sync point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Avoids stalling the int32 accumulator mid-batch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8412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F2933"/>
                </a:solidFill>
                <a:latin typeface="Calibri"/>
              </a:rPr>
              <a:t>Memory Budget (Indicative, per 256-unit FC layer)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74519"/>
            <a:ext cx="1828800" cy="50292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74519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1874519"/>
            <a:ext cx="1554480" cy="50292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1874519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FP32 Dense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1874519"/>
            <a:ext cx="1554480" cy="50292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1874519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FQT Dense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1874519"/>
            <a:ext cx="2286000" cy="50292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1874519"/>
            <a:ext cx="2286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FQT + RigL @ 80 %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1874519"/>
            <a:ext cx="1005840" cy="50292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1874519"/>
            <a:ext cx="10058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377439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377439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3F8B"/>
                </a:solidFill>
                <a:latin typeface="Calibri"/>
              </a:rPr>
              <a:t>Weights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2377439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2377439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262 KB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2377439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40" y="2377439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65 KB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2377439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2377439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13 KB + indices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2377439"/>
            <a:ext cx="1005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2377439"/>
            <a:ext cx="731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~16×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880359"/>
            <a:ext cx="1828800" cy="50292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880359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3F8B"/>
                </a:solidFill>
                <a:latin typeface="Calibri"/>
              </a:rPr>
              <a:t>Activations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880359"/>
            <a:ext cx="1554480" cy="50292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2880359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1024 B/sample × 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2880359"/>
            <a:ext cx="1554480" cy="50292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77640" y="2880359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256 B/sample × 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4960" y="2880359"/>
            <a:ext cx="2286000" cy="50292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2880359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256 B/sample × 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2880359"/>
            <a:ext cx="1005840" cy="50292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2880359"/>
            <a:ext cx="731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4×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383279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383279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3F8B"/>
                </a:solidFill>
                <a:latin typeface="Calibri"/>
              </a:rPr>
              <a:t>Gradients (weights)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3383279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23160" y="3383279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262 KB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3383279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77640" y="3383279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65 KB (int8)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4960" y="3383279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2120" y="3383279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13 KB (sparse)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0" y="3383279"/>
            <a:ext cx="1005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18120" y="3383279"/>
            <a:ext cx="731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~16×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886199"/>
            <a:ext cx="1828800" cy="50292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3886199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3F8B"/>
                </a:solidFill>
                <a:latin typeface="Calibri"/>
              </a:rPr>
              <a:t>Optimizer state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0" y="3886199"/>
            <a:ext cx="1554480" cy="50292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23160" y="3886199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524 KB (Adam m,v)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3886199"/>
            <a:ext cx="1554480" cy="50292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77640" y="3886199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131 KB (int8 m,v)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4960" y="3886199"/>
            <a:ext cx="2286000" cy="50292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2120" y="3886199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26 KB (sparse)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3886199"/>
            <a:ext cx="1005840" cy="50292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18120" y="3886199"/>
            <a:ext cx="731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1F2933"/>
                </a:solidFill>
                <a:latin typeface="Calibri"/>
              </a:rPr>
              <a:t>~20×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389119"/>
            <a:ext cx="1828800" cy="502920"/>
          </a:xfrm>
          <a:prstGeom prst="rect">
            <a:avLst/>
          </a:prstGeom>
          <a:solidFill>
            <a:srgbClr val="F4E9C9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4389119"/>
            <a:ext cx="1554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B3F8B"/>
                </a:solidFill>
                <a:latin typeface="Calibri"/>
              </a:rPr>
              <a:t>Total (per layer)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0" y="4389119"/>
            <a:ext cx="1554480" cy="502920"/>
          </a:xfrm>
          <a:prstGeom prst="rect">
            <a:avLst/>
          </a:prstGeom>
          <a:solidFill>
            <a:srgbClr val="F4E9C9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23160" y="4389119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B3F8B"/>
                </a:solidFill>
                <a:latin typeface="Calibri"/>
              </a:rPr>
              <a:t>~1 MB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4389119"/>
            <a:ext cx="1554480" cy="502920"/>
          </a:xfrm>
          <a:prstGeom prst="rect">
            <a:avLst/>
          </a:prstGeom>
          <a:solidFill>
            <a:srgbClr val="F4E9C9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77640" y="4389119"/>
            <a:ext cx="1280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B3F8B"/>
                </a:solidFill>
                <a:latin typeface="Calibri"/>
              </a:rPr>
              <a:t>~256 KB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94960" y="4389119"/>
            <a:ext cx="2286000" cy="502920"/>
          </a:xfrm>
          <a:prstGeom prst="rect">
            <a:avLst/>
          </a:prstGeom>
          <a:solidFill>
            <a:srgbClr val="F4E9C9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32120" y="4389119"/>
            <a:ext cx="2011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F7A4D"/>
                </a:solidFill>
                <a:latin typeface="Calibri"/>
              </a:rPr>
              <a:t>~50 KB + masks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80960" y="4389119"/>
            <a:ext cx="1005840" cy="502920"/>
          </a:xfrm>
          <a:prstGeom prst="rect">
            <a:avLst/>
          </a:prstGeom>
          <a:solidFill>
            <a:srgbClr val="F4E9C9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18120" y="4389119"/>
            <a:ext cx="7315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C97B2D"/>
                </a:solidFill>
                <a:latin typeface="Calibri"/>
              </a:rPr>
              <a:t>~20×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C6975"/>
                </a:solidFill>
                <a:latin typeface="Calibri"/>
              </a:rPr>
              <a:t>Numbers are illustrative for a 256×256 fully-connected layer; real STM32 budget will be measured experimentally.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577840"/>
            <a:ext cx="8229600" cy="640080"/>
          </a:xfrm>
          <a:prstGeom prst="rect">
            <a:avLst/>
          </a:prstGeom>
          <a:solidFill>
            <a:srgbClr val="FBF6E5"/>
          </a:solidFill>
          <a:ln w="15875">
            <a:solidFill>
              <a:srgbClr val="C97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5650992"/>
            <a:ext cx="78638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1B3F8B"/>
                </a:solidFill>
                <a:latin typeface="Calibri"/>
              </a:rPr>
              <a:t>From ~1 MB → ~50 KB per layer puts a 5–10 layer model inside a 320 KB MCU.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Target: STM32 Nucleo-F746ZG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3977639" cy="42976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28800"/>
            <a:ext cx="3977639" cy="4114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82880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Specifications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37744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377440"/>
            <a:ext cx="2697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Arm Cortex-M7 @ 216 MHz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8892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FPU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788920"/>
            <a:ext cx="2697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Single-precision FPU + DSP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0040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Flash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200400"/>
            <a:ext cx="2697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1 MB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61188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SRAM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611880"/>
            <a:ext cx="2697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320 KB (256 KB + 64 KB)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02336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Cache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023360"/>
            <a:ext cx="2697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16 KB I-cache + 16 KB D-cache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43484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FLOPS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434840"/>
            <a:ext cx="2697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~432 MFLOPS theoretical (FP32)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4632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I/O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846320"/>
            <a:ext cx="2697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Ethernet, USB, UART, multiple ADCs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5780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C97B2D"/>
                </a:solidFill>
                <a:latin typeface="Calibri"/>
              </a:rPr>
              <a:t>Power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257800"/>
            <a:ext cx="269748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~150 mW typical at full load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1828800"/>
            <a:ext cx="3977639" cy="42976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1828800"/>
            <a:ext cx="3977639" cy="41148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60" y="182880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What the Hardware Forces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2240280"/>
            <a:ext cx="3977639" cy="388620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320 KB SRAM is the hard limit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Model + activations + grads + optimizer state must all fit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FPU exists but is too slow for full backprop in real time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Integer arithmetic via CMSIS-NN is preferred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No GPU, no DMA-accelerated sparse kernels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Roll our own sparse matmul or accept structured sparsity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B3F8B"/>
                </a:solidFill>
                <a:latin typeface="Calibri"/>
              </a:rPr>
              <a:t>■  </a:t>
            </a:r>
            <a:r>
              <a:rPr sz="1050" b="1">
                <a:solidFill>
                  <a:srgbClr val="1B3F8B"/>
                </a:solidFill>
                <a:latin typeface="Calibri"/>
              </a:rPr>
              <a:t>Power budget: 100–200 mW</a:t>
            </a:r>
          </a:p>
          <a:p>
            <a:pPr algn="l" lvl="1">
              <a:spcAft>
                <a:spcPts val="200"/>
              </a:spcAft>
            </a:pPr>
            <a:r>
              <a:rPr sz="950">
                <a:solidFill>
                  <a:srgbClr val="5C6975"/>
                </a:solidFill>
                <a:latin typeface="Calibri"/>
              </a:rPr>
              <a:t>○  </a:t>
            </a:r>
            <a:r>
              <a:rPr sz="950">
                <a:solidFill>
                  <a:srgbClr val="1F2933"/>
                </a:solidFill>
                <a:latin typeface="Calibri"/>
              </a:rPr>
              <a:t>Every saved op directly extends battery life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LibriSpeech Speaker Identification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1F2933"/>
                </a:solidFill>
                <a:latin typeface="Calibri"/>
              </a:rPr>
              <a:t>Identify which of N enrolled speakers produced an audio segment — closed-set classification on LibriSpeech-clean (subset of speakers).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46120"/>
            <a:ext cx="1508760" cy="8686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40"/>
            <a:ext cx="1508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16 kHz audio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65960" y="3680460.0"/>
            <a:ext cx="164592" cy="0.0"/>
          </a:xfrm>
          <a:prstGeom prst="line">
            <a:avLst/>
          </a:prstGeom>
          <a:ln w="1905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130552" y="3246120"/>
            <a:ext cx="1508760" cy="8686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0552" y="3383280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Pre-emphasis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0552" y="3749040"/>
            <a:ext cx="1508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25 ms / 10 ms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39312" y="3680460.0"/>
            <a:ext cx="164592" cy="0.0"/>
          </a:xfrm>
          <a:prstGeom prst="line">
            <a:avLst/>
          </a:prstGeom>
          <a:ln w="1905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803904" y="3246120"/>
            <a:ext cx="1508760" cy="8686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03904" y="3383280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40-ch log-Mel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03904" y="3749040"/>
            <a:ext cx="1508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on-device FFT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12664" y="3680460.0"/>
            <a:ext cx="164592" cy="0.0"/>
          </a:xfrm>
          <a:prstGeom prst="line">
            <a:avLst/>
          </a:prstGeom>
          <a:ln w="1905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477256" y="3246120"/>
            <a:ext cx="1508760" cy="86868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77256" y="3383280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 conv blocks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7256" y="3749040"/>
            <a:ext cx="1508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global pool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86016" y="3680460.0"/>
            <a:ext cx="164592" cy="0.0"/>
          </a:xfrm>
          <a:prstGeom prst="line">
            <a:avLst/>
          </a:prstGeom>
          <a:ln w="19050">
            <a:solidFill>
              <a:srgbClr val="5C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150608" y="3246120"/>
            <a:ext cx="1508760" cy="8686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0608" y="3383280"/>
            <a:ext cx="1508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FC head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3749040"/>
            <a:ext cx="15087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1">
                <a:solidFill>
                  <a:srgbClr val="F4E9C9"/>
                </a:solidFill>
                <a:latin typeface="Calibri"/>
              </a:rPr>
              <a:t>N speaker logits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B3F8B"/>
                </a:solidFill>
                <a:latin typeface="Calibri"/>
              </a:rPr>
              <a:t>Why this fits the experiment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846320"/>
            <a:ext cx="2697480" cy="128016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956048"/>
            <a:ext cx="2423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C97B2D"/>
                </a:solidFill>
                <a:latin typeface="Calibri"/>
              </a:rPr>
              <a:t>Right size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303520"/>
            <a:ext cx="2423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Speech features are stationary enough to run on a Cortex-M7.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4846320"/>
            <a:ext cx="2697480" cy="128016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4956048"/>
            <a:ext cx="2423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C97B2D"/>
                </a:solidFill>
                <a:latin typeface="Calibri"/>
              </a:rPr>
              <a:t>Right use case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5303520"/>
            <a:ext cx="2423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Speaker enrollment is a perfect on-device adaptation use case.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846320"/>
            <a:ext cx="2697480" cy="128016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4956048"/>
            <a:ext cx="2423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C97B2D"/>
                </a:solidFill>
                <a:latin typeface="Calibri"/>
              </a:rPr>
              <a:t>Right dataset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5303520"/>
            <a:ext cx="24231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LibriSpeech provides clean, well-balanced labels for evaluation.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Risk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Anticipated Risks &amp; Mitigations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310896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28800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1828800"/>
            <a:ext cx="3931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1828800"/>
            <a:ext cx="3931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1828800"/>
            <a:ext cx="11887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828800"/>
            <a:ext cx="11887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286000"/>
            <a:ext cx="3108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286000"/>
            <a:ext cx="2834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</a:rPr>
              <a:t>Accuracy collapse from compounding int8 errors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286000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2286000"/>
            <a:ext cx="36576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Stochastic rounding + per-channel grad scales + int16 accumulator on update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0" y="2286000"/>
            <a:ext cx="1188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62672" y="2487168"/>
            <a:ext cx="365760" cy="365760"/>
          </a:xfrm>
          <a:prstGeom prst="ellipse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286000"/>
            <a:ext cx="6400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B23B3B"/>
                </a:solidFill>
                <a:latin typeface="Calibri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63240"/>
            <a:ext cx="3108960" cy="77724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063240"/>
            <a:ext cx="2834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</a:rPr>
              <a:t>Sparse GEMM kernel slower than dense int8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3063240"/>
            <a:ext cx="3931920" cy="77724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063240"/>
            <a:ext cx="36576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Fall back to block-structured sparsity if unstructured doesn't beat dense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3063240"/>
            <a:ext cx="1188720" cy="77724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62672" y="3264408"/>
            <a:ext cx="365760" cy="365760"/>
          </a:xfrm>
          <a:prstGeom prst="ellipse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063240"/>
            <a:ext cx="6400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B23B3B"/>
                </a:solidFill>
                <a:latin typeface="Calibri"/>
              </a:rP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40480"/>
            <a:ext cx="3108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840480"/>
            <a:ext cx="2834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</a:rPr>
              <a:t>RigL grow step exceeds SRAM budget at update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3840480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3840480"/>
            <a:ext cx="36576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Update one layer at a time; reuse a single dense scratch buffer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0" y="3840480"/>
            <a:ext cx="1188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662672" y="4041648"/>
            <a:ext cx="365760" cy="365760"/>
          </a:xfrm>
          <a:prstGeom prst="ellipse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3840480"/>
            <a:ext cx="6400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Medium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617720"/>
            <a:ext cx="3108960" cy="77724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617720"/>
            <a:ext cx="2834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</a:rPr>
              <a:t>Mask updates desync with batch norm statistics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4617720"/>
            <a:ext cx="3931920" cy="77724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3320" y="4617720"/>
            <a:ext cx="36576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Freeze BN running stats during mask updates; recompute after T_end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0" y="4617720"/>
            <a:ext cx="1188720" cy="777240"/>
          </a:xfrm>
          <a:prstGeom prst="rect">
            <a:avLst/>
          </a:prstGeom>
          <a:solidFill>
            <a:srgbClr val="FBF6E5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662672" y="4818888"/>
            <a:ext cx="365760" cy="365760"/>
          </a:xfrm>
          <a:prstGeom prst="ellipse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4617720"/>
            <a:ext cx="6400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C97B2D"/>
                </a:solidFill>
                <a:latin typeface="Calibri"/>
              </a:rPr>
              <a:t>Medium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394960"/>
            <a:ext cx="3108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394960"/>
            <a:ext cx="2834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Calibri"/>
              </a:rPr>
              <a:t>LibriSpeech speaker-ID baseline tuning eats time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5394960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03320" y="5394960"/>
            <a:ext cx="36576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1F2933"/>
                </a:solidFill>
                <a:latin typeface="Calibri"/>
              </a:rPr>
              <a:t>Lock the architecture early (3-block CNN); tune sparsity instead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80" y="5394960"/>
            <a:ext cx="1188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62672" y="5596128"/>
            <a:ext cx="365760" cy="36576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0" y="5394960"/>
            <a:ext cx="6400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1F7A4D"/>
                </a:solidFill>
                <a:latin typeface="Calibri"/>
              </a:rPr>
              <a:t>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Experimental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Experimental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1371600" cy="13258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05740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46888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1">
                <a:solidFill>
                  <a:srgbClr val="F4E9C9"/>
                </a:solidFill>
                <a:latin typeface="Calibri"/>
              </a:rPr>
              <a:t>Weeks 1–4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1828800"/>
            <a:ext cx="6812280" cy="13258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1965960"/>
            <a:ext cx="6446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C97B2D"/>
                </a:solidFill>
                <a:latin typeface="Calibri"/>
              </a:rPr>
              <a:t>Baselines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2331720"/>
            <a:ext cx="64465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FP32 dense, QAT-int8 dense, RigL FP32 dense — run on workstation GPU; measure top-1 accuracy at the same parameter / FLOP budget.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1371600" cy="13258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2044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1">
                <a:solidFill>
                  <a:srgbClr val="F4E9C9"/>
                </a:solidFill>
                <a:latin typeface="Calibri"/>
              </a:rPr>
              <a:t>Weeks 5–10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19" y="3291840"/>
            <a:ext cx="6812280" cy="13258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29000"/>
            <a:ext cx="6446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C97B2D"/>
                </a:solidFill>
                <a:latin typeface="Calibri"/>
              </a:rPr>
              <a:t>FQT + RigL on GPU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794760"/>
            <a:ext cx="64465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Implement the combined training loop in PyTorch with simulated int8 ops; measure accuracy degradation vs. each technique alone.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1371600" cy="13258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8348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9496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1">
                <a:solidFill>
                  <a:srgbClr val="F4E9C9"/>
                </a:solidFill>
                <a:latin typeface="Calibri"/>
              </a:rPr>
              <a:t>Weeks 11–16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4754880"/>
            <a:ext cx="6812280" cy="132588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4892040"/>
            <a:ext cx="6446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C97B2D"/>
                </a:solidFill>
                <a:latin typeface="Calibri"/>
              </a:rPr>
              <a:t>MCU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257800"/>
            <a:ext cx="64465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1F2933"/>
                </a:solidFill>
                <a:latin typeface="Calibri"/>
              </a:rPr>
              <a:t>Port forward + backward kernels to CMSIS-NN on the Nucleo-F746ZG; measure peak SRAM, latency per training step, and energy per step.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8076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1">
                <a:solidFill>
                  <a:srgbClr val="1B3F8B"/>
                </a:solidFill>
                <a:latin typeface="Calibri"/>
              </a:rPr>
              <a:t>Deliverable: working end-to-end prototype with results across the four conditions.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9525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5720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3F8B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73152"/>
            <a:ext cx="2011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1B3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73152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09728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UNIVERSITÄT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"/>
            <a:ext cx="14173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1B3F8B"/>
                </a:solidFill>
                <a:latin typeface="Calibri"/>
              </a:rPr>
              <a:t>DUISBURG · ESSEN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84048"/>
            <a:ext cx="14173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00" b="0" i="1">
                <a:solidFill>
                  <a:srgbClr val="5C6975"/>
                </a:solidFill>
                <a:latin typeface="Calibri"/>
              </a:rPr>
              <a:t>Offen im Denken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6492240"/>
            <a:ext cx="8412480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65379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C6975"/>
                </a:solidFill>
                <a:latin typeface="Calibri"/>
              </a:rPr>
              <a:t>www.uni-due.de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379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 i="0">
                <a:solidFill>
                  <a:srgbClr val="5C6975"/>
                </a:solidFill>
                <a:latin typeface="Calibri"/>
              </a:rPr>
              <a:t>04.05.2026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C6975"/>
                </a:solidFill>
                <a:latin typeface="Calibri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Conclusion and Future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1581912"/>
            <a:ext cx="502920" cy="381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3977639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28800"/>
            <a:ext cx="3977639" cy="41148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82880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828800"/>
            <a:ext cx="3977639" cy="4206240"/>
          </a:xfrm>
          <a:prstGeom prst="rect">
            <a:avLst/>
          </a:prstGeom>
          <a:solidFill>
            <a:srgbClr val="FBF6E5"/>
          </a:solidFill>
          <a:ln>
            <a:solidFill>
              <a:srgbClr val="C9C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1828800"/>
            <a:ext cx="3977639" cy="411480"/>
          </a:xfrm>
          <a:prstGeom prst="rect">
            <a:avLst/>
          </a:prstGeom>
          <a:solidFill>
            <a:srgbClr val="C9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828800"/>
            <a:ext cx="39776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240280"/>
            <a:ext cx="3977639" cy="379476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On-device training is bounded by activation memory more than by weight memory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Quantization saves FLOPs and per-op energy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Sparsity saves operation count itself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FQT + RigL are complementary — together they close the gap to MCU-scale budgets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Stochastic rounding is the linchpin that keeps low-precision gradients useful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240280"/>
            <a:ext cx="3977639" cy="3794760"/>
          </a:xfrm>
          <a:prstGeom prst="rect">
            <a:avLst/>
          </a:prstGeom>
          <a:noFill/>
        </p:spPr>
        <p:txBody>
          <a:bodyPr wrap="square" lIns="164592" rIns="164592" tIns="137160" bIns="9144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Structured (block-sparse) RigL variants for friendlier MCU kernels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Int4 weights with int8 gradients — push memory savings further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Federated FQT-RigL: aggregate sparse quantized updates across devices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Energy benchmarking on STM32 vs. accuracy delta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B3F8B"/>
                </a:solidFill>
                <a:latin typeface="Calibri"/>
              </a:rPr>
              <a:t>■  </a:t>
            </a:r>
            <a:r>
              <a:rPr sz="1100" b="1">
                <a:solidFill>
                  <a:srgbClr val="1B3F8B"/>
                </a:solidFill>
                <a:latin typeface="Calibri"/>
              </a:rPr>
              <a:t>Extension to keyword spotting and speaker verification (open-set)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9144000" cy="2194560"/>
          </a:xfrm>
          <a:prstGeom prst="rect">
            <a:avLst/>
          </a:prstGeom>
          <a:solidFill>
            <a:srgbClr val="F4E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606040"/>
            <a:ext cx="91440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4400" b="1" i="0">
                <a:solidFill>
                  <a:srgbClr val="1B3F8B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9144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0" i="1">
                <a:solidFill>
                  <a:srgbClr val="C97B2D"/>
                </a:solidFill>
                <a:latin typeface="Calibri"/>
              </a:rPr>
              <a:t>Questions, feedback, and pushback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94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 i="0">
                <a:solidFill>
                  <a:srgbClr val="5C6975"/>
                </a:solidFill>
                <a:latin typeface="Calibri"/>
              </a:rPr>
              <a:t>Mohamed Elshorbagy  ·  Universität Duisburg-Essen  ·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83480"/>
            <a:ext cx="9144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F4E9C9"/>
                </a:solidFill>
                <a:latin typeface="Calibri"/>
              </a:rPr>
              <a:t>On-Device Training for Edge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49240"/>
            <a:ext cx="9144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Combining Sparsity (RigL) and Fully Quantized Training (FQT)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