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81" r:id="rId11"/>
    <p:sldId id="266" r:id="rId12"/>
    <p:sldId id="267" r:id="rId13"/>
    <p:sldId id="268" r:id="rId14"/>
    <p:sldId id="269" r:id="rId15"/>
    <p:sldId id="270" r:id="rId16"/>
    <p:sldId id="271" r:id="rId17"/>
    <p:sldId id="282" r:id="rId18"/>
    <p:sldId id="283" r:id="rId19"/>
    <p:sldId id="272" r:id="rId20"/>
    <p:sldId id="273" r:id="rId21"/>
    <p:sldId id="274" r:id="rId22"/>
    <p:sldId id="285" r:id="rId23"/>
    <p:sldId id="284" r:id="rId24"/>
    <p:sldId id="276" r:id="rId25"/>
    <p:sldId id="277" r:id="rId26"/>
    <p:sldId id="279" r:id="rId27"/>
    <p:sldId id="278" r:id="rId28"/>
    <p:sldId id="28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43" autoAdjust="0"/>
    <p:restoredTop sz="94660"/>
  </p:normalViewPr>
  <p:slideViewPr>
    <p:cSldViewPr snapToGrid="0">
      <p:cViewPr varScale="1">
        <p:scale>
          <a:sx n="157" d="100"/>
          <a:sy n="157" d="100"/>
        </p:scale>
        <p:origin x="192" y="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n-US"/>
          </a:p>
        </p:txBody>
      </p:sp>
      <p:sp>
        <p:nvSpPr>
          <p:cNvPr id="4" name="Marcador de fecha 3"/>
          <p:cNvSpPr>
            <a:spLocks noGrp="1"/>
          </p:cNvSpPr>
          <p:nvPr>
            <p:ph type="dt" sz="half" idx="10"/>
          </p:nvPr>
        </p:nvSpPr>
        <p:spPr/>
        <p:txBody>
          <a:bodyPr/>
          <a:lstStyle/>
          <a:p>
            <a:fld id="{A9596DBB-5DA8-43B2-87A9-AD7AA8E7DD7E}" type="datetimeFigureOut">
              <a:rPr lang="en-US" smtClean="0"/>
              <a:t>11/5/25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13798AB0-9434-40E4-B245-331F538528D4}" type="slidenum">
              <a:rPr lang="en-US" smtClean="0"/>
              <a:t>‹Nr.›</a:t>
            </a:fld>
            <a:endParaRPr lang="en-US"/>
          </a:p>
        </p:txBody>
      </p:sp>
    </p:spTree>
    <p:extLst>
      <p:ext uri="{BB962C8B-B14F-4D97-AF65-F5344CB8AC3E}">
        <p14:creationId xmlns:p14="http://schemas.microsoft.com/office/powerpoint/2010/main" val="3837474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A9596DBB-5DA8-43B2-87A9-AD7AA8E7DD7E}" type="datetimeFigureOut">
              <a:rPr lang="en-US" smtClean="0"/>
              <a:t>11/5/25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13798AB0-9434-40E4-B245-331F538528D4}" type="slidenum">
              <a:rPr lang="en-US" smtClean="0"/>
              <a:t>‹Nr.›</a:t>
            </a:fld>
            <a:endParaRPr lang="en-US"/>
          </a:p>
        </p:txBody>
      </p:sp>
    </p:spTree>
    <p:extLst>
      <p:ext uri="{BB962C8B-B14F-4D97-AF65-F5344CB8AC3E}">
        <p14:creationId xmlns:p14="http://schemas.microsoft.com/office/powerpoint/2010/main" val="1773039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A9596DBB-5DA8-43B2-87A9-AD7AA8E7DD7E}" type="datetimeFigureOut">
              <a:rPr lang="en-US" smtClean="0"/>
              <a:t>11/5/25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13798AB0-9434-40E4-B245-331F538528D4}" type="slidenum">
              <a:rPr lang="en-US" smtClean="0"/>
              <a:t>‹Nr.›</a:t>
            </a:fld>
            <a:endParaRPr lang="en-US"/>
          </a:p>
        </p:txBody>
      </p:sp>
    </p:spTree>
    <p:extLst>
      <p:ext uri="{BB962C8B-B14F-4D97-AF65-F5344CB8AC3E}">
        <p14:creationId xmlns:p14="http://schemas.microsoft.com/office/powerpoint/2010/main" val="3195932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p:cNvSpPr>
            <a:spLocks noGrp="1"/>
          </p:cNvSpPr>
          <p:nvPr>
            <p:ph type="dt" sz="half" idx="10"/>
          </p:nvPr>
        </p:nvSpPr>
        <p:spPr/>
        <p:txBody>
          <a:bodyPr/>
          <a:lstStyle/>
          <a:p>
            <a:fld id="{A9596DBB-5DA8-43B2-87A9-AD7AA8E7DD7E}" type="datetimeFigureOut">
              <a:rPr lang="en-US" smtClean="0"/>
              <a:t>11/5/25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13798AB0-9434-40E4-B245-331F538528D4}" type="slidenum">
              <a:rPr lang="en-US" smtClean="0"/>
              <a:t>‹Nr.›</a:t>
            </a:fld>
            <a:endParaRPr lang="en-US"/>
          </a:p>
        </p:txBody>
      </p:sp>
    </p:spTree>
    <p:extLst>
      <p:ext uri="{BB962C8B-B14F-4D97-AF65-F5344CB8AC3E}">
        <p14:creationId xmlns:p14="http://schemas.microsoft.com/office/powerpoint/2010/main" val="2133506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p:cNvSpPr>
            <a:spLocks noGrp="1"/>
          </p:cNvSpPr>
          <p:nvPr>
            <p:ph type="dt" sz="half" idx="10"/>
          </p:nvPr>
        </p:nvSpPr>
        <p:spPr/>
        <p:txBody>
          <a:bodyPr/>
          <a:lstStyle/>
          <a:p>
            <a:fld id="{A9596DBB-5DA8-43B2-87A9-AD7AA8E7DD7E}" type="datetimeFigureOut">
              <a:rPr lang="en-US" smtClean="0"/>
              <a:t>11/5/25</a:t>
            </a:fld>
            <a:endParaRPr lang="en-US"/>
          </a:p>
        </p:txBody>
      </p:sp>
      <p:sp>
        <p:nvSpPr>
          <p:cNvPr id="8" name="Marcador de pie de página 7"/>
          <p:cNvSpPr>
            <a:spLocks noGrp="1"/>
          </p:cNvSpPr>
          <p:nvPr>
            <p:ph type="ftr" sz="quarter" idx="11"/>
          </p:nvPr>
        </p:nvSpPr>
        <p:spPr/>
        <p:txBody>
          <a:bodyPr/>
          <a:lstStyle/>
          <a:p>
            <a:endParaRPr lang="en-US"/>
          </a:p>
        </p:txBody>
      </p:sp>
      <p:sp>
        <p:nvSpPr>
          <p:cNvPr id="9" name="Marcador de número de diapositiva 8"/>
          <p:cNvSpPr>
            <a:spLocks noGrp="1"/>
          </p:cNvSpPr>
          <p:nvPr>
            <p:ph type="sldNum" sz="quarter" idx="12"/>
          </p:nvPr>
        </p:nvSpPr>
        <p:spPr/>
        <p:txBody>
          <a:bodyPr/>
          <a:lstStyle/>
          <a:p>
            <a:fld id="{13798AB0-9434-40E4-B245-331F538528D4}" type="slidenum">
              <a:rPr lang="en-US" smtClean="0"/>
              <a:t>‹Nr.›</a:t>
            </a:fld>
            <a:endParaRPr lang="en-US"/>
          </a:p>
        </p:txBody>
      </p:sp>
    </p:spTree>
    <p:extLst>
      <p:ext uri="{BB962C8B-B14F-4D97-AF65-F5344CB8AC3E}">
        <p14:creationId xmlns:p14="http://schemas.microsoft.com/office/powerpoint/2010/main" val="1990756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fecha 2"/>
          <p:cNvSpPr>
            <a:spLocks noGrp="1"/>
          </p:cNvSpPr>
          <p:nvPr>
            <p:ph type="dt" sz="half" idx="10"/>
          </p:nvPr>
        </p:nvSpPr>
        <p:spPr/>
        <p:txBody>
          <a:bodyPr/>
          <a:lstStyle/>
          <a:p>
            <a:fld id="{A9596DBB-5DA8-43B2-87A9-AD7AA8E7DD7E}" type="datetimeFigureOut">
              <a:rPr lang="en-US" smtClean="0"/>
              <a:t>11/5/25</a:t>
            </a:fld>
            <a:endParaRPr lang="en-US"/>
          </a:p>
        </p:txBody>
      </p:sp>
      <p:sp>
        <p:nvSpPr>
          <p:cNvPr id="4" name="Marcador de pie de página 3"/>
          <p:cNvSpPr>
            <a:spLocks noGrp="1"/>
          </p:cNvSpPr>
          <p:nvPr>
            <p:ph type="ftr" sz="quarter" idx="11"/>
          </p:nvPr>
        </p:nvSpPr>
        <p:spPr/>
        <p:txBody>
          <a:bodyPr/>
          <a:lstStyle/>
          <a:p>
            <a:endParaRPr lang="en-US"/>
          </a:p>
        </p:txBody>
      </p:sp>
      <p:sp>
        <p:nvSpPr>
          <p:cNvPr id="5" name="Marcador de número de diapositiva 4"/>
          <p:cNvSpPr>
            <a:spLocks noGrp="1"/>
          </p:cNvSpPr>
          <p:nvPr>
            <p:ph type="sldNum" sz="quarter" idx="12"/>
          </p:nvPr>
        </p:nvSpPr>
        <p:spPr/>
        <p:txBody>
          <a:bodyPr/>
          <a:lstStyle/>
          <a:p>
            <a:fld id="{13798AB0-9434-40E4-B245-331F538528D4}" type="slidenum">
              <a:rPr lang="en-US" smtClean="0"/>
              <a:t>‹Nr.›</a:t>
            </a:fld>
            <a:endParaRPr lang="en-US"/>
          </a:p>
        </p:txBody>
      </p:sp>
    </p:spTree>
    <p:extLst>
      <p:ext uri="{BB962C8B-B14F-4D97-AF65-F5344CB8AC3E}">
        <p14:creationId xmlns:p14="http://schemas.microsoft.com/office/powerpoint/2010/main" val="3498858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A9596DBB-5DA8-43B2-87A9-AD7AA8E7DD7E}" type="datetimeFigureOut">
              <a:rPr lang="en-US" smtClean="0"/>
              <a:t>11/5/25</a:t>
            </a:fld>
            <a:endParaRPr lang="en-US"/>
          </a:p>
        </p:txBody>
      </p:sp>
      <p:sp>
        <p:nvSpPr>
          <p:cNvPr id="3" name="Marcador de pie de página 2"/>
          <p:cNvSpPr>
            <a:spLocks noGrp="1"/>
          </p:cNvSpPr>
          <p:nvPr>
            <p:ph type="ftr" sz="quarter" idx="11"/>
          </p:nvPr>
        </p:nvSpPr>
        <p:spPr/>
        <p:txBody>
          <a:bodyPr/>
          <a:lstStyle/>
          <a:p>
            <a:endParaRPr lang="en-US"/>
          </a:p>
        </p:txBody>
      </p:sp>
      <p:sp>
        <p:nvSpPr>
          <p:cNvPr id="4" name="Marcador de número de diapositiva 3"/>
          <p:cNvSpPr>
            <a:spLocks noGrp="1"/>
          </p:cNvSpPr>
          <p:nvPr>
            <p:ph type="sldNum" sz="quarter" idx="12"/>
          </p:nvPr>
        </p:nvSpPr>
        <p:spPr/>
        <p:txBody>
          <a:bodyPr/>
          <a:lstStyle/>
          <a:p>
            <a:fld id="{13798AB0-9434-40E4-B245-331F538528D4}" type="slidenum">
              <a:rPr lang="en-US" smtClean="0"/>
              <a:t>‹Nr.›</a:t>
            </a:fld>
            <a:endParaRPr lang="en-US"/>
          </a:p>
        </p:txBody>
      </p:sp>
    </p:spTree>
    <p:extLst>
      <p:ext uri="{BB962C8B-B14F-4D97-AF65-F5344CB8AC3E}">
        <p14:creationId xmlns:p14="http://schemas.microsoft.com/office/powerpoint/2010/main" val="2282582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A9596DBB-5DA8-43B2-87A9-AD7AA8E7DD7E}" type="datetimeFigureOut">
              <a:rPr lang="en-US" smtClean="0"/>
              <a:t>11/5/25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13798AB0-9434-40E4-B245-331F538528D4}" type="slidenum">
              <a:rPr lang="en-US" smtClean="0"/>
              <a:t>‹Nr.›</a:t>
            </a:fld>
            <a:endParaRPr lang="en-US"/>
          </a:p>
        </p:txBody>
      </p:sp>
    </p:spTree>
    <p:extLst>
      <p:ext uri="{BB962C8B-B14F-4D97-AF65-F5344CB8AC3E}">
        <p14:creationId xmlns:p14="http://schemas.microsoft.com/office/powerpoint/2010/main" val="4108185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A9596DBB-5DA8-43B2-87A9-AD7AA8E7DD7E}" type="datetimeFigureOut">
              <a:rPr lang="en-US" smtClean="0"/>
              <a:t>11/5/25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13798AB0-9434-40E4-B245-331F538528D4}" type="slidenum">
              <a:rPr lang="en-US" smtClean="0"/>
              <a:t>‹Nr.›</a:t>
            </a:fld>
            <a:endParaRPr lang="en-US"/>
          </a:p>
        </p:txBody>
      </p:sp>
    </p:spTree>
    <p:extLst>
      <p:ext uri="{BB962C8B-B14F-4D97-AF65-F5344CB8AC3E}">
        <p14:creationId xmlns:p14="http://schemas.microsoft.com/office/powerpoint/2010/main" val="401376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A9596DBB-5DA8-43B2-87A9-AD7AA8E7DD7E}" type="datetimeFigureOut">
              <a:rPr lang="en-US" smtClean="0"/>
              <a:t>11/5/25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13798AB0-9434-40E4-B245-331F538528D4}" type="slidenum">
              <a:rPr lang="en-US" smtClean="0"/>
              <a:t>‹Nr.›</a:t>
            </a:fld>
            <a:endParaRPr lang="en-US"/>
          </a:p>
        </p:txBody>
      </p:sp>
    </p:spTree>
    <p:extLst>
      <p:ext uri="{BB962C8B-B14F-4D97-AF65-F5344CB8AC3E}">
        <p14:creationId xmlns:p14="http://schemas.microsoft.com/office/powerpoint/2010/main" val="692337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A9596DBB-5DA8-43B2-87A9-AD7AA8E7DD7E}" type="datetimeFigureOut">
              <a:rPr lang="en-US" smtClean="0"/>
              <a:t>11/5/25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13798AB0-9434-40E4-B245-331F538528D4}" type="slidenum">
              <a:rPr lang="en-US" smtClean="0"/>
              <a:t>‹Nr.›</a:t>
            </a:fld>
            <a:endParaRPr lang="en-US"/>
          </a:p>
        </p:txBody>
      </p:sp>
    </p:spTree>
    <p:extLst>
      <p:ext uri="{BB962C8B-B14F-4D97-AF65-F5344CB8AC3E}">
        <p14:creationId xmlns:p14="http://schemas.microsoft.com/office/powerpoint/2010/main" val="2558955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596DBB-5DA8-43B2-87A9-AD7AA8E7DD7E}" type="datetimeFigureOut">
              <a:rPr lang="en-US" smtClean="0"/>
              <a:t>11/5/25</a:t>
            </a:fld>
            <a:endParaRPr lang="en-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798AB0-9434-40E4-B245-331F538528D4}" type="slidenum">
              <a:rPr lang="en-US" smtClean="0"/>
              <a:t>‹Nr.›</a:t>
            </a:fld>
            <a:endParaRPr lang="en-US"/>
          </a:p>
        </p:txBody>
      </p:sp>
    </p:spTree>
    <p:extLst>
      <p:ext uri="{BB962C8B-B14F-4D97-AF65-F5344CB8AC3E}">
        <p14:creationId xmlns:p14="http://schemas.microsoft.com/office/powerpoint/2010/main" val="27231257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301658" y="141403"/>
            <a:ext cx="11726944" cy="3751867"/>
          </a:xfrm>
        </p:spPr>
        <p:txBody>
          <a:bodyPr>
            <a:noAutofit/>
          </a:bodyPr>
          <a:lstStyle/>
          <a:p>
            <a:br>
              <a:rPr lang="es-CL" sz="4800" dirty="0"/>
            </a:br>
            <a:br>
              <a:rPr lang="es-CL" sz="4800" dirty="0"/>
            </a:br>
            <a:r>
              <a:rPr lang="es-CL" sz="4800" dirty="0"/>
              <a:t> </a:t>
            </a:r>
            <a:br>
              <a:rPr lang="es-CL" sz="4800" dirty="0"/>
            </a:br>
            <a:r>
              <a:rPr lang="en-US" sz="4800" dirty="0"/>
              <a:t>Scientific Method </a:t>
            </a:r>
            <a:br>
              <a:rPr lang="en-US" sz="4800" dirty="0"/>
            </a:br>
            <a:r>
              <a:rPr lang="es-CL" sz="4800" b="1" dirty="0"/>
              <a:t>DEVELOPING </a:t>
            </a:r>
            <a:r>
              <a:rPr lang="es-CL" sz="4800" b="1" dirty="0" err="1"/>
              <a:t>an</a:t>
            </a:r>
            <a:r>
              <a:rPr lang="es-CL" sz="4800" b="1" dirty="0"/>
              <a:t> HYPOTHESIS </a:t>
            </a:r>
            <a:br>
              <a:rPr lang="es-CL" sz="4800" dirty="0"/>
            </a:br>
            <a:r>
              <a:rPr lang="en-US" sz="4800" dirty="0"/>
              <a:t>"The Art of Educated Guessing“</a:t>
            </a:r>
            <a:br>
              <a:rPr lang="en-US" sz="4800" dirty="0"/>
            </a:br>
            <a:r>
              <a:rPr lang="en-US" sz="4800" dirty="0"/>
              <a:t> or </a:t>
            </a:r>
            <a:br>
              <a:rPr lang="en-US" sz="4800" dirty="0"/>
            </a:br>
            <a:r>
              <a:rPr lang="en-US" sz="4800" dirty="0"/>
              <a:t>"From Question to Testable Prediction".</a:t>
            </a:r>
            <a:endParaRPr lang="es-CL" sz="4800" dirty="0"/>
          </a:p>
        </p:txBody>
      </p:sp>
      <p:sp>
        <p:nvSpPr>
          <p:cNvPr id="3" name="2 Subtítulo"/>
          <p:cNvSpPr>
            <a:spLocks noGrp="1"/>
          </p:cNvSpPr>
          <p:nvPr>
            <p:ph type="subTitle" idx="1"/>
          </p:nvPr>
        </p:nvSpPr>
        <p:spPr>
          <a:xfrm>
            <a:off x="1524000" y="4149080"/>
            <a:ext cx="8892480" cy="2351112"/>
          </a:xfrm>
        </p:spPr>
        <p:txBody>
          <a:bodyPr>
            <a:normAutofit fontScale="25000" lnSpcReduction="20000"/>
          </a:bodyPr>
          <a:lstStyle/>
          <a:p>
            <a:endParaRPr lang="es-CL" sz="9600" dirty="0"/>
          </a:p>
          <a:p>
            <a:pPr>
              <a:spcBef>
                <a:spcPts val="0"/>
              </a:spcBef>
            </a:pPr>
            <a:r>
              <a:rPr lang="en-US" sz="7200" dirty="0"/>
              <a:t>Never forget to name the people who developed at least part of the material  you use </a:t>
            </a:r>
          </a:p>
          <a:p>
            <a:r>
              <a:rPr lang="es-CL" sz="6400" dirty="0"/>
              <a:t> </a:t>
            </a:r>
          </a:p>
          <a:p>
            <a:r>
              <a:rPr lang="es-CL" sz="11200" dirty="0"/>
              <a:t>Nelson </a:t>
            </a:r>
            <a:r>
              <a:rPr lang="es-CL" sz="11200" dirty="0" err="1"/>
              <a:t>Baloian</a:t>
            </a:r>
            <a:endParaRPr lang="es-CL" sz="11200" dirty="0"/>
          </a:p>
          <a:p>
            <a:r>
              <a:rPr lang="es-CL" sz="11200" dirty="0" err="1"/>
              <a:t>ShaliniPrasad</a:t>
            </a:r>
            <a:endParaRPr lang="es-CL" sz="11200" dirty="0"/>
          </a:p>
          <a:p>
            <a:r>
              <a:rPr lang="es-CL" sz="11200" dirty="0" err="1"/>
              <a:t>Ajith</a:t>
            </a:r>
            <a:r>
              <a:rPr lang="es-CL" sz="11200" dirty="0"/>
              <a:t> </a:t>
            </a:r>
            <a:r>
              <a:rPr lang="es-CL" sz="11200" dirty="0" err="1"/>
              <a:t>Rao</a:t>
            </a:r>
            <a:r>
              <a:rPr lang="es-CL" sz="11200" dirty="0"/>
              <a:t> </a:t>
            </a:r>
          </a:p>
          <a:p>
            <a:r>
              <a:rPr lang="es-CL" sz="11200" dirty="0" err="1"/>
              <a:t>Eeshoo</a:t>
            </a:r>
            <a:r>
              <a:rPr lang="es-CL" sz="11200" dirty="0"/>
              <a:t> </a:t>
            </a:r>
            <a:r>
              <a:rPr lang="es-CL" sz="11200" dirty="0" err="1"/>
              <a:t>Rehani</a:t>
            </a:r>
            <a:endParaRPr lang="es-CL" sz="11200" dirty="0"/>
          </a:p>
          <a:p>
            <a:r>
              <a:rPr lang="es-CL" sz="11200" dirty="0"/>
              <a:t>Gordana DODIG-CRNKOVIC</a:t>
            </a:r>
          </a:p>
          <a:p>
            <a:endParaRPr lang="es-CL" sz="11200" dirty="0"/>
          </a:p>
        </p:txBody>
      </p:sp>
    </p:spTree>
    <p:extLst>
      <p:ext uri="{BB962C8B-B14F-4D97-AF65-F5344CB8AC3E}">
        <p14:creationId xmlns:p14="http://schemas.microsoft.com/office/powerpoint/2010/main" val="3958891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a:stretch>
            <a:fillRect/>
          </a:stretch>
        </p:blipFill>
        <p:spPr>
          <a:xfrm>
            <a:off x="791394" y="2649108"/>
            <a:ext cx="1108150" cy="820031"/>
          </a:xfrm>
          <a:prstGeom prst="rect">
            <a:avLst/>
          </a:prstGeom>
        </p:spPr>
      </p:pic>
      <p:sp>
        <p:nvSpPr>
          <p:cNvPr id="2" name="Título 1"/>
          <p:cNvSpPr>
            <a:spLocks noGrp="1"/>
          </p:cNvSpPr>
          <p:nvPr>
            <p:ph type="title"/>
          </p:nvPr>
        </p:nvSpPr>
        <p:spPr/>
        <p:txBody>
          <a:bodyPr/>
          <a:lstStyle/>
          <a:p>
            <a:r>
              <a:rPr lang="es-ES" dirty="0" err="1"/>
              <a:t>Goals</a:t>
            </a:r>
            <a:r>
              <a:rPr lang="es-ES" dirty="0"/>
              <a:t> of </a:t>
            </a:r>
            <a:r>
              <a:rPr lang="es-ES" dirty="0" err="1"/>
              <a:t>this</a:t>
            </a:r>
            <a:r>
              <a:rPr lang="es-ES" dirty="0"/>
              <a:t> </a:t>
            </a:r>
            <a:r>
              <a:rPr lang="es-ES" dirty="0" err="1"/>
              <a:t>unit</a:t>
            </a:r>
            <a:endParaRPr lang="es-CL" dirty="0"/>
          </a:p>
        </p:txBody>
      </p:sp>
      <p:sp>
        <p:nvSpPr>
          <p:cNvPr id="3" name="Marcador de contenido 2"/>
          <p:cNvSpPr>
            <a:spLocks noGrp="1"/>
          </p:cNvSpPr>
          <p:nvPr>
            <p:ph idx="1"/>
          </p:nvPr>
        </p:nvSpPr>
        <p:spPr>
          <a:xfrm>
            <a:off x="1461155" y="1690688"/>
            <a:ext cx="10595727" cy="5275720"/>
          </a:xfrm>
        </p:spPr>
        <p:txBody>
          <a:bodyPr>
            <a:normAutofit/>
          </a:bodyPr>
          <a:lstStyle/>
          <a:p>
            <a:r>
              <a:rPr lang="en-US" dirty="0"/>
              <a:t>Understand the role of a hypothesis.</a:t>
            </a:r>
          </a:p>
          <a:p>
            <a:endParaRPr lang="en-US" dirty="0"/>
          </a:p>
          <a:p>
            <a:r>
              <a:rPr lang="en-US" dirty="0"/>
              <a:t>See it as an evolutionary process.</a:t>
            </a:r>
          </a:p>
          <a:p>
            <a:endParaRPr lang="en-US" dirty="0"/>
          </a:p>
          <a:p>
            <a:r>
              <a:rPr lang="en-US" dirty="0"/>
              <a:t>Draft your first formal hypothesis.</a:t>
            </a:r>
          </a:p>
          <a:p>
            <a:endParaRPr lang="en-US" dirty="0"/>
          </a:p>
          <a:p>
            <a:r>
              <a:rPr lang="en-US" dirty="0"/>
              <a:t>Learn how to test it.</a:t>
            </a:r>
          </a:p>
          <a:p>
            <a:pPr lvl="1"/>
            <a:r>
              <a:rPr lang="en-US" dirty="0"/>
              <a:t>Outline your experiment.</a:t>
            </a:r>
          </a:p>
        </p:txBody>
      </p:sp>
      <p:pic>
        <p:nvPicPr>
          <p:cNvPr id="4" name="Imagen 3"/>
          <p:cNvPicPr>
            <a:picLocks noChangeAspect="1"/>
          </p:cNvPicPr>
          <p:nvPr/>
        </p:nvPicPr>
        <p:blipFill>
          <a:blip r:embed="rId3"/>
          <a:stretch>
            <a:fillRect/>
          </a:stretch>
        </p:blipFill>
        <p:spPr>
          <a:xfrm>
            <a:off x="930514" y="1690688"/>
            <a:ext cx="760281" cy="760281"/>
          </a:xfrm>
          <a:prstGeom prst="rect">
            <a:avLst/>
          </a:prstGeom>
        </p:spPr>
      </p:pic>
      <p:pic>
        <p:nvPicPr>
          <p:cNvPr id="7" name="Imagen 6"/>
          <p:cNvPicPr>
            <a:picLocks noChangeAspect="1"/>
          </p:cNvPicPr>
          <p:nvPr/>
        </p:nvPicPr>
        <p:blipFill>
          <a:blip r:embed="rId4"/>
          <a:stretch>
            <a:fillRect/>
          </a:stretch>
        </p:blipFill>
        <p:spPr>
          <a:xfrm>
            <a:off x="875180" y="3658631"/>
            <a:ext cx="804477" cy="629961"/>
          </a:xfrm>
          <a:prstGeom prst="rect">
            <a:avLst/>
          </a:prstGeom>
        </p:spPr>
      </p:pic>
      <p:pic>
        <p:nvPicPr>
          <p:cNvPr id="8" name="Imagen 7"/>
          <p:cNvPicPr>
            <a:picLocks noChangeAspect="1"/>
          </p:cNvPicPr>
          <p:nvPr/>
        </p:nvPicPr>
        <p:blipFill>
          <a:blip r:embed="rId5"/>
          <a:stretch>
            <a:fillRect/>
          </a:stretch>
        </p:blipFill>
        <p:spPr>
          <a:xfrm>
            <a:off x="1111636" y="4638614"/>
            <a:ext cx="579159" cy="579159"/>
          </a:xfrm>
          <a:prstGeom prst="rect">
            <a:avLst/>
          </a:prstGeom>
        </p:spPr>
      </p:pic>
    </p:spTree>
    <p:extLst>
      <p:ext uri="{BB962C8B-B14F-4D97-AF65-F5344CB8AC3E}">
        <p14:creationId xmlns:p14="http://schemas.microsoft.com/office/powerpoint/2010/main" val="103290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The Scientific Method: A Cycle of Inquiry</a:t>
            </a:r>
            <a:endParaRPr lang="es-CL" dirty="0"/>
          </a:p>
        </p:txBody>
      </p:sp>
      <p:sp>
        <p:nvSpPr>
          <p:cNvPr id="3" name="2 Marcador de contenido"/>
          <p:cNvSpPr>
            <a:spLocks noGrp="1"/>
          </p:cNvSpPr>
          <p:nvPr>
            <p:ph idx="1"/>
          </p:nvPr>
        </p:nvSpPr>
        <p:spPr>
          <a:xfrm>
            <a:off x="499621" y="1854724"/>
            <a:ext cx="4757394" cy="4525963"/>
          </a:xfrm>
        </p:spPr>
        <p:txBody>
          <a:bodyPr>
            <a:normAutofit/>
          </a:bodyPr>
          <a:lstStyle/>
          <a:p>
            <a:r>
              <a:rPr lang="en-US" dirty="0"/>
              <a:t>Is the logical scheme used by scientists searching for answering to the questions posed within science. </a:t>
            </a:r>
          </a:p>
          <a:p>
            <a:r>
              <a:rPr lang="en-US" dirty="0"/>
              <a:t>Scientific method is used to produce scientific theories</a:t>
            </a:r>
            <a:endParaRPr lang="es-CL" dirty="0"/>
          </a:p>
        </p:txBody>
      </p:sp>
      <p:pic>
        <p:nvPicPr>
          <p:cNvPr id="4" name="Imagen 3"/>
          <p:cNvPicPr>
            <a:picLocks noChangeAspect="1"/>
          </p:cNvPicPr>
          <p:nvPr/>
        </p:nvPicPr>
        <p:blipFill>
          <a:blip r:embed="rId2"/>
          <a:stretch>
            <a:fillRect/>
          </a:stretch>
        </p:blipFill>
        <p:spPr>
          <a:xfrm>
            <a:off x="6096000" y="1493051"/>
            <a:ext cx="4820102" cy="4776686"/>
          </a:xfrm>
          <a:prstGeom prst="rect">
            <a:avLst/>
          </a:prstGeom>
        </p:spPr>
      </p:pic>
    </p:spTree>
    <p:extLst>
      <p:ext uri="{BB962C8B-B14F-4D97-AF65-F5344CB8AC3E}">
        <p14:creationId xmlns:p14="http://schemas.microsoft.com/office/powerpoint/2010/main" val="3890282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dirty="0" err="1"/>
              <a:t>Steps</a:t>
            </a:r>
            <a:r>
              <a:rPr lang="es-CL" dirty="0"/>
              <a:t> (</a:t>
            </a:r>
            <a:r>
              <a:rPr lang="es-CL" dirty="0" err="1"/>
              <a:t>simplified</a:t>
            </a:r>
            <a:r>
              <a:rPr lang="es-CL" dirty="0"/>
              <a:t>)</a:t>
            </a:r>
          </a:p>
        </p:txBody>
      </p:sp>
      <p:sp>
        <p:nvSpPr>
          <p:cNvPr id="3" name="2 Marcador de contenido"/>
          <p:cNvSpPr>
            <a:spLocks noGrp="1"/>
          </p:cNvSpPr>
          <p:nvPr>
            <p:ph idx="1"/>
          </p:nvPr>
        </p:nvSpPr>
        <p:spPr/>
        <p:txBody>
          <a:bodyPr>
            <a:normAutofit/>
          </a:bodyPr>
          <a:lstStyle/>
          <a:p>
            <a:pPr marL="514350" indent="-514350">
              <a:buFont typeface="+mj-lt"/>
              <a:buAutoNum type="arabicPeriod"/>
            </a:pPr>
            <a:r>
              <a:rPr lang="en-US" dirty="0"/>
              <a:t>Pose the research question(s) in the context of existing knowledge (theory &amp; observations)</a:t>
            </a:r>
          </a:p>
          <a:p>
            <a:pPr marL="514350" indent="-514350">
              <a:buFont typeface="+mj-lt"/>
              <a:buAutoNum type="arabicPeriod"/>
            </a:pPr>
            <a:r>
              <a:rPr lang="en-US" dirty="0"/>
              <a:t>Formulate a </a:t>
            </a:r>
            <a:r>
              <a:rPr lang="en-US" dirty="0">
                <a:solidFill>
                  <a:srgbClr val="FF0000"/>
                </a:solidFill>
              </a:rPr>
              <a:t>hypothesis</a:t>
            </a:r>
            <a:r>
              <a:rPr lang="en-US" dirty="0"/>
              <a:t> as a tentative answer</a:t>
            </a:r>
          </a:p>
          <a:p>
            <a:pPr marL="514350" indent="-514350">
              <a:buFont typeface="+mj-lt"/>
              <a:buAutoNum type="arabicPeriod"/>
            </a:pPr>
            <a:r>
              <a:rPr lang="en-US" dirty="0"/>
              <a:t>Deduce consequences and make predictions</a:t>
            </a:r>
          </a:p>
          <a:p>
            <a:pPr marL="514350" indent="-514350">
              <a:buFont typeface="+mj-lt"/>
              <a:buAutoNum type="arabicPeriod"/>
            </a:pPr>
            <a:r>
              <a:rPr lang="en-US" dirty="0"/>
              <a:t>Test the hypothesis in a specific experiment/theory field. </a:t>
            </a:r>
            <a:endParaRPr lang="es-CL" dirty="0"/>
          </a:p>
        </p:txBody>
      </p:sp>
    </p:spTree>
    <p:extLst>
      <p:ext uri="{BB962C8B-B14F-4D97-AF65-F5344CB8AC3E}">
        <p14:creationId xmlns:p14="http://schemas.microsoft.com/office/powerpoint/2010/main" val="2408440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dirty="0" err="1"/>
              <a:t>Warning</a:t>
            </a:r>
            <a:endParaRPr lang="es-CL" dirty="0"/>
          </a:p>
        </p:txBody>
      </p:sp>
      <p:sp>
        <p:nvSpPr>
          <p:cNvPr id="3" name="2 Marcador de contenido"/>
          <p:cNvSpPr>
            <a:spLocks noGrp="1"/>
          </p:cNvSpPr>
          <p:nvPr>
            <p:ph idx="1"/>
          </p:nvPr>
        </p:nvSpPr>
        <p:spPr>
          <a:xfrm>
            <a:off x="1981200" y="1600201"/>
            <a:ext cx="8291264" cy="4525963"/>
          </a:xfrm>
        </p:spPr>
        <p:txBody>
          <a:bodyPr>
            <a:normAutofit/>
          </a:bodyPr>
          <a:lstStyle/>
          <a:p>
            <a:r>
              <a:rPr lang="en-US" dirty="0"/>
              <a:t>As a rule, the loop 2-3-4 is repeated with modifications of the hypothesis until the agreement is obtained, which leads to 5 (next step, comes in the next slide) </a:t>
            </a:r>
          </a:p>
          <a:p>
            <a:r>
              <a:rPr lang="en-US" dirty="0"/>
              <a:t>If major discrepancies are found the process must start from the beginning, 1.</a:t>
            </a:r>
            <a:endParaRPr lang="es-CL" dirty="0"/>
          </a:p>
        </p:txBody>
      </p:sp>
    </p:spTree>
    <p:extLst>
      <p:ext uri="{BB962C8B-B14F-4D97-AF65-F5344CB8AC3E}">
        <p14:creationId xmlns:p14="http://schemas.microsoft.com/office/powerpoint/2010/main" val="2323033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dirty="0" err="1"/>
              <a:t>Steps</a:t>
            </a:r>
            <a:r>
              <a:rPr lang="es-CL" dirty="0"/>
              <a:t> (5 and final)</a:t>
            </a:r>
          </a:p>
        </p:txBody>
      </p:sp>
      <p:sp>
        <p:nvSpPr>
          <p:cNvPr id="3" name="2 Marcador de contenido"/>
          <p:cNvSpPr>
            <a:spLocks noGrp="1"/>
          </p:cNvSpPr>
          <p:nvPr>
            <p:ph idx="1"/>
          </p:nvPr>
        </p:nvSpPr>
        <p:spPr/>
        <p:txBody>
          <a:bodyPr>
            <a:normAutofit/>
          </a:bodyPr>
          <a:lstStyle/>
          <a:p>
            <a:r>
              <a:rPr lang="en-US" dirty="0"/>
              <a:t>When consistency is obtained the hypothesis becomes a theory (thesis!!!) </a:t>
            </a:r>
          </a:p>
          <a:p>
            <a:r>
              <a:rPr lang="en-US" dirty="0"/>
              <a:t>Results have to be published and is subject of process of ”natural selection” among competing theories </a:t>
            </a:r>
          </a:p>
        </p:txBody>
      </p:sp>
      <p:pic>
        <p:nvPicPr>
          <p:cNvPr id="5" name="Imagen 4"/>
          <p:cNvPicPr>
            <a:picLocks noChangeAspect="1"/>
          </p:cNvPicPr>
          <p:nvPr/>
        </p:nvPicPr>
        <p:blipFill>
          <a:blip r:embed="rId2"/>
          <a:stretch>
            <a:fillRect/>
          </a:stretch>
        </p:blipFill>
        <p:spPr>
          <a:xfrm>
            <a:off x="6096000" y="3645024"/>
            <a:ext cx="4176464" cy="3384376"/>
          </a:xfrm>
          <a:prstGeom prst="rect">
            <a:avLst/>
          </a:prstGeom>
        </p:spPr>
      </p:pic>
    </p:spTree>
    <p:extLst>
      <p:ext uri="{BB962C8B-B14F-4D97-AF65-F5344CB8AC3E}">
        <p14:creationId xmlns:p14="http://schemas.microsoft.com/office/powerpoint/2010/main" val="1319271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dirty="0"/>
              <a:t>Diagram describing iterative nature of the </a:t>
            </a:r>
            <a:r>
              <a:rPr lang="en-US" dirty="0" err="1"/>
              <a:t>hypothetico</a:t>
            </a:r>
            <a:r>
              <a:rPr lang="en-US" dirty="0"/>
              <a:t>-deductive method</a:t>
            </a:r>
            <a:endParaRPr lang="es-CL"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5784" y="1690688"/>
            <a:ext cx="8460432" cy="5205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49300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Let's Go to the Hypothesis </a:t>
            </a:r>
            <a:br>
              <a:rPr lang="en-US" b="1" dirty="0"/>
            </a:br>
            <a:r>
              <a:rPr lang="en-US" b="1" dirty="0"/>
              <a:t>(The Heart of the Matter)</a:t>
            </a:r>
            <a:endParaRPr lang="es-CL" dirty="0"/>
          </a:p>
        </p:txBody>
      </p:sp>
      <p:sp>
        <p:nvSpPr>
          <p:cNvPr id="3" name="Marcador de contenido 2"/>
          <p:cNvSpPr>
            <a:spLocks noGrp="1"/>
          </p:cNvSpPr>
          <p:nvPr>
            <p:ph idx="1"/>
          </p:nvPr>
        </p:nvSpPr>
        <p:spPr/>
        <p:txBody>
          <a:bodyPr/>
          <a:lstStyle/>
          <a:p>
            <a:endParaRPr lang="es-CL"/>
          </a:p>
        </p:txBody>
      </p:sp>
      <p:pic>
        <p:nvPicPr>
          <p:cNvPr id="5" name="Imagen 4"/>
          <p:cNvPicPr>
            <a:picLocks noChangeAspect="1"/>
          </p:cNvPicPr>
          <p:nvPr/>
        </p:nvPicPr>
        <p:blipFill>
          <a:blip r:embed="rId2"/>
          <a:stretch>
            <a:fillRect/>
          </a:stretch>
        </p:blipFill>
        <p:spPr>
          <a:xfrm>
            <a:off x="838200" y="1825625"/>
            <a:ext cx="8205727" cy="4595207"/>
          </a:xfrm>
          <a:prstGeom prst="rect">
            <a:avLst/>
          </a:prstGeom>
        </p:spPr>
      </p:pic>
    </p:spTree>
    <p:extLst>
      <p:ext uri="{BB962C8B-B14F-4D97-AF65-F5344CB8AC3E}">
        <p14:creationId xmlns:p14="http://schemas.microsoft.com/office/powerpoint/2010/main" val="2061410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dirty="0" err="1"/>
              <a:t>Other</a:t>
            </a:r>
            <a:r>
              <a:rPr lang="es-CL" dirty="0"/>
              <a:t> </a:t>
            </a:r>
            <a:r>
              <a:rPr lang="es-CL" dirty="0" err="1"/>
              <a:t>definitions</a:t>
            </a:r>
            <a:r>
              <a:rPr lang="es-CL" dirty="0"/>
              <a:t> of </a:t>
            </a:r>
            <a:r>
              <a:rPr lang="es-CL" b="1" dirty="0" err="1">
                <a:solidFill>
                  <a:srgbClr val="FF0000"/>
                </a:solidFill>
              </a:rPr>
              <a:t>hypothesis</a:t>
            </a:r>
            <a:endParaRPr lang="es-CL" dirty="0">
              <a:solidFill>
                <a:srgbClr val="FF0000"/>
              </a:solidFill>
            </a:endParaRPr>
          </a:p>
        </p:txBody>
      </p:sp>
      <p:sp>
        <p:nvSpPr>
          <p:cNvPr id="3" name="2 Marcador de contenido"/>
          <p:cNvSpPr>
            <a:spLocks noGrp="1"/>
          </p:cNvSpPr>
          <p:nvPr>
            <p:ph idx="1"/>
          </p:nvPr>
        </p:nvSpPr>
        <p:spPr>
          <a:xfrm>
            <a:off x="1981200" y="1600200"/>
            <a:ext cx="8291264" cy="4853136"/>
          </a:xfrm>
        </p:spPr>
        <p:txBody>
          <a:bodyPr>
            <a:normAutofit lnSpcReduction="10000"/>
          </a:bodyPr>
          <a:lstStyle/>
          <a:p>
            <a:r>
              <a:rPr lang="en-US" i="1" dirty="0"/>
              <a:t>“It is a tentative prediction about the nature of the relationship between two or more variables.”</a:t>
            </a:r>
          </a:p>
          <a:p>
            <a:r>
              <a:rPr lang="en-US" i="1" dirty="0"/>
              <a:t>“A hypothesis can be defined as a tentative explanation of the research problem, a possible outcome of the research, or an educated guess about the research outcome.”</a:t>
            </a:r>
          </a:p>
          <a:p>
            <a:r>
              <a:rPr lang="en-US" i="1" dirty="0"/>
              <a:t>“Hypotheses are always in declarative sentence form, and they relate, either generally or specifically , variables to variables.”</a:t>
            </a:r>
          </a:p>
          <a:p>
            <a:r>
              <a:rPr lang="en-US" i="1" dirty="0"/>
              <a:t>“An hypothesis is a statement or explanation that is suggested by knowledge or observation but has not yet been proved or disproved”</a:t>
            </a:r>
            <a:endParaRPr lang="es-CL" i="1" dirty="0"/>
          </a:p>
        </p:txBody>
      </p:sp>
    </p:spTree>
    <p:extLst>
      <p:ext uri="{BB962C8B-B14F-4D97-AF65-F5344CB8AC3E}">
        <p14:creationId xmlns:p14="http://schemas.microsoft.com/office/powerpoint/2010/main" val="3360686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What is a Hypothesis? Our definition</a:t>
            </a:r>
            <a:br>
              <a:rPr lang="en-US" dirty="0"/>
            </a:br>
            <a:endParaRPr lang="en-US" dirty="0"/>
          </a:p>
        </p:txBody>
      </p:sp>
      <p:sp>
        <p:nvSpPr>
          <p:cNvPr id="3" name="Marcador de contenido 2"/>
          <p:cNvSpPr>
            <a:spLocks noGrp="1"/>
          </p:cNvSpPr>
          <p:nvPr>
            <p:ph idx="1"/>
          </p:nvPr>
        </p:nvSpPr>
        <p:spPr/>
        <p:txBody>
          <a:bodyPr>
            <a:normAutofit/>
          </a:bodyPr>
          <a:lstStyle/>
          <a:p>
            <a:pPr marL="0" indent="0">
              <a:buNone/>
            </a:pPr>
            <a:r>
              <a:rPr lang="en-US" sz="3200" dirty="0"/>
              <a:t>"An </a:t>
            </a:r>
            <a:r>
              <a:rPr lang="en-US" sz="3200" b="1" dirty="0"/>
              <a:t>educated guess</a:t>
            </a:r>
            <a:r>
              <a:rPr lang="en-US" sz="3200" dirty="0"/>
              <a:t> that proposes a </a:t>
            </a:r>
            <a:r>
              <a:rPr lang="en-US" sz="3200" b="1" dirty="0"/>
              <a:t>testable</a:t>
            </a:r>
            <a:r>
              <a:rPr lang="en-US" sz="3200" dirty="0"/>
              <a:t> explanation for an observed phenomenon."</a:t>
            </a:r>
          </a:p>
          <a:p>
            <a:pPr lvl="1"/>
            <a:r>
              <a:rPr lang="en-US" sz="2800" dirty="0"/>
              <a:t> </a:t>
            </a:r>
            <a:r>
              <a:rPr lang="en-US" sz="2800" b="1" dirty="0"/>
              <a:t>"Educated"</a:t>
            </a:r>
            <a:r>
              <a:rPr lang="en-US" sz="2800" dirty="0"/>
              <a:t> (based on research), </a:t>
            </a:r>
          </a:p>
          <a:p>
            <a:pPr lvl="1"/>
            <a:r>
              <a:rPr lang="en-US" sz="2800" b="1" dirty="0"/>
              <a:t>"Guess"</a:t>
            </a:r>
            <a:r>
              <a:rPr lang="en-US" sz="2800" dirty="0"/>
              <a:t> (proposed explanation), </a:t>
            </a:r>
          </a:p>
          <a:p>
            <a:pPr lvl="1"/>
            <a:r>
              <a:rPr lang="en-US" sz="2800" b="1" dirty="0"/>
              <a:t>"Testable"</a:t>
            </a:r>
            <a:r>
              <a:rPr lang="en-US" sz="2800" dirty="0"/>
              <a:t> (can be proven true/false) around it.</a:t>
            </a:r>
          </a:p>
          <a:p>
            <a:pPr marL="0" indent="0">
              <a:buNone/>
            </a:pPr>
            <a:endParaRPr lang="en-US" dirty="0"/>
          </a:p>
          <a:p>
            <a:pPr marL="0" indent="0">
              <a:buNone/>
            </a:pPr>
            <a:r>
              <a:rPr lang="en-US" dirty="0"/>
              <a:t>It's not just any guess. It's 'educated' because you've done some background research. And most importantly, you </a:t>
            </a:r>
            <a:r>
              <a:rPr lang="en-US" i="1" dirty="0"/>
              <a:t>must</a:t>
            </a:r>
            <a:r>
              <a:rPr lang="en-US" dirty="0"/>
              <a:t> be able to test it.</a:t>
            </a:r>
          </a:p>
          <a:p>
            <a:endParaRPr lang="en-US" dirty="0"/>
          </a:p>
        </p:txBody>
      </p:sp>
    </p:spTree>
    <p:extLst>
      <p:ext uri="{BB962C8B-B14F-4D97-AF65-F5344CB8AC3E}">
        <p14:creationId xmlns:p14="http://schemas.microsoft.com/office/powerpoint/2010/main" val="3869064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91544" y="28173"/>
            <a:ext cx="8229600" cy="1143000"/>
          </a:xfrm>
        </p:spPr>
        <p:txBody>
          <a:bodyPr>
            <a:normAutofit fontScale="90000"/>
          </a:bodyPr>
          <a:lstStyle/>
          <a:p>
            <a:br>
              <a:rPr lang="es-CL" dirty="0"/>
            </a:br>
            <a:r>
              <a:rPr lang="es-CL" b="1" dirty="0" err="1"/>
              <a:t>Nature</a:t>
            </a:r>
            <a:r>
              <a:rPr lang="es-CL" b="1" dirty="0"/>
              <a:t> of a </a:t>
            </a:r>
            <a:r>
              <a:rPr lang="es-CL" b="1" dirty="0" err="1"/>
              <a:t>Hypothesis</a:t>
            </a:r>
            <a:r>
              <a:rPr lang="es-CL" b="1" dirty="0"/>
              <a:t> </a:t>
            </a:r>
            <a:br>
              <a:rPr lang="es-CL" dirty="0"/>
            </a:br>
            <a:endParaRPr lang="es-CL" dirty="0"/>
          </a:p>
        </p:txBody>
      </p:sp>
      <p:sp>
        <p:nvSpPr>
          <p:cNvPr id="3" name="2 Marcador de contenido"/>
          <p:cNvSpPr>
            <a:spLocks noGrp="1"/>
          </p:cNvSpPr>
          <p:nvPr>
            <p:ph idx="1"/>
          </p:nvPr>
        </p:nvSpPr>
        <p:spPr>
          <a:xfrm>
            <a:off x="1847528" y="1196753"/>
            <a:ext cx="8363272" cy="4929411"/>
          </a:xfrm>
        </p:spPr>
        <p:txBody>
          <a:bodyPr>
            <a:normAutofit/>
          </a:bodyPr>
          <a:lstStyle/>
          <a:p>
            <a:r>
              <a:rPr lang="en-US" dirty="0"/>
              <a:t>The hypothesis is a clear statement of what is intended to be investigated. </a:t>
            </a:r>
          </a:p>
          <a:p>
            <a:r>
              <a:rPr lang="en-US" dirty="0"/>
              <a:t>It allows to:</a:t>
            </a:r>
          </a:p>
          <a:p>
            <a:pPr lvl="1"/>
            <a:r>
              <a:rPr lang="en-US" dirty="0"/>
              <a:t>Identify the research objectives</a:t>
            </a:r>
          </a:p>
          <a:p>
            <a:pPr lvl="1"/>
            <a:r>
              <a:rPr lang="en-US" dirty="0"/>
              <a:t>Identify the key abstract concepts involved in the research</a:t>
            </a:r>
          </a:p>
          <a:p>
            <a:pPr lvl="1"/>
            <a:r>
              <a:rPr lang="en-US" dirty="0"/>
              <a:t>Identify its relationship to both the problem statement and the literature review </a:t>
            </a:r>
          </a:p>
          <a:p>
            <a:r>
              <a:rPr lang="en-US" dirty="0"/>
              <a:t>A problem cannot be </a:t>
            </a:r>
            <a:r>
              <a:rPr lang="en-US" b="1" dirty="0">
                <a:solidFill>
                  <a:srgbClr val="FF0000"/>
                </a:solidFill>
              </a:rPr>
              <a:t>scientifically</a:t>
            </a:r>
            <a:r>
              <a:rPr lang="en-US" dirty="0"/>
              <a:t> solved unless it is reduced to hypothesis form</a:t>
            </a:r>
          </a:p>
          <a:p>
            <a:r>
              <a:rPr lang="en-US" dirty="0"/>
              <a:t>It is a tool of </a:t>
            </a:r>
            <a:r>
              <a:rPr lang="en-US" b="1" dirty="0">
                <a:solidFill>
                  <a:srgbClr val="FF0000"/>
                </a:solidFill>
              </a:rPr>
              <a:t>advancement of knowledge</a:t>
            </a:r>
            <a:r>
              <a:rPr lang="en-US" dirty="0"/>
              <a:t>, consistent with existing knowledge</a:t>
            </a:r>
          </a:p>
          <a:p>
            <a:endParaRPr lang="es-CL" dirty="0"/>
          </a:p>
        </p:txBody>
      </p:sp>
    </p:spTree>
    <p:extLst>
      <p:ext uri="{BB962C8B-B14F-4D97-AF65-F5344CB8AC3E}">
        <p14:creationId xmlns:p14="http://schemas.microsoft.com/office/powerpoint/2010/main" val="4029091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91544" y="28173"/>
            <a:ext cx="8229600" cy="1143000"/>
          </a:xfrm>
        </p:spPr>
        <p:txBody>
          <a:bodyPr>
            <a:normAutofit fontScale="90000"/>
          </a:bodyPr>
          <a:lstStyle/>
          <a:p>
            <a:br>
              <a:rPr lang="es-CL" dirty="0"/>
            </a:br>
            <a:r>
              <a:rPr lang="es-CL" b="1" dirty="0" err="1"/>
              <a:t>Nature</a:t>
            </a:r>
            <a:r>
              <a:rPr lang="es-CL" b="1" dirty="0"/>
              <a:t> of a </a:t>
            </a:r>
            <a:r>
              <a:rPr lang="es-CL" b="1" dirty="0" err="1"/>
              <a:t>Hypothesis</a:t>
            </a:r>
            <a:r>
              <a:rPr lang="es-CL" b="1" dirty="0"/>
              <a:t> </a:t>
            </a:r>
            <a:br>
              <a:rPr lang="es-CL" dirty="0"/>
            </a:br>
            <a:endParaRPr lang="es-CL" dirty="0"/>
          </a:p>
        </p:txBody>
      </p:sp>
      <p:sp>
        <p:nvSpPr>
          <p:cNvPr id="3" name="2 Marcador de contenido"/>
          <p:cNvSpPr>
            <a:spLocks noGrp="1"/>
          </p:cNvSpPr>
          <p:nvPr>
            <p:ph idx="1"/>
          </p:nvPr>
        </p:nvSpPr>
        <p:spPr>
          <a:xfrm>
            <a:off x="1206631" y="1555423"/>
            <a:ext cx="9964131" cy="4570741"/>
          </a:xfrm>
        </p:spPr>
        <p:txBody>
          <a:bodyPr>
            <a:normAutofit/>
          </a:bodyPr>
          <a:lstStyle/>
          <a:p>
            <a:r>
              <a:rPr lang="en-US" dirty="0"/>
              <a:t>It can be tested –verifiable or falsifiable</a:t>
            </a:r>
          </a:p>
          <a:p>
            <a:r>
              <a:rPr lang="en-US" dirty="0"/>
              <a:t>Hypotheses are not moral or ethical questions</a:t>
            </a:r>
          </a:p>
          <a:p>
            <a:r>
              <a:rPr lang="en-US" dirty="0"/>
              <a:t>It is neither too specific nor to general</a:t>
            </a:r>
          </a:p>
          <a:p>
            <a:r>
              <a:rPr lang="en-US" dirty="0"/>
              <a:t>It is a prediction of consequences</a:t>
            </a:r>
          </a:p>
          <a:p>
            <a:r>
              <a:rPr lang="en-US" dirty="0"/>
              <a:t>It is considered valuable even if proven false</a:t>
            </a:r>
            <a:endParaRPr lang="es-CL" dirty="0"/>
          </a:p>
        </p:txBody>
      </p:sp>
    </p:spTree>
    <p:extLst>
      <p:ext uri="{BB962C8B-B14F-4D97-AF65-F5344CB8AC3E}">
        <p14:creationId xmlns:p14="http://schemas.microsoft.com/office/powerpoint/2010/main" val="64402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99202" y="116632"/>
            <a:ext cx="8229600" cy="706090"/>
          </a:xfrm>
        </p:spPr>
        <p:txBody>
          <a:bodyPr>
            <a:normAutofit/>
          </a:bodyPr>
          <a:lstStyle/>
          <a:p>
            <a:r>
              <a:rPr lang="es-CL" b="1" dirty="0" err="1"/>
              <a:t>An</a:t>
            </a:r>
            <a:r>
              <a:rPr lang="es-CL" b="1" dirty="0"/>
              <a:t> </a:t>
            </a:r>
            <a:r>
              <a:rPr lang="es-CL" b="1" dirty="0" err="1"/>
              <a:t>Example</a:t>
            </a:r>
            <a:r>
              <a:rPr lang="es-CL" b="1" dirty="0"/>
              <a:t>…</a:t>
            </a:r>
            <a:endParaRPr lang="es-CL" dirty="0"/>
          </a:p>
        </p:txBody>
      </p:sp>
      <p:sp>
        <p:nvSpPr>
          <p:cNvPr id="3" name="2 Marcador de contenido"/>
          <p:cNvSpPr>
            <a:spLocks noGrp="1"/>
          </p:cNvSpPr>
          <p:nvPr>
            <p:ph idx="1"/>
          </p:nvPr>
        </p:nvSpPr>
        <p:spPr>
          <a:xfrm>
            <a:off x="556181" y="820224"/>
            <a:ext cx="9824295" cy="5760640"/>
          </a:xfrm>
        </p:spPr>
        <p:txBody>
          <a:bodyPr>
            <a:normAutofit/>
          </a:bodyPr>
          <a:lstStyle/>
          <a:p>
            <a:pPr marL="0" indent="0">
              <a:buNone/>
            </a:pPr>
            <a:r>
              <a:rPr lang="en-US" sz="2400" dirty="0"/>
              <a:t>A nutritionist in a zoo must develop a menu plan for the group of monkeys. Choices available include leaves of species A B C D E and F. It is known that in the wild monkeys eat mainly B, but you suspect that this could be because they feel safe whilst feeding in B trees, whereas eating any of the other species would make them vulnerable to predation. You design an experiment to find out which type of leaf the monkeys like best: You offer the monkeys all five types of leaves in equal quantities and observe what they eat.</a:t>
            </a:r>
          </a:p>
        </p:txBody>
      </p:sp>
      <p:pic>
        <p:nvPicPr>
          <p:cNvPr id="4" name="Imagen 3"/>
          <p:cNvPicPr>
            <a:picLocks noChangeAspect="1"/>
          </p:cNvPicPr>
          <p:nvPr/>
        </p:nvPicPr>
        <p:blipFill>
          <a:blip r:embed="rId2"/>
          <a:stretch>
            <a:fillRect/>
          </a:stretch>
        </p:blipFill>
        <p:spPr>
          <a:xfrm>
            <a:off x="289842" y="3472113"/>
            <a:ext cx="5573630" cy="3121233"/>
          </a:xfrm>
          <a:prstGeom prst="rect">
            <a:avLst/>
          </a:prstGeom>
        </p:spPr>
      </p:pic>
      <p:pic>
        <p:nvPicPr>
          <p:cNvPr id="5" name="Imagen 4"/>
          <p:cNvPicPr>
            <a:picLocks noChangeAspect="1"/>
          </p:cNvPicPr>
          <p:nvPr/>
        </p:nvPicPr>
        <p:blipFill>
          <a:blip r:embed="rId3"/>
          <a:stretch>
            <a:fillRect/>
          </a:stretch>
        </p:blipFill>
        <p:spPr>
          <a:xfrm>
            <a:off x="10228802" y="385852"/>
            <a:ext cx="1743075" cy="2619375"/>
          </a:xfrm>
          <a:prstGeom prst="rect">
            <a:avLst/>
          </a:prstGeom>
        </p:spPr>
      </p:pic>
      <p:pic>
        <p:nvPicPr>
          <p:cNvPr id="7" name="Imagen 6"/>
          <p:cNvPicPr>
            <a:picLocks noChangeAspect="1"/>
          </p:cNvPicPr>
          <p:nvPr/>
        </p:nvPicPr>
        <p:blipFill>
          <a:blip r:embed="rId4"/>
          <a:stretch>
            <a:fillRect/>
          </a:stretch>
        </p:blipFill>
        <p:spPr>
          <a:xfrm>
            <a:off x="6997007" y="3472114"/>
            <a:ext cx="4663125" cy="3108750"/>
          </a:xfrm>
          <a:prstGeom prst="rect">
            <a:avLst/>
          </a:prstGeom>
        </p:spPr>
      </p:pic>
    </p:spTree>
    <p:extLst>
      <p:ext uri="{BB962C8B-B14F-4D97-AF65-F5344CB8AC3E}">
        <p14:creationId xmlns:p14="http://schemas.microsoft.com/office/powerpoint/2010/main" val="3743838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274638"/>
            <a:ext cx="8229600" cy="706090"/>
          </a:xfrm>
        </p:spPr>
        <p:txBody>
          <a:bodyPr>
            <a:normAutofit/>
          </a:bodyPr>
          <a:lstStyle/>
          <a:p>
            <a:r>
              <a:rPr lang="es-CL" b="1" dirty="0"/>
              <a:t>… and </a:t>
            </a:r>
            <a:r>
              <a:rPr lang="es-CL" b="1" dirty="0" err="1"/>
              <a:t>the</a:t>
            </a:r>
            <a:r>
              <a:rPr lang="es-CL" b="1" dirty="0"/>
              <a:t> </a:t>
            </a:r>
            <a:r>
              <a:rPr lang="es-CL" b="1" dirty="0" err="1"/>
              <a:t>hypothesis</a:t>
            </a:r>
            <a:endParaRPr lang="es-CL" dirty="0"/>
          </a:p>
        </p:txBody>
      </p:sp>
      <p:sp>
        <p:nvSpPr>
          <p:cNvPr id="3" name="2 Marcador de contenido"/>
          <p:cNvSpPr>
            <a:spLocks noGrp="1"/>
          </p:cNvSpPr>
          <p:nvPr>
            <p:ph idx="1"/>
          </p:nvPr>
        </p:nvSpPr>
        <p:spPr>
          <a:xfrm>
            <a:off x="558800" y="1376968"/>
            <a:ext cx="11430000" cy="5760640"/>
          </a:xfrm>
        </p:spPr>
        <p:txBody>
          <a:bodyPr>
            <a:normAutofit/>
          </a:bodyPr>
          <a:lstStyle/>
          <a:p>
            <a:r>
              <a:rPr lang="en-US" dirty="0"/>
              <a:t>There are many different experimental hypotheses we could formulate for the study. For example:</a:t>
            </a:r>
          </a:p>
          <a:p>
            <a:pPr lvl="1"/>
            <a:r>
              <a:rPr lang="en-US" b="1" dirty="0">
                <a:solidFill>
                  <a:srgbClr val="FF0000"/>
                </a:solidFill>
              </a:rPr>
              <a:t>When offered all five types of leaves, the monkeys will preferentially feed on B leaves. </a:t>
            </a:r>
          </a:p>
          <a:p>
            <a:r>
              <a:rPr lang="en-US" dirty="0"/>
              <a:t>This statement satisfies both criteria for experimental hypotheses. It is a</a:t>
            </a:r>
          </a:p>
          <a:p>
            <a:pPr lvl="1"/>
            <a:r>
              <a:rPr lang="en-US" b="1" dirty="0"/>
              <a:t>Prediction: </a:t>
            </a:r>
            <a:r>
              <a:rPr lang="en-US" dirty="0"/>
              <a:t>It predicts the anticipated outcome of the experiment </a:t>
            </a:r>
          </a:p>
          <a:p>
            <a:pPr lvl="1"/>
            <a:r>
              <a:rPr lang="en-US" b="1" dirty="0"/>
              <a:t>Testable: </a:t>
            </a:r>
            <a:r>
              <a:rPr lang="en-US" dirty="0"/>
              <a:t>Once you have collected and evaluated your data (i.e. observations of what the monkeys eat when all six types of leaves are offered), you know whether or not they ate more B leaves than the other types. </a:t>
            </a:r>
            <a:endParaRPr lang="es-CL" dirty="0"/>
          </a:p>
        </p:txBody>
      </p:sp>
    </p:spTree>
    <p:extLst>
      <p:ext uri="{BB962C8B-B14F-4D97-AF65-F5344CB8AC3E}">
        <p14:creationId xmlns:p14="http://schemas.microsoft.com/office/powerpoint/2010/main" val="1154944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b="1" dirty="0" err="1"/>
              <a:t>Incorrect</a:t>
            </a:r>
            <a:r>
              <a:rPr lang="es-CL" b="1" dirty="0"/>
              <a:t> </a:t>
            </a:r>
            <a:r>
              <a:rPr lang="es-CL" b="1" dirty="0" err="1"/>
              <a:t>hypotheses</a:t>
            </a:r>
            <a:r>
              <a:rPr lang="es-CL" b="1" dirty="0"/>
              <a:t> </a:t>
            </a:r>
            <a:endParaRPr lang="es-CL" dirty="0"/>
          </a:p>
        </p:txBody>
      </p:sp>
      <p:sp>
        <p:nvSpPr>
          <p:cNvPr id="3" name="2 Marcador de contenido"/>
          <p:cNvSpPr>
            <a:spLocks noGrp="1"/>
          </p:cNvSpPr>
          <p:nvPr>
            <p:ph idx="1"/>
          </p:nvPr>
        </p:nvSpPr>
        <p:spPr>
          <a:xfrm>
            <a:off x="533400" y="1807240"/>
            <a:ext cx="10820400" cy="5904656"/>
          </a:xfrm>
        </p:spPr>
        <p:txBody>
          <a:bodyPr>
            <a:normAutofit/>
          </a:bodyPr>
          <a:lstStyle/>
          <a:p>
            <a:pPr marL="0" indent="0">
              <a:buNone/>
            </a:pPr>
            <a:r>
              <a:rPr lang="en-US" b="1" dirty="0">
                <a:solidFill>
                  <a:srgbClr val="FF0000"/>
                </a:solidFill>
              </a:rPr>
              <a:t>When offered all five types of leaves, the monkeys will preferentially eat the type they like best. </a:t>
            </a:r>
          </a:p>
          <a:p>
            <a:r>
              <a:rPr lang="en-US" sz="2600" dirty="0"/>
              <a:t>This statement is predictive, but there is no way you can test whether it is true with this study. Data will show whether monkeys preferred one type of leaf, but not why they like it best</a:t>
            </a:r>
          </a:p>
          <a:p>
            <a:pPr marL="0" indent="0">
              <a:buNone/>
            </a:pPr>
            <a:r>
              <a:rPr lang="en-US" b="1" dirty="0">
                <a:solidFill>
                  <a:srgbClr val="FF0000"/>
                </a:solidFill>
              </a:rPr>
              <a:t>When offered all five types of leaves, the monkeys will preferentially eat B leaves because they can eat these safely in their natural habitat.</a:t>
            </a:r>
          </a:p>
          <a:p>
            <a:r>
              <a:rPr lang="en-US" sz="2600" dirty="0"/>
              <a:t>the second part ('because they can eat these safely in their natural habitat') fails to satisfy the criterion of testability. You can tell whether the monkeys preferentially eat B leaves, but this experiment cannot tell why. </a:t>
            </a:r>
          </a:p>
          <a:p>
            <a:endParaRPr lang="es-CL" dirty="0"/>
          </a:p>
        </p:txBody>
      </p:sp>
    </p:spTree>
    <p:extLst>
      <p:ext uri="{BB962C8B-B14F-4D97-AF65-F5344CB8AC3E}">
        <p14:creationId xmlns:p14="http://schemas.microsoft.com/office/powerpoint/2010/main" val="2760834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b="1" dirty="0" err="1"/>
              <a:t>Incorrect</a:t>
            </a:r>
            <a:r>
              <a:rPr lang="es-CL" b="1" dirty="0"/>
              <a:t> </a:t>
            </a:r>
            <a:r>
              <a:rPr lang="es-CL" b="1" dirty="0" err="1"/>
              <a:t>hypotheses</a:t>
            </a:r>
            <a:r>
              <a:rPr lang="es-CL" b="1" dirty="0"/>
              <a:t> </a:t>
            </a:r>
            <a:endParaRPr lang="es-CL" dirty="0"/>
          </a:p>
        </p:txBody>
      </p:sp>
      <p:sp>
        <p:nvSpPr>
          <p:cNvPr id="3" name="2 Marcador de contenido"/>
          <p:cNvSpPr>
            <a:spLocks noGrp="1"/>
          </p:cNvSpPr>
          <p:nvPr>
            <p:ph idx="1"/>
          </p:nvPr>
        </p:nvSpPr>
        <p:spPr>
          <a:xfrm>
            <a:off x="965200" y="1543398"/>
            <a:ext cx="9926320" cy="5314602"/>
          </a:xfrm>
        </p:spPr>
        <p:txBody>
          <a:bodyPr>
            <a:normAutofit/>
          </a:bodyPr>
          <a:lstStyle/>
          <a:p>
            <a:pPr marL="0" indent="0">
              <a:buNone/>
            </a:pPr>
            <a:r>
              <a:rPr lang="en-US" b="1" dirty="0">
                <a:solidFill>
                  <a:srgbClr val="FF0000"/>
                </a:solidFill>
              </a:rPr>
              <a:t>In their natural habitat, monkeys that feed in B trees are less vulnerable to predation than monkeys that feed on A, C, D, or E. </a:t>
            </a:r>
            <a:endParaRPr lang="es-CL" dirty="0"/>
          </a:p>
          <a:p>
            <a:r>
              <a:rPr lang="en-US" sz="2600" dirty="0"/>
              <a:t>good experimental hypothesis, but not for the experiment described in the question. For this hypothesis, a study in the wild looking at how many monkeys get killed by predators whilst feeding on the leaves of A, B etc. is necessary. </a:t>
            </a:r>
          </a:p>
          <a:p>
            <a:pPr marL="0" indent="0">
              <a:buNone/>
            </a:pPr>
            <a:r>
              <a:rPr lang="en-US" sz="3100" b="1" dirty="0">
                <a:solidFill>
                  <a:srgbClr val="FF0000"/>
                </a:solidFill>
              </a:rPr>
              <a:t>When offered all five types of leaves, which type will the monkeys eat preferentially?</a:t>
            </a:r>
          </a:p>
          <a:p>
            <a:r>
              <a:rPr lang="en-US" sz="2600" dirty="0"/>
              <a:t>This is a question, and questions fail to satisfy criterion #1: They are not predictive statements. Hence, a question is not a hypothesis.</a:t>
            </a:r>
            <a:endParaRPr lang="es-CL" sz="2600" dirty="0"/>
          </a:p>
        </p:txBody>
      </p:sp>
    </p:spTree>
    <p:extLst>
      <p:ext uri="{BB962C8B-B14F-4D97-AF65-F5344CB8AC3E}">
        <p14:creationId xmlns:p14="http://schemas.microsoft.com/office/powerpoint/2010/main" val="2563486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b="1" dirty="0"/>
              <a:t>In short: </a:t>
            </a:r>
            <a:endParaRPr lang="en-US"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1780568047"/>
              </p:ext>
            </p:extLst>
          </p:nvPr>
        </p:nvGraphicFramePr>
        <p:xfrm>
          <a:off x="838200" y="2177591"/>
          <a:ext cx="10515600" cy="3557057"/>
        </p:xfrm>
        <a:graphic>
          <a:graphicData uri="http://schemas.openxmlformats.org/drawingml/2006/table">
            <a:tbl>
              <a:tblPr/>
              <a:tblGrid>
                <a:gridCol w="5138305">
                  <a:extLst>
                    <a:ext uri="{9D8B030D-6E8A-4147-A177-3AD203B41FA5}">
                      <a16:colId xmlns:a16="http://schemas.microsoft.com/office/drawing/2014/main" val="3525660772"/>
                    </a:ext>
                  </a:extLst>
                </a:gridCol>
                <a:gridCol w="5377295">
                  <a:extLst>
                    <a:ext uri="{9D8B030D-6E8A-4147-A177-3AD203B41FA5}">
                      <a16:colId xmlns:a16="http://schemas.microsoft.com/office/drawing/2014/main" val="3321472838"/>
                    </a:ext>
                  </a:extLst>
                </a:gridCol>
              </a:tblGrid>
              <a:tr h="761054">
                <a:tc>
                  <a:txBody>
                    <a:bodyPr/>
                    <a:lstStyle/>
                    <a:p>
                      <a:pPr algn="l"/>
                      <a:r>
                        <a:rPr lang="en-US" b="1" dirty="0">
                          <a:solidFill>
                            <a:srgbClr val="00B050"/>
                          </a:solidFill>
                          <a:effectLst/>
                          <a:latin typeface="quote-cjk-patch"/>
                        </a:rPr>
                        <a:t>✅ GOOD HYPOTHESIS</a:t>
                      </a:r>
                    </a:p>
                  </a:txBody>
                  <a:tcPr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b="1" dirty="0">
                          <a:solidFill>
                            <a:srgbClr val="FF0000"/>
                          </a:solidFill>
                          <a:effectLst/>
                          <a:latin typeface="quote-cjk-patch"/>
                        </a:rPr>
                        <a:t>❌ INCORRECT</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9225642"/>
                  </a:ext>
                </a:extLst>
              </a:tr>
              <a:tr h="1154845">
                <a:tc>
                  <a:txBody>
                    <a:bodyPr/>
                    <a:lstStyle/>
                    <a:p>
                      <a:r>
                        <a:rPr lang="en-US" b="1">
                          <a:effectLst/>
                          <a:latin typeface="quote-cjk-patch"/>
                        </a:rPr>
                        <a:t>"When offered all five leaves, the monkeys will eat more B leaves than others."</a:t>
                      </a:r>
                      <a:br>
                        <a:rPr lang="en-US" b="0">
                          <a:effectLst/>
                          <a:latin typeface="quote-cjk-patch"/>
                        </a:rPr>
                      </a:br>
                      <a:r>
                        <a:rPr lang="en-US" b="0">
                          <a:effectLst/>
                          <a:latin typeface="quote-cjk-patch"/>
                        </a:rPr>
                        <a:t>- </a:t>
                      </a:r>
                      <a:r>
                        <a:rPr lang="en-US" b="1">
                          <a:effectLst/>
                          <a:latin typeface="quote-cjk-patch"/>
                        </a:rPr>
                        <a:t>Predictive:</a:t>
                      </a:r>
                      <a:r>
                        <a:rPr lang="en-US" b="0">
                          <a:effectLst/>
                          <a:latin typeface="quote-cjk-patch"/>
                        </a:rPr>
                        <a:t> Says what will happen.</a:t>
                      </a:r>
                      <a:br>
                        <a:rPr lang="en-US" b="0">
                          <a:effectLst/>
                          <a:latin typeface="quote-cjk-patch"/>
                        </a:rPr>
                      </a:br>
                      <a:r>
                        <a:rPr lang="en-US" b="0">
                          <a:effectLst/>
                          <a:latin typeface="quote-cjk-patch"/>
                        </a:rPr>
                        <a:t>- </a:t>
                      </a:r>
                      <a:r>
                        <a:rPr lang="en-US" b="1">
                          <a:effectLst/>
                          <a:latin typeface="quote-cjk-patch"/>
                        </a:rPr>
                        <a:t>Testable:</a:t>
                      </a:r>
                      <a:r>
                        <a:rPr lang="en-US" b="0">
                          <a:effectLst/>
                          <a:latin typeface="quote-cjk-patch"/>
                        </a:rPr>
                        <a:t> You can count and compare.</a:t>
                      </a:r>
                    </a:p>
                  </a:txBody>
                  <a:tcPr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effectLst/>
                          <a:latin typeface="quote-cjk-patch"/>
                        </a:rPr>
                        <a:t>"They will eat what they like best."</a:t>
                      </a:r>
                      <a:br>
                        <a:rPr lang="en-US" b="0" dirty="0">
                          <a:effectLst/>
                          <a:latin typeface="quote-cjk-patch"/>
                        </a:rPr>
                      </a:br>
                      <a:r>
                        <a:rPr lang="en-US" b="0" dirty="0">
                          <a:effectLst/>
                          <a:latin typeface="quote-cjk-patch"/>
                        </a:rPr>
                        <a:t>- </a:t>
                      </a:r>
                      <a:r>
                        <a:rPr lang="en-US" b="1" dirty="0">
                          <a:effectLst/>
                          <a:latin typeface="quote-cjk-patch"/>
                        </a:rPr>
                        <a:t>Not Testable:</a:t>
                      </a:r>
                      <a:r>
                        <a:rPr lang="en-US" b="0" dirty="0">
                          <a:effectLst/>
                          <a:latin typeface="quote-cjk-patch"/>
                        </a:rPr>
                        <a:t> "Like" is not measurable.</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3894982"/>
                  </a:ext>
                </a:extLst>
              </a:tr>
              <a:tr h="896083">
                <a:tc>
                  <a:txBody>
                    <a:bodyPr/>
                    <a:lstStyle/>
                    <a:p>
                      <a:endParaRPr lang="en-US" b="0" dirty="0">
                        <a:effectLst/>
                        <a:latin typeface="quote-cjk-patch"/>
                      </a:endParaRPr>
                    </a:p>
                  </a:txBody>
                  <a:tcPr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effectLst/>
                          <a:latin typeface="quote-cjk-patch"/>
                        </a:rPr>
                        <a:t>"...because they feel safe."</a:t>
                      </a:r>
                      <a:br>
                        <a:rPr lang="en-US" b="0" dirty="0">
                          <a:effectLst/>
                          <a:latin typeface="quote-cjk-patch"/>
                        </a:rPr>
                      </a:br>
                      <a:r>
                        <a:rPr lang="en-US" b="0" dirty="0">
                          <a:effectLst/>
                          <a:latin typeface="quote-cjk-patch"/>
                        </a:rPr>
                        <a:t>- </a:t>
                      </a:r>
                      <a:r>
                        <a:rPr lang="en-US" b="1" dirty="0">
                          <a:effectLst/>
                          <a:latin typeface="quote-cjk-patch"/>
                        </a:rPr>
                        <a:t>Not Testable:</a:t>
                      </a:r>
                      <a:r>
                        <a:rPr lang="en-US" b="0" dirty="0">
                          <a:effectLst/>
                          <a:latin typeface="quote-cjk-patch"/>
                        </a:rPr>
                        <a:t> This experiment can't test the "why".</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912768"/>
                  </a:ext>
                </a:extLst>
              </a:tr>
              <a:tr h="637321">
                <a:tc>
                  <a:txBody>
                    <a:bodyPr/>
                    <a:lstStyle/>
                    <a:p>
                      <a:endParaRPr lang="en-US" b="0">
                        <a:effectLst/>
                        <a:latin typeface="quote-cjk-patch"/>
                      </a:endParaRPr>
                    </a:p>
                  </a:txBody>
                  <a:tcPr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effectLst/>
                          <a:latin typeface="quote-cjk-patch"/>
                        </a:rPr>
                        <a:t>"Which will they eat?"</a:t>
                      </a:r>
                      <a:br>
                        <a:rPr lang="en-US" b="0" dirty="0">
                          <a:effectLst/>
                          <a:latin typeface="quote-cjk-patch"/>
                        </a:rPr>
                      </a:br>
                      <a:r>
                        <a:rPr lang="en-US" b="0" dirty="0">
                          <a:effectLst/>
                          <a:latin typeface="quote-cjk-patch"/>
                        </a:rPr>
                        <a:t>- </a:t>
                      </a:r>
                      <a:r>
                        <a:rPr lang="en-US" b="1" dirty="0">
                          <a:effectLst/>
                          <a:latin typeface="quote-cjk-patch"/>
                        </a:rPr>
                        <a:t>A Question, not a prediction.</a:t>
                      </a:r>
                      <a:endParaRPr lang="en-US" b="0" dirty="0">
                        <a:effectLst/>
                        <a:latin typeface="quote-cjk-patch"/>
                      </a:endParaRP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936276"/>
                  </a:ext>
                </a:extLst>
              </a:tr>
            </a:tbl>
          </a:graphicData>
        </a:graphic>
      </p:graphicFrame>
    </p:spTree>
    <p:extLst>
      <p:ext uri="{BB962C8B-B14F-4D97-AF65-F5344CB8AC3E}">
        <p14:creationId xmlns:p14="http://schemas.microsoft.com/office/powerpoint/2010/main" val="2412581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Crafting a Strong Hypothesis: The Formula</a:t>
            </a:r>
            <a:endParaRPr lang="en-US" dirty="0"/>
          </a:p>
        </p:txBody>
      </p:sp>
      <p:sp>
        <p:nvSpPr>
          <p:cNvPr id="3" name="Marcador de contenido 2"/>
          <p:cNvSpPr>
            <a:spLocks noGrp="1"/>
          </p:cNvSpPr>
          <p:nvPr>
            <p:ph idx="1"/>
          </p:nvPr>
        </p:nvSpPr>
        <p:spPr/>
        <p:txBody>
          <a:bodyPr/>
          <a:lstStyle/>
          <a:p>
            <a:r>
              <a:rPr lang="en-US" b="1" dirty="0"/>
              <a:t>IF:</a:t>
            </a:r>
            <a:r>
              <a:rPr lang="en-US" dirty="0"/>
              <a:t> [Independent Variable] (What you change)</a:t>
            </a:r>
          </a:p>
          <a:p>
            <a:r>
              <a:rPr lang="en-US" b="1" dirty="0"/>
              <a:t>THEN:</a:t>
            </a:r>
            <a:r>
              <a:rPr lang="en-US" dirty="0"/>
              <a:t> [Dependent Variable] (What you measure)</a:t>
            </a:r>
          </a:p>
          <a:p>
            <a:r>
              <a:rPr lang="en-US" b="1" dirty="0"/>
              <a:t>BECAUSE:</a:t>
            </a:r>
            <a:r>
              <a:rPr lang="en-US" dirty="0"/>
              <a:t> [Your logical reasoning]</a:t>
            </a:r>
          </a:p>
          <a:p>
            <a:endParaRPr lang="es-ES" dirty="0"/>
          </a:p>
          <a:p>
            <a:r>
              <a:rPr lang="en-US" b="1" dirty="0"/>
              <a:t>Example:</a:t>
            </a:r>
            <a:r>
              <a:rPr lang="en-US" dirty="0"/>
              <a:t> "</a:t>
            </a:r>
            <a:r>
              <a:rPr lang="en-US" b="1" dirty="0"/>
              <a:t>IF</a:t>
            </a:r>
            <a:r>
              <a:rPr lang="en-US" dirty="0"/>
              <a:t> monkeys prefer leaves based on taste alone (IV=leaf type), </a:t>
            </a:r>
            <a:r>
              <a:rPr lang="en-US" b="1" dirty="0"/>
              <a:t>THEN</a:t>
            </a:r>
            <a:r>
              <a:rPr lang="en-US" dirty="0"/>
              <a:t> they will eat more B leaves (DV=amount eaten) when safety is equal, </a:t>
            </a:r>
            <a:r>
              <a:rPr lang="en-US" b="1" dirty="0"/>
              <a:t>BECAUSE</a:t>
            </a:r>
            <a:r>
              <a:rPr lang="en-US" dirty="0"/>
              <a:t> prior observation shows B is their main food source."</a:t>
            </a:r>
          </a:p>
          <a:p>
            <a:endParaRPr lang="en-US" dirty="0"/>
          </a:p>
        </p:txBody>
      </p:sp>
    </p:spTree>
    <p:extLst>
      <p:ext uri="{BB962C8B-B14F-4D97-AF65-F5344CB8AC3E}">
        <p14:creationId xmlns:p14="http://schemas.microsoft.com/office/powerpoint/2010/main" val="3231829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b="1" dirty="0" err="1"/>
              <a:t>Types</a:t>
            </a:r>
            <a:r>
              <a:rPr lang="es-CL" b="1" dirty="0"/>
              <a:t> of </a:t>
            </a:r>
            <a:r>
              <a:rPr lang="es-CL" b="1" dirty="0" err="1"/>
              <a:t>Hypotheses</a:t>
            </a:r>
            <a:endParaRPr lang="es-CL" b="1" dirty="0"/>
          </a:p>
        </p:txBody>
      </p:sp>
      <p:sp>
        <p:nvSpPr>
          <p:cNvPr id="3" name="2 Marcador de contenido"/>
          <p:cNvSpPr>
            <a:spLocks noGrp="1"/>
          </p:cNvSpPr>
          <p:nvPr>
            <p:ph idx="1"/>
          </p:nvPr>
        </p:nvSpPr>
        <p:spPr>
          <a:xfrm>
            <a:off x="716280" y="1500505"/>
            <a:ext cx="10515600" cy="4351338"/>
          </a:xfrm>
        </p:spPr>
        <p:txBody>
          <a:bodyPr>
            <a:normAutofit lnSpcReduction="10000"/>
          </a:bodyPr>
          <a:lstStyle/>
          <a:p>
            <a:endParaRPr lang="en-US" dirty="0"/>
          </a:p>
          <a:p>
            <a:r>
              <a:rPr lang="en-US" sz="3200" b="1" dirty="0"/>
              <a:t>Null Hypothesis (H₀):</a:t>
            </a:r>
            <a:r>
              <a:rPr lang="en-US" sz="3200" dirty="0"/>
              <a:t> "The default assumption. It states there is </a:t>
            </a:r>
            <a:r>
              <a:rPr lang="en-US" sz="3200" b="1" dirty="0"/>
              <a:t>no effect</a:t>
            </a:r>
            <a:r>
              <a:rPr lang="en-US" sz="3200" dirty="0"/>
              <a:t> or </a:t>
            </a:r>
            <a:r>
              <a:rPr lang="en-US" sz="3200" b="1" dirty="0"/>
              <a:t>no relationship</a:t>
            </a:r>
            <a:r>
              <a:rPr lang="en-US" sz="3200" dirty="0"/>
              <a:t>." (e.g., "The vaccine has </a:t>
            </a:r>
            <a:r>
              <a:rPr lang="en-US" sz="3200" b="1" dirty="0"/>
              <a:t>no effect</a:t>
            </a:r>
            <a:r>
              <a:rPr lang="en-US" sz="3200" dirty="0"/>
              <a:t> on antigen count.")</a:t>
            </a:r>
          </a:p>
          <a:p>
            <a:r>
              <a:rPr lang="en-US" sz="3200" b="1" dirty="0"/>
              <a:t>Alternative Hypothesis (H₁ or Hₐ):</a:t>
            </a:r>
            <a:r>
              <a:rPr lang="en-US" sz="3200" dirty="0"/>
              <a:t> "What the researcher believes to be true. It states there </a:t>
            </a:r>
            <a:r>
              <a:rPr lang="en-US" sz="3200" b="1" dirty="0"/>
              <a:t>is an effect</a:t>
            </a:r>
            <a:r>
              <a:rPr lang="en-US" sz="3200" dirty="0"/>
              <a:t> or </a:t>
            </a:r>
            <a:r>
              <a:rPr lang="en-US" sz="3200" b="1" dirty="0"/>
              <a:t>a relationship</a:t>
            </a:r>
            <a:r>
              <a:rPr lang="en-US" sz="3200" dirty="0"/>
              <a:t>." (e.g., "The vaccine </a:t>
            </a:r>
            <a:r>
              <a:rPr lang="en-US" sz="3200" b="1" dirty="0"/>
              <a:t>increases</a:t>
            </a:r>
            <a:r>
              <a:rPr lang="en-US" sz="3200" dirty="0"/>
              <a:t> the antigen count.")</a:t>
            </a:r>
          </a:p>
          <a:p>
            <a:r>
              <a:rPr lang="en-US" b="1" dirty="0"/>
              <a:t>Key Point:</a:t>
            </a:r>
            <a:r>
              <a:rPr lang="en-US" dirty="0"/>
              <a:t> "We test the data to see if we can </a:t>
            </a:r>
            <a:r>
              <a:rPr lang="en-US" b="1" dirty="0"/>
              <a:t>reject the null hypothesis.</a:t>
            </a:r>
            <a:r>
              <a:rPr lang="en-US" dirty="0"/>
              <a:t>"</a:t>
            </a:r>
          </a:p>
          <a:p>
            <a:endParaRPr lang="es-CL" dirty="0"/>
          </a:p>
        </p:txBody>
      </p:sp>
    </p:spTree>
    <p:extLst>
      <p:ext uri="{BB962C8B-B14F-4D97-AF65-F5344CB8AC3E}">
        <p14:creationId xmlns:p14="http://schemas.microsoft.com/office/powerpoint/2010/main" val="2034850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53208" y="-21020"/>
            <a:ext cx="8229600" cy="1143000"/>
          </a:xfrm>
        </p:spPr>
        <p:txBody>
          <a:bodyPr>
            <a:normAutofit/>
          </a:bodyPr>
          <a:lstStyle/>
          <a:p>
            <a:r>
              <a:rPr lang="es-CL" sz="4000" b="1" dirty="0"/>
              <a:t>EXAMPLE</a:t>
            </a:r>
          </a:p>
        </p:txBody>
      </p:sp>
      <p:sp>
        <p:nvSpPr>
          <p:cNvPr id="3" name="2 Marcador de contenido"/>
          <p:cNvSpPr>
            <a:spLocks noGrp="1"/>
          </p:cNvSpPr>
          <p:nvPr>
            <p:ph idx="1"/>
          </p:nvPr>
        </p:nvSpPr>
        <p:spPr>
          <a:xfrm>
            <a:off x="640080" y="1080554"/>
            <a:ext cx="10586720" cy="3168352"/>
          </a:xfrm>
        </p:spPr>
        <p:txBody>
          <a:bodyPr>
            <a:normAutofit lnSpcReduction="10000"/>
          </a:bodyPr>
          <a:lstStyle/>
          <a:p>
            <a:pPr marL="0" indent="0">
              <a:buNone/>
            </a:pPr>
            <a:r>
              <a:rPr lang="en-US" sz="2400" dirty="0"/>
              <a:t>We want to do a clinical trial of a new vaccine, to proof it generates protection to the population who receives it </a:t>
            </a:r>
          </a:p>
          <a:p>
            <a:pPr marL="0" indent="0">
              <a:buNone/>
            </a:pPr>
            <a:r>
              <a:rPr lang="en-US" sz="2400" dirty="0"/>
              <a:t>We would write H0: </a:t>
            </a:r>
          </a:p>
          <a:p>
            <a:r>
              <a:rPr lang="en-US" sz="2400" b="1" dirty="0"/>
              <a:t>On average the new vaccine has no effect on the number of antigens people develop. </a:t>
            </a:r>
            <a:endParaRPr lang="en-US" sz="2400" dirty="0"/>
          </a:p>
          <a:p>
            <a:pPr marL="0" indent="0">
              <a:buNone/>
            </a:pPr>
            <a:endParaRPr lang="en-US" sz="2400" dirty="0"/>
          </a:p>
          <a:p>
            <a:pPr marL="0" indent="0">
              <a:buNone/>
            </a:pPr>
            <a:r>
              <a:rPr lang="en-US" sz="2400" dirty="0"/>
              <a:t>The </a:t>
            </a:r>
            <a:r>
              <a:rPr lang="en-US" sz="2400" b="1" dirty="0"/>
              <a:t>alternative hypothesis </a:t>
            </a:r>
            <a:r>
              <a:rPr lang="en-US" sz="2400" dirty="0"/>
              <a:t>might be that the new vaccine has an effect on people who are inoculated.  </a:t>
            </a:r>
          </a:p>
          <a:p>
            <a:pPr marL="0" indent="0">
              <a:buNone/>
            </a:pPr>
            <a:endParaRPr lang="es-CL" sz="2400" dirty="0"/>
          </a:p>
        </p:txBody>
      </p:sp>
      <p:pic>
        <p:nvPicPr>
          <p:cNvPr id="4" name="Imagen 3"/>
          <p:cNvPicPr>
            <a:picLocks noChangeAspect="1"/>
          </p:cNvPicPr>
          <p:nvPr/>
        </p:nvPicPr>
        <p:blipFill>
          <a:blip r:embed="rId2"/>
          <a:stretch>
            <a:fillRect/>
          </a:stretch>
        </p:blipFill>
        <p:spPr>
          <a:xfrm>
            <a:off x="7880216" y="3923131"/>
            <a:ext cx="3682752" cy="2245581"/>
          </a:xfrm>
          <a:prstGeom prst="rect">
            <a:avLst/>
          </a:prstGeom>
        </p:spPr>
      </p:pic>
      <p:sp>
        <p:nvSpPr>
          <p:cNvPr id="5" name="Rectángulo 4"/>
          <p:cNvSpPr/>
          <p:nvPr/>
        </p:nvSpPr>
        <p:spPr>
          <a:xfrm>
            <a:off x="733610" y="4261092"/>
            <a:ext cx="5646870" cy="1569660"/>
          </a:xfrm>
          <a:prstGeom prst="rect">
            <a:avLst/>
          </a:prstGeom>
        </p:spPr>
        <p:txBody>
          <a:bodyPr wrap="square">
            <a:spAutoFit/>
          </a:bodyPr>
          <a:lstStyle/>
          <a:p>
            <a:r>
              <a:rPr lang="en-US" sz="2400" dirty="0"/>
              <a:t>We would write H1: </a:t>
            </a:r>
          </a:p>
          <a:p>
            <a:r>
              <a:rPr lang="en-US" sz="2400" b="1" dirty="0"/>
              <a:t>People inoculated with the new vaccine develop in average, x% or more antigens than those who are not.</a:t>
            </a:r>
            <a:endParaRPr lang="en-US" sz="2400" dirty="0"/>
          </a:p>
        </p:txBody>
      </p:sp>
    </p:spTree>
    <p:extLst>
      <p:ext uri="{BB962C8B-B14F-4D97-AF65-F5344CB8AC3E}">
        <p14:creationId xmlns:p14="http://schemas.microsoft.com/office/powerpoint/2010/main" val="1768971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847528" y="-99392"/>
            <a:ext cx="8229600" cy="1143000"/>
          </a:xfrm>
        </p:spPr>
        <p:txBody>
          <a:bodyPr>
            <a:normAutofit/>
          </a:bodyPr>
          <a:lstStyle/>
          <a:p>
            <a:r>
              <a:rPr lang="es-ES" sz="4000" b="1" dirty="0"/>
              <a:t>EXPERIMENT</a:t>
            </a:r>
            <a:endParaRPr lang="es-CL" sz="4000" b="1" dirty="0"/>
          </a:p>
        </p:txBody>
      </p:sp>
      <p:sp>
        <p:nvSpPr>
          <p:cNvPr id="3" name="Marcador de contenido 2"/>
          <p:cNvSpPr>
            <a:spLocks noGrp="1"/>
          </p:cNvSpPr>
          <p:nvPr>
            <p:ph idx="1"/>
          </p:nvPr>
        </p:nvSpPr>
        <p:spPr>
          <a:xfrm>
            <a:off x="538480" y="1043608"/>
            <a:ext cx="6307192" cy="4608512"/>
          </a:xfrm>
        </p:spPr>
        <p:txBody>
          <a:bodyPr>
            <a:noAutofit/>
          </a:bodyPr>
          <a:lstStyle/>
          <a:p>
            <a:r>
              <a:rPr lang="en-US" sz="2400" dirty="0"/>
              <a:t>Gather two groups of people with similar characteristics </a:t>
            </a:r>
          </a:p>
          <a:p>
            <a:r>
              <a:rPr lang="en-US" sz="2400" dirty="0"/>
              <a:t>Experimental group: those who receive the vaccine</a:t>
            </a:r>
          </a:p>
          <a:p>
            <a:r>
              <a:rPr lang="en-US" sz="2400" dirty="0"/>
              <a:t>Control Group: those who get a placebo </a:t>
            </a:r>
          </a:p>
          <a:p>
            <a:r>
              <a:rPr lang="en-US" sz="2400" dirty="0"/>
              <a:t>After some time get the number of antigens in both groups </a:t>
            </a:r>
          </a:p>
          <a:p>
            <a:r>
              <a:rPr lang="en-US" sz="2400" dirty="0"/>
              <a:t>Apply statistical methods to check if there is a significant difference in the results for both groups</a:t>
            </a:r>
          </a:p>
        </p:txBody>
      </p:sp>
      <p:pic>
        <p:nvPicPr>
          <p:cNvPr id="4" name="Imagen 3"/>
          <p:cNvPicPr>
            <a:picLocks noChangeAspect="1"/>
          </p:cNvPicPr>
          <p:nvPr/>
        </p:nvPicPr>
        <p:blipFill>
          <a:blip r:embed="rId2"/>
          <a:stretch>
            <a:fillRect/>
          </a:stretch>
        </p:blipFill>
        <p:spPr>
          <a:xfrm>
            <a:off x="7235470" y="1243810"/>
            <a:ext cx="2850920" cy="1897158"/>
          </a:xfrm>
          <a:prstGeom prst="rect">
            <a:avLst/>
          </a:prstGeom>
        </p:spPr>
      </p:pic>
      <p:pic>
        <p:nvPicPr>
          <p:cNvPr id="5" name="Imagen 4"/>
          <p:cNvPicPr>
            <a:picLocks noChangeAspect="1"/>
          </p:cNvPicPr>
          <p:nvPr/>
        </p:nvPicPr>
        <p:blipFill>
          <a:blip r:embed="rId3"/>
          <a:stretch>
            <a:fillRect/>
          </a:stretch>
        </p:blipFill>
        <p:spPr>
          <a:xfrm>
            <a:off x="7241415" y="3573017"/>
            <a:ext cx="2876550" cy="1590675"/>
          </a:xfrm>
          <a:prstGeom prst="rect">
            <a:avLst/>
          </a:prstGeom>
        </p:spPr>
      </p:pic>
      <p:sp>
        <p:nvSpPr>
          <p:cNvPr id="6" name="Rectángulo 5"/>
          <p:cNvSpPr/>
          <p:nvPr/>
        </p:nvSpPr>
        <p:spPr>
          <a:xfrm>
            <a:off x="1771482" y="5554107"/>
            <a:ext cx="8247305" cy="954107"/>
          </a:xfrm>
          <a:prstGeom prst="rect">
            <a:avLst/>
          </a:prstGeom>
        </p:spPr>
        <p:txBody>
          <a:bodyPr wrap="square">
            <a:spAutoFit/>
          </a:bodyPr>
          <a:lstStyle/>
          <a:p>
            <a:r>
              <a:rPr lang="en-US" sz="2800" dirty="0"/>
              <a:t>More examples everywhere in the web: </a:t>
            </a:r>
          </a:p>
          <a:p>
            <a:r>
              <a:rPr lang="en-US" sz="2800" dirty="0"/>
              <a:t>https://helpfulprofessor.com/hypothesis-examples/</a:t>
            </a:r>
          </a:p>
        </p:txBody>
      </p:sp>
    </p:spTree>
    <p:extLst>
      <p:ext uri="{BB962C8B-B14F-4D97-AF65-F5344CB8AC3E}">
        <p14:creationId xmlns:p14="http://schemas.microsoft.com/office/powerpoint/2010/main" val="6738409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0629" y="116632"/>
            <a:ext cx="8229600" cy="1143000"/>
          </a:xfrm>
        </p:spPr>
        <p:txBody>
          <a:bodyPr>
            <a:normAutofit/>
          </a:bodyPr>
          <a:lstStyle/>
          <a:p>
            <a:r>
              <a:rPr lang="es-CL" sz="4000" b="1" dirty="0" err="1"/>
              <a:t>Generation</a:t>
            </a:r>
            <a:r>
              <a:rPr lang="es-CL" sz="4000" b="1" dirty="0"/>
              <a:t> of </a:t>
            </a:r>
            <a:r>
              <a:rPr lang="es-CL" sz="4000" b="1" dirty="0" err="1"/>
              <a:t>Research</a:t>
            </a:r>
            <a:r>
              <a:rPr lang="es-CL" sz="4000" b="1" dirty="0"/>
              <a:t> </a:t>
            </a:r>
            <a:r>
              <a:rPr lang="es-CL" sz="4000" b="1" dirty="0" err="1"/>
              <a:t>Hypothesis</a:t>
            </a:r>
            <a:endParaRPr lang="es-CL" sz="4000" b="1" dirty="0"/>
          </a:p>
        </p:txBody>
      </p:sp>
      <p:sp>
        <p:nvSpPr>
          <p:cNvPr id="3" name="2 Marcador de contenido"/>
          <p:cNvSpPr>
            <a:spLocks noGrp="1"/>
          </p:cNvSpPr>
          <p:nvPr>
            <p:ph idx="1"/>
          </p:nvPr>
        </p:nvSpPr>
        <p:spPr>
          <a:xfrm>
            <a:off x="304800" y="1259632"/>
            <a:ext cx="7112000" cy="5598368"/>
          </a:xfrm>
        </p:spPr>
        <p:txBody>
          <a:bodyPr>
            <a:normAutofit fontScale="77500" lnSpcReduction="20000"/>
          </a:bodyPr>
          <a:lstStyle/>
          <a:p>
            <a:pPr marL="0" indent="0">
              <a:buNone/>
            </a:pPr>
            <a:r>
              <a:rPr lang="en-US" b="1" dirty="0"/>
              <a:t>1. Initial Ideas: </a:t>
            </a:r>
            <a:r>
              <a:rPr lang="en-US" dirty="0"/>
              <a:t>The process starts with broad curiosity—a general question or a vague idea about how something works. "I wonder how social media affects people's happiness?“</a:t>
            </a:r>
          </a:p>
          <a:p>
            <a:pPr marL="0" indent="0">
              <a:buNone/>
            </a:pPr>
            <a:r>
              <a:rPr lang="en-US" b="1" dirty="0"/>
              <a:t>2. Initial Observations: </a:t>
            </a:r>
            <a:r>
              <a:rPr lang="en-US" dirty="0"/>
              <a:t>Informal noticing of patterns or behaviors in the world provides initial support for the idea. "I've noticed that my friends who spend a lot of time on Instagram seem to report feeling more anxious or dissatisfied.“</a:t>
            </a:r>
          </a:p>
          <a:p>
            <a:pPr marL="0" indent="0">
              <a:buNone/>
            </a:pPr>
            <a:r>
              <a:rPr lang="en-US" b="1" dirty="0"/>
              <a:t>3. Literature Search: </a:t>
            </a:r>
            <a:r>
              <a:rPr lang="en-US" dirty="0"/>
              <a:t>The researcher then explores existing scientific studies to understand current knowledge and identify gaps their work could fill. Searching for studies on "social media use and well-being," "Facebook and depression," or "Instagram and self-esteem.“</a:t>
            </a:r>
          </a:p>
          <a:p>
            <a:pPr marL="0" indent="0">
              <a:buNone/>
            </a:pPr>
            <a:r>
              <a:rPr lang="en-US" b="1" dirty="0"/>
              <a:t>4. Problem Statement: </a:t>
            </a:r>
            <a:r>
              <a:rPr lang="en-US" dirty="0"/>
              <a:t>Based on the literature, a specific, focused research problem is formally defined. "While previous research has established a correlation between social media use and decreased well-being, there is a lack of experimental research on whether limiting daily Instagram use leads to a measurable increase in life satisfaction in young adults.“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3440" y="1238429"/>
            <a:ext cx="4988560" cy="5249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717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0629" y="116632"/>
            <a:ext cx="8229600" cy="1143000"/>
          </a:xfrm>
        </p:spPr>
        <p:txBody>
          <a:bodyPr>
            <a:normAutofit/>
          </a:bodyPr>
          <a:lstStyle/>
          <a:p>
            <a:r>
              <a:rPr lang="es-CL" sz="4000" b="1" dirty="0" err="1"/>
              <a:t>Generation</a:t>
            </a:r>
            <a:r>
              <a:rPr lang="es-CL" sz="4000" b="1" dirty="0"/>
              <a:t> of </a:t>
            </a:r>
            <a:r>
              <a:rPr lang="es-CL" sz="4000" b="1" dirty="0" err="1"/>
              <a:t>Research</a:t>
            </a:r>
            <a:r>
              <a:rPr lang="es-CL" sz="4000" b="1" dirty="0"/>
              <a:t> </a:t>
            </a:r>
            <a:r>
              <a:rPr lang="es-CL" sz="4000" b="1" dirty="0" err="1"/>
              <a:t>Hypothesis</a:t>
            </a:r>
            <a:endParaRPr lang="es-CL" sz="4000" b="1" dirty="0"/>
          </a:p>
        </p:txBody>
      </p:sp>
      <p:sp>
        <p:nvSpPr>
          <p:cNvPr id="3" name="2 Marcador de contenido"/>
          <p:cNvSpPr>
            <a:spLocks noGrp="1"/>
          </p:cNvSpPr>
          <p:nvPr>
            <p:ph idx="1"/>
          </p:nvPr>
        </p:nvSpPr>
        <p:spPr>
          <a:xfrm>
            <a:off x="304800" y="1259632"/>
            <a:ext cx="7112000" cy="5598368"/>
          </a:xfrm>
        </p:spPr>
        <p:txBody>
          <a:bodyPr>
            <a:normAutofit fontScale="85000" lnSpcReduction="20000"/>
          </a:bodyPr>
          <a:lstStyle/>
          <a:p>
            <a:pPr marL="0" indent="0">
              <a:buNone/>
            </a:pPr>
            <a:r>
              <a:rPr lang="en-US" b="1"/>
              <a:t>5</a:t>
            </a:r>
            <a:r>
              <a:rPr lang="en-US" b="1" dirty="0"/>
              <a:t>. Operational Definitions</a:t>
            </a:r>
            <a:r>
              <a:rPr lang="en-US" dirty="0"/>
              <a:t>: This is a critical step. Abstract concepts (e.g., "happiness," "social media use") are defined in precise, measurable terms. </a:t>
            </a:r>
          </a:p>
          <a:p>
            <a:r>
              <a:rPr lang="en-US" sz="2700" dirty="0"/>
              <a:t>Construct: "Instagram Use" -&gt; Operationalized as: "Total minutes spent on the Instagram app per day, as tracked by iPhone's Screen Time feature."</a:t>
            </a:r>
          </a:p>
          <a:p>
            <a:r>
              <a:rPr lang="en-US" dirty="0"/>
              <a:t>Construct: </a:t>
            </a:r>
            <a:r>
              <a:rPr lang="en-US" b="1" dirty="0"/>
              <a:t>"Life Satisfaction"</a:t>
            </a:r>
            <a:r>
              <a:rPr lang="en-US" dirty="0"/>
              <a:t> -&gt; Operationalized as: </a:t>
            </a:r>
            <a:r>
              <a:rPr lang="en-US" b="1" dirty="0"/>
              <a:t>"A participant's total score on the Satisfaction with Life Scale (SWLS), a standardized 5-question survey."</a:t>
            </a:r>
            <a:endParaRPr lang="en-US" dirty="0"/>
          </a:p>
          <a:p>
            <a:pPr marL="0" indent="0">
              <a:buNone/>
            </a:pPr>
            <a:r>
              <a:rPr lang="en-US" b="1" dirty="0"/>
              <a:t>6. Research Hypothesis : </a:t>
            </a:r>
            <a:r>
              <a:rPr lang="en-US" dirty="0"/>
              <a:t>The final output is a specific, deductive prediction. It clearly states the expected relationship between the measurable variables defined in the previous step. </a:t>
            </a:r>
            <a:r>
              <a:rPr lang="en-US" b="1" dirty="0"/>
              <a:t>"Young adults (aged 18-25) who are instructed to limit their Instagram use to less than 30 minutes per day for a period of four weeks will report a significantly higher score on the Satisfaction with Life Scale (SWLS) at post-test than a control group who continues their usage unrestricted."</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3440" y="1238429"/>
            <a:ext cx="4988560" cy="5249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007375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b="1" dirty="0"/>
              <a:t>Hypothesis testing is a four-step procedure:</a:t>
            </a:r>
            <a:endParaRPr lang="es-CL" dirty="0"/>
          </a:p>
        </p:txBody>
      </p:sp>
      <p:sp>
        <p:nvSpPr>
          <p:cNvPr id="3" name="2 Marcador de contenido"/>
          <p:cNvSpPr>
            <a:spLocks noGrp="1"/>
          </p:cNvSpPr>
          <p:nvPr>
            <p:ph idx="1"/>
          </p:nvPr>
        </p:nvSpPr>
        <p:spPr/>
        <p:txBody>
          <a:bodyPr>
            <a:normAutofit/>
          </a:bodyPr>
          <a:lstStyle/>
          <a:p>
            <a:pPr marL="742950" indent="-742950">
              <a:buFont typeface="+mj-lt"/>
              <a:buAutoNum type="arabicPeriod"/>
            </a:pPr>
            <a:r>
              <a:rPr lang="en-US" sz="3600" dirty="0"/>
              <a:t>Stating the hypothesis </a:t>
            </a:r>
          </a:p>
          <a:p>
            <a:pPr marL="1143000" lvl="1" indent="-742950"/>
            <a:r>
              <a:rPr lang="en-US" dirty="0"/>
              <a:t>(Null and/or Alternative)</a:t>
            </a:r>
          </a:p>
          <a:p>
            <a:pPr marL="742950" indent="-742950">
              <a:buFont typeface="+mj-lt"/>
              <a:buAutoNum type="arabicPeriod"/>
            </a:pPr>
            <a:r>
              <a:rPr lang="es-CL" sz="3600" dirty="0" err="1"/>
              <a:t>Setting</a:t>
            </a:r>
            <a:r>
              <a:rPr lang="es-CL" sz="3600" dirty="0"/>
              <a:t> </a:t>
            </a:r>
            <a:r>
              <a:rPr lang="es-CL" sz="3600" dirty="0" err="1"/>
              <a:t>the</a:t>
            </a:r>
            <a:r>
              <a:rPr lang="es-CL" sz="3600" dirty="0"/>
              <a:t> </a:t>
            </a:r>
            <a:r>
              <a:rPr lang="es-CL" sz="3600" dirty="0" err="1"/>
              <a:t>criteria</a:t>
            </a:r>
            <a:r>
              <a:rPr lang="es-CL" sz="3600" dirty="0"/>
              <a:t> </a:t>
            </a:r>
            <a:r>
              <a:rPr lang="es-CL" sz="3600" dirty="0" err="1"/>
              <a:t>for</a:t>
            </a:r>
            <a:r>
              <a:rPr lang="es-CL" sz="3600" dirty="0"/>
              <a:t> a </a:t>
            </a:r>
            <a:r>
              <a:rPr lang="es-CL" sz="3600" dirty="0" err="1"/>
              <a:t>decision</a:t>
            </a:r>
            <a:endParaRPr lang="es-CL" sz="3600" dirty="0"/>
          </a:p>
          <a:p>
            <a:pPr marL="742950" indent="-742950">
              <a:buFont typeface="+mj-lt"/>
              <a:buAutoNum type="arabicPeriod"/>
            </a:pPr>
            <a:r>
              <a:rPr lang="es-CL" sz="3600" dirty="0" err="1"/>
              <a:t>Collecting</a:t>
            </a:r>
            <a:r>
              <a:rPr lang="es-CL" sz="3600" dirty="0"/>
              <a:t> data</a:t>
            </a:r>
          </a:p>
          <a:p>
            <a:pPr marL="742950" indent="-742950">
              <a:buFont typeface="+mj-lt"/>
              <a:buAutoNum type="arabicPeriod"/>
            </a:pPr>
            <a:r>
              <a:rPr lang="es-CL" sz="3600" dirty="0" err="1"/>
              <a:t>Evaluate</a:t>
            </a:r>
            <a:r>
              <a:rPr lang="es-CL" sz="3600" dirty="0"/>
              <a:t> </a:t>
            </a:r>
            <a:r>
              <a:rPr lang="es-CL" sz="3600" dirty="0" err="1"/>
              <a:t>the</a:t>
            </a:r>
            <a:r>
              <a:rPr lang="es-CL" sz="3600" dirty="0"/>
              <a:t> </a:t>
            </a:r>
            <a:r>
              <a:rPr lang="es-CL" sz="3600" dirty="0" err="1"/>
              <a:t>Null</a:t>
            </a:r>
            <a:r>
              <a:rPr lang="es-CL" sz="3600" dirty="0"/>
              <a:t> </a:t>
            </a:r>
            <a:r>
              <a:rPr lang="es-CL" sz="3600" dirty="0" err="1"/>
              <a:t>hypothesis</a:t>
            </a:r>
            <a:endParaRPr lang="es-CL" sz="3600" dirty="0"/>
          </a:p>
        </p:txBody>
      </p:sp>
    </p:spTree>
    <p:extLst>
      <p:ext uri="{BB962C8B-B14F-4D97-AF65-F5344CB8AC3E}">
        <p14:creationId xmlns:p14="http://schemas.microsoft.com/office/powerpoint/2010/main" val="4749910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b="1" dirty="0" err="1"/>
              <a:t>Errors</a:t>
            </a:r>
            <a:r>
              <a:rPr lang="es-CL" b="1" dirty="0"/>
              <a:t> in </a:t>
            </a:r>
            <a:r>
              <a:rPr lang="es-CL" b="1" dirty="0" err="1"/>
              <a:t>Hypotheses</a:t>
            </a:r>
            <a:endParaRPr lang="es-CL" dirty="0"/>
          </a:p>
        </p:txBody>
      </p:sp>
      <p:sp>
        <p:nvSpPr>
          <p:cNvPr id="3" name="2 Marcador de contenido"/>
          <p:cNvSpPr>
            <a:spLocks noGrp="1"/>
          </p:cNvSpPr>
          <p:nvPr>
            <p:ph idx="1"/>
          </p:nvPr>
        </p:nvSpPr>
        <p:spPr>
          <a:xfrm>
            <a:off x="1290504" y="1690688"/>
            <a:ext cx="8219256" cy="4929411"/>
          </a:xfrm>
        </p:spPr>
        <p:txBody>
          <a:bodyPr/>
          <a:lstStyle/>
          <a:p>
            <a:r>
              <a:rPr lang="en-US" b="1" dirty="0"/>
              <a:t>Two types </a:t>
            </a:r>
            <a:r>
              <a:rPr lang="en-US" dirty="0"/>
              <a:t>of mistakes are possible while testing the hypotheses.</a:t>
            </a:r>
          </a:p>
          <a:p>
            <a:pPr marL="0" indent="0">
              <a:buNone/>
            </a:pPr>
            <a:endParaRPr lang="es-CL" dirty="0"/>
          </a:p>
        </p:txBody>
      </p:sp>
      <p:graphicFrame>
        <p:nvGraphicFramePr>
          <p:cNvPr id="4" name="Tabla 3"/>
          <p:cNvGraphicFramePr>
            <a:graphicFrameLocks noGrp="1"/>
          </p:cNvGraphicFramePr>
          <p:nvPr>
            <p:extLst>
              <p:ext uri="{D42A27DB-BD31-4B8C-83A1-F6EECF244321}">
                <p14:modId xmlns:p14="http://schemas.microsoft.com/office/powerpoint/2010/main" val="1154484376"/>
              </p:ext>
            </p:extLst>
          </p:nvPr>
        </p:nvGraphicFramePr>
        <p:xfrm>
          <a:off x="1005184" y="2927414"/>
          <a:ext cx="10515600" cy="2026920"/>
        </p:xfrm>
        <a:graphic>
          <a:graphicData uri="http://schemas.openxmlformats.org/drawingml/2006/table">
            <a:tbl>
              <a:tblPr/>
              <a:tblGrid>
                <a:gridCol w="3505200">
                  <a:extLst>
                    <a:ext uri="{9D8B030D-6E8A-4147-A177-3AD203B41FA5}">
                      <a16:colId xmlns:a16="http://schemas.microsoft.com/office/drawing/2014/main" val="2215304347"/>
                    </a:ext>
                  </a:extLst>
                </a:gridCol>
                <a:gridCol w="3505200">
                  <a:extLst>
                    <a:ext uri="{9D8B030D-6E8A-4147-A177-3AD203B41FA5}">
                      <a16:colId xmlns:a16="http://schemas.microsoft.com/office/drawing/2014/main" val="1208169687"/>
                    </a:ext>
                  </a:extLst>
                </a:gridCol>
                <a:gridCol w="3505200">
                  <a:extLst>
                    <a:ext uri="{9D8B030D-6E8A-4147-A177-3AD203B41FA5}">
                      <a16:colId xmlns:a16="http://schemas.microsoft.com/office/drawing/2014/main" val="1063516315"/>
                    </a:ext>
                  </a:extLst>
                </a:gridCol>
              </a:tblGrid>
              <a:tr h="0">
                <a:tc>
                  <a:txBody>
                    <a:bodyPr/>
                    <a:lstStyle/>
                    <a:p>
                      <a:endParaRPr lang="en-US" dirty="0"/>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US" b="1" dirty="0">
                          <a:effectLst/>
                          <a:latin typeface="quote-cjk-patch"/>
                        </a:rPr>
                        <a:t>H₀ is TRUE</a:t>
                      </a:r>
                      <a:r>
                        <a:rPr lang="en-US" b="0" dirty="0">
                          <a:effectLst/>
                          <a:latin typeface="quote-cjk-patch"/>
                        </a:rPr>
                        <a:t> </a:t>
                      </a:r>
                    </a:p>
                    <a:p>
                      <a:pPr algn="l"/>
                      <a:r>
                        <a:rPr lang="en-US" b="0" dirty="0">
                          <a:effectLst/>
                          <a:latin typeface="quote-cjk-patch"/>
                        </a:rPr>
                        <a:t>(Vaccine doesn't work)</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US" b="1" dirty="0">
                          <a:effectLst/>
                          <a:latin typeface="quote-cjk-patch"/>
                        </a:rPr>
                        <a:t>H₀ is FALSE</a:t>
                      </a:r>
                      <a:r>
                        <a:rPr lang="en-US" b="0" dirty="0">
                          <a:effectLst/>
                          <a:latin typeface="quote-cjk-patch"/>
                        </a:rPr>
                        <a:t> </a:t>
                      </a:r>
                    </a:p>
                    <a:p>
                      <a:pPr algn="l"/>
                      <a:r>
                        <a:rPr lang="en-US" b="0" dirty="0">
                          <a:effectLst/>
                          <a:latin typeface="quote-cjk-patch"/>
                        </a:rPr>
                        <a:t>(Vaccine works)</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49288"/>
                  </a:ext>
                </a:extLst>
              </a:tr>
              <a:tr h="0">
                <a:tc>
                  <a:txBody>
                    <a:bodyPr/>
                    <a:lstStyle/>
                    <a:p>
                      <a:r>
                        <a:rPr lang="en-US" b="1" dirty="0">
                          <a:effectLst/>
                          <a:latin typeface="quote-cjk-patch"/>
                        </a:rPr>
                        <a:t>We REJECT H₀</a:t>
                      </a:r>
                      <a:br>
                        <a:rPr lang="en-US" b="0" dirty="0">
                          <a:effectLst/>
                          <a:latin typeface="quote-cjk-patch"/>
                        </a:rPr>
                      </a:br>
                      <a:r>
                        <a:rPr lang="en-US" b="0" dirty="0">
                          <a:effectLst/>
                          <a:latin typeface="quote-cjk-patch"/>
                        </a:rPr>
                        <a:t>(We say it works)</a:t>
                      </a:r>
                    </a:p>
                  </a:txBody>
                  <a:tcPr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b="0" dirty="0">
                          <a:solidFill>
                            <a:srgbClr val="FF0000"/>
                          </a:solidFill>
                          <a:effectLst/>
                          <a:latin typeface="quote-cjk-patch"/>
                        </a:rPr>
                        <a:t>❌ </a:t>
                      </a:r>
                      <a:r>
                        <a:rPr lang="en-US" b="1" dirty="0">
                          <a:solidFill>
                            <a:srgbClr val="FF0000"/>
                          </a:solidFill>
                          <a:effectLst/>
                          <a:latin typeface="quote-cjk-patch"/>
                        </a:rPr>
                        <a:t>Type I Error</a:t>
                      </a:r>
                      <a:br>
                        <a:rPr lang="en-US" b="0" dirty="0">
                          <a:solidFill>
                            <a:srgbClr val="FF0000"/>
                          </a:solidFill>
                          <a:effectLst/>
                          <a:latin typeface="quote-cjk-patch"/>
                        </a:rPr>
                      </a:br>
                      <a:r>
                        <a:rPr lang="en-US" b="0" dirty="0">
                          <a:solidFill>
                            <a:srgbClr val="FF0000"/>
                          </a:solidFill>
                          <a:effectLst/>
                          <a:latin typeface="quote-cjk-patch"/>
                        </a:rPr>
                        <a:t>"False Alarm</a:t>
                      </a:r>
                      <a:r>
                        <a:rPr lang="en-US" b="0" dirty="0">
                          <a:effectLst/>
                          <a:latin typeface="quote-cjk-patch"/>
                        </a:rPr>
                        <a:t>"</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b="1" dirty="0">
                          <a:solidFill>
                            <a:srgbClr val="00B050"/>
                          </a:solidFill>
                          <a:effectLst/>
                          <a:latin typeface="quote-cjk-patch"/>
                        </a:rPr>
                        <a:t>✅ Correct</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45546331"/>
                  </a:ext>
                </a:extLst>
              </a:tr>
              <a:tr h="0">
                <a:tc>
                  <a:txBody>
                    <a:bodyPr/>
                    <a:lstStyle/>
                    <a:p>
                      <a:r>
                        <a:rPr lang="en-US" b="1" dirty="0">
                          <a:effectLst/>
                          <a:latin typeface="quote-cjk-patch"/>
                        </a:rPr>
                        <a:t>We FAIL TO REJECT H₀</a:t>
                      </a:r>
                      <a:br>
                        <a:rPr lang="en-US" b="0" dirty="0">
                          <a:effectLst/>
                          <a:latin typeface="quote-cjk-patch"/>
                        </a:rPr>
                      </a:br>
                      <a:r>
                        <a:rPr lang="en-US" b="0" dirty="0">
                          <a:effectLst/>
                          <a:latin typeface="quote-cjk-patch"/>
                        </a:rPr>
                        <a:t>(We say it doesn't work)</a:t>
                      </a:r>
                    </a:p>
                  </a:txBody>
                  <a:tcPr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r>
                        <a:rPr lang="en-US" sz="1800" b="1" kern="1200" dirty="0">
                          <a:solidFill>
                            <a:srgbClr val="00B050"/>
                          </a:solidFill>
                          <a:effectLst/>
                          <a:latin typeface="quote-cjk-patch"/>
                          <a:ea typeface="+mn-ea"/>
                          <a:cs typeface="+mn-cs"/>
                        </a:rPr>
                        <a:t>✅ Correct</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b="0" dirty="0">
                          <a:solidFill>
                            <a:srgbClr val="FF0000"/>
                          </a:solidFill>
                          <a:effectLst/>
                          <a:latin typeface="quote-cjk-patch"/>
                        </a:rPr>
                        <a:t>❌ </a:t>
                      </a:r>
                      <a:r>
                        <a:rPr lang="en-US" b="1" dirty="0">
                          <a:solidFill>
                            <a:srgbClr val="FF0000"/>
                          </a:solidFill>
                          <a:effectLst/>
                          <a:latin typeface="quote-cjk-patch"/>
                        </a:rPr>
                        <a:t>Type II Error</a:t>
                      </a:r>
                      <a:br>
                        <a:rPr lang="en-US" b="0" dirty="0">
                          <a:solidFill>
                            <a:srgbClr val="FF0000"/>
                          </a:solidFill>
                          <a:effectLst/>
                          <a:latin typeface="quote-cjk-patch"/>
                        </a:rPr>
                      </a:br>
                      <a:r>
                        <a:rPr lang="en-US" b="0" dirty="0">
                          <a:solidFill>
                            <a:srgbClr val="FF0000"/>
                          </a:solidFill>
                          <a:effectLst/>
                          <a:latin typeface="quote-cjk-patch"/>
                        </a:rPr>
                        <a:t>"Missed Opportunity"</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02582826"/>
                  </a:ext>
                </a:extLst>
              </a:tr>
            </a:tbl>
          </a:graphicData>
        </a:graphic>
      </p:graphicFrame>
    </p:spTree>
    <p:extLst>
      <p:ext uri="{BB962C8B-B14F-4D97-AF65-F5344CB8AC3E}">
        <p14:creationId xmlns:p14="http://schemas.microsoft.com/office/powerpoint/2010/main" val="4063852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dirty="0"/>
              <a:t>To </a:t>
            </a:r>
            <a:r>
              <a:rPr lang="es-CL" dirty="0" err="1"/>
              <a:t>generalize</a:t>
            </a:r>
            <a:endParaRPr lang="es-CL" dirty="0"/>
          </a:p>
        </p:txBody>
      </p:sp>
      <p:pic>
        <p:nvPicPr>
          <p:cNvPr id="512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75520" y="1340768"/>
            <a:ext cx="8328098" cy="3096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3 Rectángulo"/>
          <p:cNvSpPr/>
          <p:nvPr/>
        </p:nvSpPr>
        <p:spPr>
          <a:xfrm>
            <a:off x="1919536" y="4581128"/>
            <a:ext cx="8064896" cy="1569660"/>
          </a:xfrm>
          <a:prstGeom prst="rect">
            <a:avLst/>
          </a:prstGeom>
        </p:spPr>
        <p:txBody>
          <a:bodyPr wrap="square">
            <a:spAutoFit/>
          </a:bodyPr>
          <a:lstStyle/>
          <a:p>
            <a:r>
              <a:rPr lang="en-US" sz="3200" b="1" dirty="0"/>
              <a:t>A type I error is often considered to be more serious, and therefore more important to avoid, than a type II error.</a:t>
            </a:r>
            <a:endParaRPr lang="es-CL" sz="3200" dirty="0"/>
          </a:p>
        </p:txBody>
      </p:sp>
    </p:spTree>
    <p:extLst>
      <p:ext uri="{BB962C8B-B14F-4D97-AF65-F5344CB8AC3E}">
        <p14:creationId xmlns:p14="http://schemas.microsoft.com/office/powerpoint/2010/main" val="3179482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274638"/>
            <a:ext cx="8229600" cy="706090"/>
          </a:xfrm>
        </p:spPr>
        <p:txBody>
          <a:bodyPr>
            <a:normAutofit/>
          </a:bodyPr>
          <a:lstStyle/>
          <a:p>
            <a:r>
              <a:rPr lang="es-CL" dirty="0" err="1"/>
              <a:t>Explanation</a:t>
            </a:r>
            <a:r>
              <a:rPr lang="es-CL" dirty="0"/>
              <a:t> </a:t>
            </a:r>
          </a:p>
        </p:txBody>
      </p:sp>
      <p:sp>
        <p:nvSpPr>
          <p:cNvPr id="3" name="2 Marcador de contenido"/>
          <p:cNvSpPr>
            <a:spLocks noGrp="1"/>
          </p:cNvSpPr>
          <p:nvPr>
            <p:ph idx="1"/>
          </p:nvPr>
        </p:nvSpPr>
        <p:spPr>
          <a:xfrm>
            <a:off x="416560" y="1124744"/>
            <a:ext cx="11328400" cy="5544616"/>
          </a:xfrm>
        </p:spPr>
        <p:txBody>
          <a:bodyPr>
            <a:normAutofit fontScale="92500" lnSpcReduction="20000"/>
          </a:bodyPr>
          <a:lstStyle/>
          <a:p>
            <a:pPr marL="0" indent="0">
              <a:buNone/>
            </a:pPr>
            <a:r>
              <a:rPr lang="es-CL" b="1" dirty="0" err="1"/>
              <a:t>Type</a:t>
            </a:r>
            <a:r>
              <a:rPr lang="es-CL" b="1" dirty="0"/>
              <a:t> I Error:</a:t>
            </a:r>
            <a:endParaRPr lang="es-CL" dirty="0"/>
          </a:p>
          <a:p>
            <a:endParaRPr lang="es-CL" dirty="0"/>
          </a:p>
          <a:p>
            <a:r>
              <a:rPr lang="en-US" b="1" dirty="0"/>
              <a:t>A type I error </a:t>
            </a:r>
            <a:r>
              <a:rPr lang="en-US" dirty="0"/>
              <a:t>occurs when the null hypothesis (H0) is wrongly rejected.</a:t>
            </a:r>
          </a:p>
          <a:p>
            <a:r>
              <a:rPr lang="en-US" b="1" dirty="0"/>
              <a:t>For example</a:t>
            </a:r>
            <a:r>
              <a:rPr lang="en-US" dirty="0"/>
              <a:t>, A type I error would occur if we concluded that the new vaccine produces more antigens when in fact there was no difference between the groups.</a:t>
            </a:r>
          </a:p>
          <a:p>
            <a:pPr marL="0" indent="0">
              <a:buNone/>
            </a:pPr>
            <a:r>
              <a:rPr lang="en-US" dirty="0"/>
              <a:t> </a:t>
            </a:r>
            <a:endParaRPr lang="es-CL" dirty="0"/>
          </a:p>
          <a:p>
            <a:pPr marL="0" indent="0">
              <a:buNone/>
            </a:pPr>
            <a:r>
              <a:rPr lang="es-CL" b="1" dirty="0" err="1"/>
              <a:t>Type</a:t>
            </a:r>
            <a:r>
              <a:rPr lang="es-CL" b="1" dirty="0"/>
              <a:t> II Error:</a:t>
            </a:r>
            <a:endParaRPr lang="es-CL" dirty="0"/>
          </a:p>
          <a:p>
            <a:endParaRPr lang="es-CL" dirty="0"/>
          </a:p>
          <a:p>
            <a:r>
              <a:rPr lang="en-US" b="1" dirty="0"/>
              <a:t>A type II error </a:t>
            </a:r>
            <a:r>
              <a:rPr lang="en-US" dirty="0"/>
              <a:t>occurs when the null hypothesis H0, is not rejected when it is in fact false. </a:t>
            </a:r>
          </a:p>
          <a:p>
            <a:r>
              <a:rPr lang="en-US" b="1" dirty="0"/>
              <a:t>For example: </a:t>
            </a:r>
            <a:r>
              <a:rPr lang="en-US" dirty="0"/>
              <a:t>A type II error would occur if it were concluded that the new vaccine does not produce more antigens when in fact the experimental group had more.</a:t>
            </a:r>
          </a:p>
        </p:txBody>
      </p:sp>
    </p:spTree>
    <p:extLst>
      <p:ext uri="{BB962C8B-B14F-4D97-AF65-F5344CB8AC3E}">
        <p14:creationId xmlns:p14="http://schemas.microsoft.com/office/powerpoint/2010/main" val="4237114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274638"/>
            <a:ext cx="8229600" cy="706090"/>
          </a:xfrm>
        </p:spPr>
        <p:txBody>
          <a:bodyPr>
            <a:normAutofit/>
          </a:bodyPr>
          <a:lstStyle/>
          <a:p>
            <a:r>
              <a:rPr lang="es-CL" b="1" dirty="0" err="1"/>
              <a:t>Summary</a:t>
            </a:r>
            <a:endParaRPr lang="es-CL" dirty="0"/>
          </a:p>
        </p:txBody>
      </p:sp>
      <p:sp>
        <p:nvSpPr>
          <p:cNvPr id="3" name="2 Marcador de contenido"/>
          <p:cNvSpPr>
            <a:spLocks noGrp="1"/>
          </p:cNvSpPr>
          <p:nvPr>
            <p:ph idx="1"/>
          </p:nvPr>
        </p:nvSpPr>
        <p:spPr>
          <a:xfrm>
            <a:off x="1273840" y="1269222"/>
            <a:ext cx="9644320" cy="5760640"/>
          </a:xfrm>
        </p:spPr>
        <p:txBody>
          <a:bodyPr>
            <a:normAutofit/>
          </a:bodyPr>
          <a:lstStyle/>
          <a:p>
            <a:r>
              <a:rPr lang="en-US" dirty="0"/>
              <a:t>“Research questions and hypotheses become “signposts” for explaining the purpose of the  study &amp; guiding the research…”, </a:t>
            </a:r>
            <a:endParaRPr lang="es-CL" dirty="0"/>
          </a:p>
          <a:p>
            <a:r>
              <a:rPr lang="en-US" dirty="0"/>
              <a:t>A hypothesis is an explanation, tentative and unsure of itself, for specific phenomena about which you have questions.</a:t>
            </a:r>
          </a:p>
          <a:p>
            <a:r>
              <a:rPr lang="en-US" dirty="0"/>
              <a:t>A well-crafted hypothesis very often suggests the best way to perform the research and gives you clues as to your research design. </a:t>
            </a:r>
            <a:endParaRPr lang="es-CL" dirty="0"/>
          </a:p>
          <a:p>
            <a:r>
              <a:rPr lang="en-US" b="1" dirty="0"/>
              <a:t>“hypothesis is perhaps the most powerful tool, man has invented to achieve dependable knowledge” –Fred </a:t>
            </a:r>
            <a:r>
              <a:rPr lang="en-US" b="1" dirty="0" err="1"/>
              <a:t>Kerlinger</a:t>
            </a:r>
            <a:r>
              <a:rPr lang="en-US" b="1" dirty="0"/>
              <a:t>…</a:t>
            </a:r>
            <a:endParaRPr lang="es-CL" dirty="0"/>
          </a:p>
        </p:txBody>
      </p:sp>
    </p:spTree>
    <p:extLst>
      <p:ext uri="{BB962C8B-B14F-4D97-AF65-F5344CB8AC3E}">
        <p14:creationId xmlns:p14="http://schemas.microsoft.com/office/powerpoint/2010/main" val="16951660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2170</Words>
  <Application>Microsoft Macintosh PowerPoint</Application>
  <PresentationFormat>Breitbild</PresentationFormat>
  <Paragraphs>157</Paragraphs>
  <Slides>28</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28</vt:i4>
      </vt:variant>
    </vt:vector>
  </HeadingPairs>
  <TitlesOfParts>
    <vt:vector size="33" baseType="lpstr">
      <vt:lpstr>Arial</vt:lpstr>
      <vt:lpstr>Calibri</vt:lpstr>
      <vt:lpstr>Calibri Light</vt:lpstr>
      <vt:lpstr>quote-cjk-patch</vt:lpstr>
      <vt:lpstr>Tema de Office</vt:lpstr>
      <vt:lpstr>    Scientific Method  DEVELOPING an HYPOTHESIS  "The Art of Educated Guessing“  or  "From Question to Testable Prediction".</vt:lpstr>
      <vt:lpstr>Goals of this unit</vt:lpstr>
      <vt:lpstr>The Scientific Method: A Cycle of Inquiry</vt:lpstr>
      <vt:lpstr>Steps (simplified)</vt:lpstr>
      <vt:lpstr>Warning</vt:lpstr>
      <vt:lpstr>Steps (5 and final)</vt:lpstr>
      <vt:lpstr>Diagram describing iterative nature of the hypothetico-deductive method</vt:lpstr>
      <vt:lpstr>Let's Go to the Hypothesis  (The Heart of the Matter)</vt:lpstr>
      <vt:lpstr>Other definitions of hypothesis</vt:lpstr>
      <vt:lpstr>What is a Hypothesis? Our definition </vt:lpstr>
      <vt:lpstr> Nature of a Hypothesis  </vt:lpstr>
      <vt:lpstr> Nature of a Hypothesis  </vt:lpstr>
      <vt:lpstr>An Example…</vt:lpstr>
      <vt:lpstr>… and the hypothesis</vt:lpstr>
      <vt:lpstr>Incorrect hypotheses </vt:lpstr>
      <vt:lpstr>Incorrect hypotheses </vt:lpstr>
      <vt:lpstr>In short: </vt:lpstr>
      <vt:lpstr>Crafting a Strong Hypothesis: The Formula</vt:lpstr>
      <vt:lpstr>Types of Hypotheses</vt:lpstr>
      <vt:lpstr>EXAMPLE</vt:lpstr>
      <vt:lpstr>EXPERIMENT</vt:lpstr>
      <vt:lpstr>Generation of Research Hypothesis</vt:lpstr>
      <vt:lpstr>Generation of Research Hypothesis</vt:lpstr>
      <vt:lpstr>Hypothesis testing is a four-step procedure:</vt:lpstr>
      <vt:lpstr>Errors in Hypotheses</vt:lpstr>
      <vt:lpstr>To generalize</vt:lpstr>
      <vt:lpstr>Explanation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Method  DEVELOPING an HYPOTHESIS  "The Art of Educated Guessing“  or  "From Question to Testable Prediction".</dc:title>
  <dc:creator>N. Baloian</dc:creator>
  <cp:lastModifiedBy>Leo Buron</cp:lastModifiedBy>
  <cp:revision>11</cp:revision>
  <dcterms:created xsi:type="dcterms:W3CDTF">2025-09-11T06:03:38Z</dcterms:created>
  <dcterms:modified xsi:type="dcterms:W3CDTF">2025-11-05T21:35:35Z</dcterms:modified>
</cp:coreProperties>
</file>